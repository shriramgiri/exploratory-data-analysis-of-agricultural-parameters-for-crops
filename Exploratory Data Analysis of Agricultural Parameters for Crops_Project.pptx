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69" r:id="rId2"/>
    <p:sldId id="270" r:id="rId3"/>
    <p:sldId id="257" r:id="rId4"/>
    <p:sldId id="258" r:id="rId5"/>
    <p:sldId id="259" r:id="rId6"/>
    <p:sldId id="260" r:id="rId7"/>
    <p:sldId id="261" r:id="rId8"/>
    <p:sldId id="273" r:id="rId9"/>
    <p:sldId id="262" r:id="rId10"/>
    <p:sldId id="264" r:id="rId11"/>
    <p:sldId id="265" r:id="rId12"/>
    <p:sldId id="274" r:id="rId13"/>
    <p:sldId id="266" r:id="rId14"/>
    <p:sldId id="267" r:id="rId15"/>
    <p:sldId id="272"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6B5C"/>
    <a:srgbClr val="ECF5E7"/>
    <a:srgbClr val="2C5F2D"/>
    <a:srgbClr val="F2F5F0"/>
    <a:srgbClr val="FF9E8B"/>
    <a:srgbClr val="FF4F4F"/>
    <a:srgbClr val="232D2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380" y="1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8383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framing slide. Say: agriculture is fundamentally a data problem — soil chemistry and weather determine what will grow well. Point to the diagram: we have three nutrients and four environmental readings feeding into an EDA process, which is how we surface patterns before jumping to any predictive modeling. Keep this short — under a minute — this is just scene-setting.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reasons this dataset earns a real EDA project rather than being a toy exercise: it's genuinely applied, it has three correlated nutrients to explore, four climate variables, and a clean structure that supports the full univariate-bivariate-multivariate progression the course requires. If faculty push on 'why not a bigger/messier dataset', that's addressed honestly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Straightforward inspection slide, all figures pulled directly from df.shape and dtype checks. The one thing to flag proactively: the manual asked for a bigger dataset (10+ columns, 5-7k+ rows) and this one is smaller — 8 columns, 2,200 rows. Be upfront about that, note it's called out clearly rather than hidden, and that the full workflow is still demonstrated properly on the data we do have. If asked, the fix is simply 'use a larger dataset next time' — mentioned again in the conclusion.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table briefly rather than reading every row: seven numeric features — three nutrients (N, P, K) and four environmental readings — plus one categorical target, label, which holds 22 crop names. Emphasize the Feature/Target split since that's the axis the rest of the deck is organized around.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data-quality slide. Walk the checklist quickly on the left — shape, column names, lowercase standardization, dtypes, then the two clean results: zero missing values and zero duplicates, so say explicitly that no imputation or de-duplication was needed. Spend more time on the right: the boxplots show real outliers in P, K, rainfall and temperature. The key finding — if faculty ask 'why didn't you remove them' — is that when you trace the K outliers back to their crop labels, all 200 of them are apple or grapes, which really do need roughly 200 kg/ha of potassium versus under 85 for everything else. That's a genuine agronomic signal, not noise, so it was kept.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charts here answer 'what does each variable look like on its own'. The histogram grid: point out K's isolated bump near 200 — that's the apple/grapes group again, same story as the outlier slide. N, P and rainfall are right-skewed with a secondary high cluster; temperature and pH look roughly normal; humidity is left-skewed, piled up above 80%. The bottom chart is the categorical variable, label — every one of the 22 crops has exactly 100 rows, so this dataset needs no class-balancing before any further analysis.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relationships, one numeric-numeric and one categorical-numeric, chosen to show the range of bivariate techniques. Left: Phosphorus vs Potassium — the strongest correlation in the whole dataset at r = 0.74, and the scatter makes it visual: apple and grapes sit completely apart from the other 20 crops in the top-right. Right: humidity by crop — coconut and papaya cluster above 90%, chickpea and kidney beans sit below 22%, a clean categorical-numeric split. A weaker pair, temperature vs humidity (r ≈ 0.21), was also examined but isn't shown here since it added little beyond what's already covered.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Heatmap on the left covers all 21 pairwise correlations among the 7 numeric variables at once — P-K at 0.74 is the only strong one, everything else is under 0.25 in magnitude. Pairplot on the right adds N and rainfall into the picture; it's built on a random sample of 400 rows rather than all 2,200 purely so the points don't over-plot into a solid blob — patterns match the full dataset. If faculty ask about causation, the answer is the line at the bottom: correlation is association, not causation, and nothing here claims one variable causes crop choice.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compact pivot tables — full versions with all 22 crops live in the notebook, these show a representative selection so the pattern is readable on a slide. Left table: nutrients, ordered to show the spread from cotton's very high nitrogen down to lentil's low nitrogen, with grapes and apple's extreme P/K jumping out. Right table: environmental conditions, showing rice's high rainfall down to muskmelon's low rainfall, and the humidity/pH spread. Then five insights at the bottom — all of them traceable directly back to numbers already shown earlier in the deck, nothing new is asserted here that wasn't already demonstrated.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mirrors the title slide's dark background to bookend the deck. Four findings on the left recap the strongest, most defensible results — crop-specific nutrient signatures, the one strong correlation, the clean and balanced data, and the outlier decision. Bottom-left is the one-line 'what this demonstrates' statement in case a single summary sentence is needed. Right side is future scope, kept deliberately short — bigger dataset, more fields, multi-year data, and modeling only as a later step once the exploratory work holds up. End here; the appendix slides after this are backup material for Q&amp;A, not part of the core narrative.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extLst>
      <p:ext uri="{BB962C8B-B14F-4D97-AF65-F5344CB8AC3E}">
        <p14:creationId xmlns:p14="http://schemas.microsoft.com/office/powerpoint/2010/main" val="25912122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extLst>
      <p:ext uri="{BB962C8B-B14F-4D97-AF65-F5344CB8AC3E}">
        <p14:creationId xmlns:p14="http://schemas.microsoft.com/office/powerpoint/2010/main" val="9171848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jpeg"/><Relationship Id="rId7" Type="http://schemas.openxmlformats.org/officeDocument/2006/relationships/hyperlink" Target="https://github.com/Shriramgiri"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hyperlink" Target="http://www.linkedin.com/in/shriram-giri"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12" name="Picture 11">
            <a:extLst>
              <a:ext uri="{FF2B5EF4-FFF2-40B4-BE49-F238E27FC236}">
                <a16:creationId xmlns:a16="http://schemas.microsoft.com/office/drawing/2014/main" id="{FD44142F-0D7D-8244-E3BD-A76A7BB26BD1}"/>
              </a:ext>
            </a:extLst>
          </p:cNvPr>
          <p:cNvPicPr>
            <a:picLocks noChangeAspect="1"/>
          </p:cNvPicPr>
          <p:nvPr/>
        </p:nvPicPr>
        <p:blipFill>
          <a:blip r:embed="rId3"/>
          <a:stretch>
            <a:fillRect/>
          </a:stretch>
        </p:blipFill>
        <p:spPr>
          <a:xfrm flipV="1">
            <a:off x="9648825" y="3810000"/>
            <a:ext cx="2543175" cy="3048000"/>
          </a:xfrm>
          <a:prstGeom prst="rect">
            <a:avLst/>
          </a:prstGeom>
        </p:spPr>
      </p:pic>
      <p:pic>
        <p:nvPicPr>
          <p:cNvPr id="8" name="Picture 7">
            <a:extLst>
              <a:ext uri="{FF2B5EF4-FFF2-40B4-BE49-F238E27FC236}">
                <a16:creationId xmlns:a16="http://schemas.microsoft.com/office/drawing/2014/main" id="{65628D41-81A6-5276-7A6B-8D67A1883CB0}"/>
              </a:ext>
            </a:extLst>
          </p:cNvPr>
          <p:cNvPicPr>
            <a:picLocks noChangeAspect="1"/>
          </p:cNvPicPr>
          <p:nvPr/>
        </p:nvPicPr>
        <p:blipFill>
          <a:blip r:embed="rId4"/>
          <a:stretch>
            <a:fillRect/>
          </a:stretch>
        </p:blipFill>
        <p:spPr>
          <a:xfrm flipV="1">
            <a:off x="0" y="3809575"/>
            <a:ext cx="2543530" cy="3048425"/>
          </a:xfrm>
          <a:prstGeom prst="rect">
            <a:avLst/>
          </a:prstGeom>
        </p:spPr>
      </p:pic>
      <p:pic>
        <p:nvPicPr>
          <p:cNvPr id="98" name="Google Shape;98;p1"/>
          <p:cNvPicPr preferRelativeResize="0"/>
          <p:nvPr/>
        </p:nvPicPr>
        <p:blipFill rotWithShape="1">
          <a:blip r:embed="rId5">
            <a:alphaModFix/>
          </a:blip>
          <a:srcRect b="58717"/>
          <a:stretch/>
        </p:blipFill>
        <p:spPr>
          <a:xfrm>
            <a:off x="1185" y="-227875"/>
            <a:ext cx="12190815" cy="2927532"/>
          </a:xfrm>
          <a:prstGeom prst="rect">
            <a:avLst/>
          </a:prstGeom>
          <a:noFill/>
          <a:ln>
            <a:noFill/>
          </a:ln>
        </p:spPr>
      </p:pic>
      <p:sp>
        <p:nvSpPr>
          <p:cNvPr id="99" name="Google Shape;99;p1"/>
          <p:cNvSpPr txBox="1"/>
          <p:nvPr/>
        </p:nvSpPr>
        <p:spPr>
          <a:xfrm>
            <a:off x="1011992" y="3440335"/>
            <a:ext cx="10168015" cy="1077178"/>
          </a:xfrm>
          <a:prstGeom prst="rect">
            <a:avLst/>
          </a:prstGeom>
          <a:noFill/>
          <a:ln>
            <a:noFill/>
          </a:ln>
        </p:spPr>
        <p:txBody>
          <a:bodyPr spcFirstLastPara="1" wrap="square" lIns="91425" tIns="45700" rIns="91425" bIns="45700" anchor="t" anchorCtr="0">
            <a:spAutoFit/>
          </a:bodyPr>
          <a:lstStyle/>
          <a:p>
            <a:pPr lvl="0" algn="ctr"/>
            <a:r>
              <a:rPr lang="en-US" sz="3200" b="1" dirty="0">
                <a:solidFill>
                  <a:srgbClr val="2C5F2D"/>
                </a:solidFill>
                <a:latin typeface="Cambria" panose="02040503050406030204" pitchFamily="18" charset="0"/>
                <a:ea typeface="Cambria" panose="02040503050406030204" pitchFamily="18" charset="0"/>
                <a:cs typeface="Calibri"/>
                <a:sym typeface="Calibri"/>
              </a:rPr>
              <a:t>Exploratory Data Analysis of Soil and Environmental Parameters Across Different Crops</a:t>
            </a:r>
            <a:endParaRPr sz="3200" b="1" dirty="0">
              <a:solidFill>
                <a:srgbClr val="2C5F2D"/>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36AD4F51-2AE7-5CB2-FCBB-24AB80A40896}"/>
              </a:ext>
            </a:extLst>
          </p:cNvPr>
          <p:cNvSpPr txBox="1"/>
          <p:nvPr/>
        </p:nvSpPr>
        <p:spPr>
          <a:xfrm>
            <a:off x="2220686" y="4611861"/>
            <a:ext cx="8116389" cy="646331"/>
          </a:xfrm>
          <a:prstGeom prst="rect">
            <a:avLst/>
          </a:prstGeom>
          <a:noFill/>
        </p:spPr>
        <p:txBody>
          <a:bodyPr wrap="square" rtlCol="0">
            <a:spAutoFit/>
          </a:bodyPr>
          <a:lstStyle/>
          <a:p>
            <a:r>
              <a:rPr lang="en-IN" dirty="0">
                <a:solidFill>
                  <a:schemeClr val="bg1">
                    <a:lumMod val="50000"/>
                  </a:schemeClr>
                </a:solidFill>
              </a:rPr>
              <a:t>Analysing Soil and Environmental Parameters for Effective Crop Recommendation</a:t>
            </a:r>
          </a:p>
          <a:p>
            <a:endParaRPr lang="en-IN" dirty="0">
              <a:solidFill>
                <a:schemeClr val="bg1">
                  <a:lumMod val="50000"/>
                </a:schemeClr>
              </a:solidFill>
            </a:endParaRPr>
          </a:p>
        </p:txBody>
      </p:sp>
      <p:sp>
        <p:nvSpPr>
          <p:cNvPr id="3" name="TextBox 2">
            <a:extLst>
              <a:ext uri="{FF2B5EF4-FFF2-40B4-BE49-F238E27FC236}">
                <a16:creationId xmlns:a16="http://schemas.microsoft.com/office/drawing/2014/main" id="{3782F6C5-9FE3-518F-6874-A19B4F743B07}"/>
              </a:ext>
            </a:extLst>
          </p:cNvPr>
          <p:cNvSpPr txBox="1"/>
          <p:nvPr/>
        </p:nvSpPr>
        <p:spPr>
          <a:xfrm>
            <a:off x="2425336" y="5715982"/>
            <a:ext cx="256032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Shriram A. Giri</a:t>
            </a:r>
            <a:endParaRPr lang="en-IN" sz="2000" b="1"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3E24FD32-FCE0-F876-253B-FD5DD56F6885}"/>
              </a:ext>
            </a:extLst>
          </p:cNvPr>
          <p:cNvSpPr txBox="1"/>
          <p:nvPr/>
        </p:nvSpPr>
        <p:spPr>
          <a:xfrm>
            <a:off x="2460171" y="6120659"/>
            <a:ext cx="1245325" cy="369332"/>
          </a:xfrm>
          <a:prstGeom prst="rect">
            <a:avLst/>
          </a:prstGeom>
          <a:noFill/>
        </p:spPr>
        <p:txBody>
          <a:bodyPr wrap="square" rtlCol="0">
            <a:spAutoFit/>
          </a:bodyPr>
          <a:lstStyle/>
          <a:p>
            <a:r>
              <a:rPr lang="en-US" dirty="0">
                <a:solidFill>
                  <a:schemeClr val="bg1">
                    <a:lumMod val="50000"/>
                  </a:schemeClr>
                </a:solidFill>
              </a:rPr>
              <a:t>Batch : 530</a:t>
            </a:r>
            <a:endParaRPr lang="en-IN" dirty="0">
              <a:solidFill>
                <a:schemeClr val="bg1">
                  <a:lumMod val="50000"/>
                </a:schemeClr>
              </a:solidFill>
            </a:endParaRPr>
          </a:p>
        </p:txBody>
      </p:sp>
      <p:sp>
        <p:nvSpPr>
          <p:cNvPr id="5" name="TextBox 4">
            <a:extLst>
              <a:ext uri="{FF2B5EF4-FFF2-40B4-BE49-F238E27FC236}">
                <a16:creationId xmlns:a16="http://schemas.microsoft.com/office/drawing/2014/main" id="{1BA8CC50-180D-C82D-6DA7-E18EAA4CF858}"/>
              </a:ext>
            </a:extLst>
          </p:cNvPr>
          <p:cNvSpPr txBox="1"/>
          <p:nvPr/>
        </p:nvSpPr>
        <p:spPr>
          <a:xfrm>
            <a:off x="3988526" y="2699657"/>
            <a:ext cx="4040777" cy="646331"/>
          </a:xfrm>
          <a:prstGeom prst="rect">
            <a:avLst/>
          </a:prstGeom>
          <a:noFill/>
        </p:spPr>
        <p:txBody>
          <a:bodyPr wrap="square" rtlCol="0">
            <a:spAutoFit/>
          </a:bodyPr>
          <a:lstStyle/>
          <a:p>
            <a:pPr algn="ctr"/>
            <a:r>
              <a:rPr lang="en-US" sz="3600" b="1" dirty="0">
                <a:solidFill>
                  <a:srgbClr val="FF0000"/>
                </a:solidFill>
                <a:latin typeface="Cambria" panose="02040503050406030204" pitchFamily="18" charset="0"/>
                <a:ea typeface="Cambria" panose="02040503050406030204" pitchFamily="18" charset="0"/>
              </a:rPr>
              <a:t>Project on</a:t>
            </a:r>
            <a:endParaRPr lang="en-IN" sz="3600" b="1" dirty="0">
              <a:solidFill>
                <a:srgbClr val="FF0000"/>
              </a:solidFill>
              <a:latin typeface="Cambria" panose="02040503050406030204" pitchFamily="18" charset="0"/>
              <a:ea typeface="Cambria" panose="02040503050406030204" pitchFamily="18" charset="0"/>
            </a:endParaRPr>
          </a:p>
        </p:txBody>
      </p:sp>
      <p:pic>
        <p:nvPicPr>
          <p:cNvPr id="7" name="Picture 6">
            <a:extLst>
              <a:ext uri="{FF2B5EF4-FFF2-40B4-BE49-F238E27FC236}">
                <a16:creationId xmlns:a16="http://schemas.microsoft.com/office/drawing/2014/main" id="{F01DB9DB-63B0-6C7D-2A90-A60C8D55351E}"/>
              </a:ext>
            </a:extLst>
          </p:cNvPr>
          <p:cNvPicPr>
            <a:picLocks noChangeAspect="1"/>
          </p:cNvPicPr>
          <p:nvPr/>
        </p:nvPicPr>
        <p:blipFill>
          <a:blip r:embed="rId4"/>
          <a:stretch>
            <a:fillRect/>
          </a:stretch>
        </p:blipFill>
        <p:spPr>
          <a:xfrm flipH="1">
            <a:off x="9647285" y="-227875"/>
            <a:ext cx="2543530" cy="3048425"/>
          </a:xfrm>
          <a:prstGeom prst="rect">
            <a:avLst/>
          </a:prstGeom>
        </p:spPr>
      </p:pic>
      <p:sp>
        <p:nvSpPr>
          <p:cNvPr id="13" name="Rectangle 12">
            <a:extLst>
              <a:ext uri="{FF2B5EF4-FFF2-40B4-BE49-F238E27FC236}">
                <a16:creationId xmlns:a16="http://schemas.microsoft.com/office/drawing/2014/main" id="{410EEC31-D37E-1C1C-F7C0-F87C16892C12}"/>
              </a:ext>
            </a:extLst>
          </p:cNvPr>
          <p:cNvSpPr/>
          <p:nvPr/>
        </p:nvSpPr>
        <p:spPr>
          <a:xfrm>
            <a:off x="8699863" y="5715982"/>
            <a:ext cx="1132114" cy="11420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9" name="Rectangle 8">
            <a:extLst>
              <a:ext uri="{FF2B5EF4-FFF2-40B4-BE49-F238E27FC236}">
                <a16:creationId xmlns:a16="http://schemas.microsoft.com/office/drawing/2014/main" id="{D34F70BA-1D47-40C0-352D-A66DCB937FDC}"/>
              </a:ext>
            </a:extLst>
          </p:cNvPr>
          <p:cNvSpPr/>
          <p:nvPr/>
        </p:nvSpPr>
        <p:spPr>
          <a:xfrm>
            <a:off x="8778240" y="5965371"/>
            <a:ext cx="3413760" cy="8926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A37C2CF2-E76C-5D11-E32E-AA2D63675EB0}"/>
              </a:ext>
            </a:extLst>
          </p:cNvPr>
          <p:cNvSpPr/>
          <p:nvPr/>
        </p:nvSpPr>
        <p:spPr>
          <a:xfrm>
            <a:off x="1060268" y="1175901"/>
            <a:ext cx="10071463" cy="4896159"/>
          </a:xfrm>
          <a:prstGeom prst="roundRect">
            <a:avLst>
              <a:gd name="adj" fmla="val 7596"/>
            </a:avLst>
          </a:prstGeom>
          <a:solidFill>
            <a:srgbClr val="F2F5F0"/>
          </a:solidFill>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105" name="Google Shape;105;p3"/>
          <p:cNvSpPr txBox="1"/>
          <p:nvPr/>
        </p:nvSpPr>
        <p:spPr>
          <a:xfrm>
            <a:off x="2866056" y="416554"/>
            <a:ext cx="6099463" cy="495905"/>
          </a:xfrm>
          <a:prstGeom prst="rect">
            <a:avLst/>
          </a:prstGeom>
          <a:noFill/>
          <a:ln>
            <a:noFill/>
          </a:ln>
        </p:spPr>
        <p:txBody>
          <a:bodyPr spcFirstLastPara="1" wrap="square" lIns="91425" tIns="45700" rIns="91425" bIns="45700" anchor="t" anchorCtr="0">
            <a:spAutoFit/>
          </a:bodyPr>
          <a:lstStyle/>
          <a:p>
            <a:pPr marL="0" marR="0" lvl="0" indent="0" algn="ctr" rtl="0">
              <a:lnSpc>
                <a:spcPct val="80000"/>
              </a:lnSpc>
              <a:spcBef>
                <a:spcPts val="0"/>
              </a:spcBef>
              <a:spcAft>
                <a:spcPts val="0"/>
              </a:spcAft>
              <a:buClr>
                <a:srgbClr val="FF0000"/>
              </a:buClr>
              <a:buSzPts val="3200"/>
              <a:buFont typeface="Lato Black"/>
              <a:buNone/>
            </a:pPr>
            <a:r>
              <a:rPr lang="en-IN" sz="3200" b="1" i="0" u="none" strike="noStrike" cap="none" dirty="0">
                <a:solidFill>
                  <a:schemeClr val="accent6">
                    <a:lumMod val="75000"/>
                  </a:schemeClr>
                </a:solidFill>
                <a:latin typeface="Cambria" panose="02040503050406030204" pitchFamily="18" charset="0"/>
                <a:ea typeface="Cambria" panose="02040503050406030204" pitchFamily="18" charset="0"/>
                <a:cs typeface="Lato Black"/>
                <a:sym typeface="Lato Black"/>
              </a:rPr>
              <a:t>About me</a:t>
            </a:r>
            <a:endParaRPr sz="1800" b="1" i="0" u="none" strike="noStrike" cap="none" dirty="0">
              <a:solidFill>
                <a:schemeClr val="accent6">
                  <a:lumMod val="75000"/>
                </a:schemeClr>
              </a:solidFill>
              <a:latin typeface="Cambria" panose="02040503050406030204" pitchFamily="18" charset="0"/>
              <a:ea typeface="Cambria" panose="02040503050406030204" pitchFamily="18" charset="0"/>
              <a:cs typeface="Calibri"/>
              <a:sym typeface="Calibri"/>
            </a:endParaRPr>
          </a:p>
        </p:txBody>
      </p:sp>
      <p:sp>
        <p:nvSpPr>
          <p:cNvPr id="6" name="TextBox 5">
            <a:extLst>
              <a:ext uri="{FF2B5EF4-FFF2-40B4-BE49-F238E27FC236}">
                <a16:creationId xmlns:a16="http://schemas.microsoft.com/office/drawing/2014/main" id="{9FA72213-6EED-D06D-0792-3E6495305319}"/>
              </a:ext>
            </a:extLst>
          </p:cNvPr>
          <p:cNvSpPr txBox="1"/>
          <p:nvPr/>
        </p:nvSpPr>
        <p:spPr>
          <a:xfrm>
            <a:off x="1700020" y="1552598"/>
            <a:ext cx="8577943" cy="861774"/>
          </a:xfrm>
          <a:prstGeom prst="rect">
            <a:avLst/>
          </a:prstGeom>
          <a:noFill/>
        </p:spPr>
        <p:txBody>
          <a:bodyPr wrap="square" rtlCol="0">
            <a:spAutoFit/>
          </a:bodyPr>
          <a:lstStyle/>
          <a:p>
            <a:pPr algn="just"/>
            <a:r>
              <a:rPr lang="en-US" b="1" dirty="0">
                <a:solidFill>
                  <a:schemeClr val="accent6">
                    <a:lumMod val="75000"/>
                  </a:schemeClr>
                </a:solidFill>
                <a:latin typeface="Cambria" panose="02040503050406030204" pitchFamily="18" charset="0"/>
                <a:ea typeface="Cambria" panose="02040503050406030204" pitchFamily="18" charset="0"/>
              </a:rPr>
              <a:t>Education</a:t>
            </a:r>
            <a:r>
              <a:rPr lang="en-US" dirty="0"/>
              <a:t> </a:t>
            </a:r>
          </a:p>
          <a:p>
            <a:pPr marL="285750" indent="-285750" algn="just">
              <a:buFont typeface="Wingdings" panose="05000000000000000000" pitchFamily="2" charset="2"/>
              <a:buChar char="Ø"/>
            </a:pPr>
            <a:r>
              <a:rPr lang="en-US" sz="1600" dirty="0"/>
              <a:t>B.A. (Economics) (Completed in 2024) from SRTMU, Nanded</a:t>
            </a:r>
          </a:p>
          <a:p>
            <a:pPr marL="285750" indent="-285750" algn="just">
              <a:buFont typeface="Wingdings" panose="05000000000000000000" pitchFamily="2" charset="2"/>
              <a:buChar char="Ø"/>
            </a:pPr>
            <a:r>
              <a:rPr lang="en-US" sz="1600" dirty="0"/>
              <a:t>P.G.D.M (Marketing) (Pursuing) from MIT-SDE, Pune</a:t>
            </a:r>
            <a:endParaRPr lang="en-IN" sz="1600" dirty="0"/>
          </a:p>
        </p:txBody>
      </p:sp>
      <p:sp>
        <p:nvSpPr>
          <p:cNvPr id="7" name="TextBox 6">
            <a:extLst>
              <a:ext uri="{FF2B5EF4-FFF2-40B4-BE49-F238E27FC236}">
                <a16:creationId xmlns:a16="http://schemas.microsoft.com/office/drawing/2014/main" id="{28D8A3E6-FBCC-F159-9DA5-D47F359EA2CE}"/>
              </a:ext>
            </a:extLst>
          </p:cNvPr>
          <p:cNvSpPr txBox="1"/>
          <p:nvPr/>
        </p:nvSpPr>
        <p:spPr>
          <a:xfrm>
            <a:off x="1700020" y="2971641"/>
            <a:ext cx="9177671" cy="1107996"/>
          </a:xfrm>
          <a:prstGeom prst="rect">
            <a:avLst/>
          </a:prstGeom>
          <a:noFill/>
        </p:spPr>
        <p:txBody>
          <a:bodyPr wrap="square" rtlCol="0">
            <a:spAutoFit/>
          </a:bodyPr>
          <a:lstStyle/>
          <a:p>
            <a:r>
              <a:rPr lang="en-US" b="1" dirty="0">
                <a:solidFill>
                  <a:schemeClr val="accent6">
                    <a:lumMod val="75000"/>
                  </a:schemeClr>
                </a:solidFill>
                <a:latin typeface="Cambria" panose="02040503050406030204" pitchFamily="18" charset="0"/>
                <a:ea typeface="Cambria" panose="02040503050406030204" pitchFamily="18" charset="0"/>
              </a:rPr>
              <a:t>Why Data Analysis?</a:t>
            </a:r>
          </a:p>
          <a:p>
            <a:pPr algn="just"/>
            <a:r>
              <a:rPr lang="en-US" sz="1600" dirty="0"/>
              <a:t>Coming from an Economics background, I developed a strong interest in working with data, identifying trends, and solving business problems through analysis. To build my technical skills and transition into the analytics field </a:t>
            </a:r>
            <a:endParaRPr lang="en-IN" sz="1600" b="1" dirty="0">
              <a:solidFill>
                <a:schemeClr val="accent6">
                  <a:lumMod val="75000"/>
                </a:schemeClr>
              </a:solidFill>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A17FB05D-ADFE-C1DA-9530-24AA0D38D6F4}"/>
              </a:ext>
            </a:extLst>
          </p:cNvPr>
          <p:cNvPicPr>
            <a:picLocks noChangeAspect="1"/>
          </p:cNvPicPr>
          <p:nvPr/>
        </p:nvPicPr>
        <p:blipFill>
          <a:blip r:embed="rId3"/>
          <a:stretch>
            <a:fillRect/>
          </a:stretch>
        </p:blipFill>
        <p:spPr>
          <a:xfrm>
            <a:off x="1801842" y="4920304"/>
            <a:ext cx="394578" cy="400110"/>
          </a:xfrm>
          <a:prstGeom prst="rect">
            <a:avLst/>
          </a:prstGeom>
        </p:spPr>
      </p:pic>
      <p:sp>
        <p:nvSpPr>
          <p:cNvPr id="2" name="TextBox 1">
            <a:extLst>
              <a:ext uri="{FF2B5EF4-FFF2-40B4-BE49-F238E27FC236}">
                <a16:creationId xmlns:a16="http://schemas.microsoft.com/office/drawing/2014/main" id="{6D9DA1BC-5C5F-5D79-B5ED-AA4319AEF9A6}"/>
              </a:ext>
            </a:extLst>
          </p:cNvPr>
          <p:cNvSpPr txBox="1"/>
          <p:nvPr/>
        </p:nvSpPr>
        <p:spPr>
          <a:xfrm rot="10800000" flipH="1" flipV="1">
            <a:off x="2196421" y="4871484"/>
            <a:ext cx="1339269" cy="400110"/>
          </a:xfrm>
          <a:prstGeom prst="rect">
            <a:avLst/>
          </a:prstGeom>
          <a:noFill/>
        </p:spPr>
        <p:txBody>
          <a:bodyPr wrap="square" rtlCol="0">
            <a:spAutoFit/>
          </a:bodyPr>
          <a:lstStyle/>
          <a:p>
            <a:r>
              <a:rPr lang="en-IN" sz="2000" dirty="0">
                <a:hlinkClick r:id="rId4"/>
              </a:rPr>
              <a:t>LinkedIn</a:t>
            </a:r>
            <a:endParaRPr lang="en-IN" sz="2000" dirty="0"/>
          </a:p>
        </p:txBody>
      </p:sp>
      <p:sp>
        <p:nvSpPr>
          <p:cNvPr id="8" name="TextBox 7">
            <a:extLst>
              <a:ext uri="{FF2B5EF4-FFF2-40B4-BE49-F238E27FC236}">
                <a16:creationId xmlns:a16="http://schemas.microsoft.com/office/drawing/2014/main" id="{BB7560D7-F251-A0FE-07E3-0BBB6331CCC5}"/>
              </a:ext>
            </a:extLst>
          </p:cNvPr>
          <p:cNvSpPr txBox="1"/>
          <p:nvPr/>
        </p:nvSpPr>
        <p:spPr>
          <a:xfrm>
            <a:off x="1700020" y="4419251"/>
            <a:ext cx="2072640" cy="369332"/>
          </a:xfrm>
          <a:prstGeom prst="rect">
            <a:avLst/>
          </a:prstGeom>
          <a:noFill/>
        </p:spPr>
        <p:txBody>
          <a:bodyPr wrap="square" rtlCol="0">
            <a:spAutoFit/>
          </a:bodyPr>
          <a:lstStyle/>
          <a:p>
            <a:r>
              <a:rPr lang="en-US" b="1" dirty="0">
                <a:solidFill>
                  <a:schemeClr val="accent6">
                    <a:lumMod val="75000"/>
                  </a:schemeClr>
                </a:solidFill>
                <a:latin typeface="Cambria" panose="02040503050406030204" pitchFamily="18" charset="0"/>
                <a:ea typeface="Cambria" panose="02040503050406030204" pitchFamily="18" charset="0"/>
              </a:rPr>
              <a:t>Contact </a:t>
            </a:r>
            <a:endParaRPr lang="en-IN" b="1" dirty="0">
              <a:solidFill>
                <a:schemeClr val="accent6">
                  <a:lumMod val="75000"/>
                </a:schemeClr>
              </a:solidFill>
              <a:latin typeface="Cambria" panose="02040503050406030204" pitchFamily="18" charset="0"/>
              <a:ea typeface="Cambria" panose="02040503050406030204" pitchFamily="18" charset="0"/>
            </a:endParaRPr>
          </a:p>
        </p:txBody>
      </p:sp>
      <p:pic>
        <p:nvPicPr>
          <p:cNvPr id="10" name="Graphic 9" descr="Receiver">
            <a:extLst>
              <a:ext uri="{FF2B5EF4-FFF2-40B4-BE49-F238E27FC236}">
                <a16:creationId xmlns:a16="http://schemas.microsoft.com/office/drawing/2014/main" id="{BB161BC3-D419-5C43-7A88-D2AFBE58F9E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716134">
            <a:off x="4626750" y="4862528"/>
            <a:ext cx="418022" cy="418022"/>
          </a:xfrm>
          <a:prstGeom prst="rect">
            <a:avLst/>
          </a:prstGeom>
        </p:spPr>
      </p:pic>
      <p:sp>
        <p:nvSpPr>
          <p:cNvPr id="11" name="TextBox 10">
            <a:extLst>
              <a:ext uri="{FF2B5EF4-FFF2-40B4-BE49-F238E27FC236}">
                <a16:creationId xmlns:a16="http://schemas.microsoft.com/office/drawing/2014/main" id="{3322B272-4184-CC57-A8A2-10EFBA02A478}"/>
              </a:ext>
            </a:extLst>
          </p:cNvPr>
          <p:cNvSpPr txBox="1"/>
          <p:nvPr/>
        </p:nvSpPr>
        <p:spPr>
          <a:xfrm>
            <a:off x="5076399" y="4862737"/>
            <a:ext cx="2743200" cy="369332"/>
          </a:xfrm>
          <a:prstGeom prst="rect">
            <a:avLst/>
          </a:prstGeom>
          <a:noFill/>
        </p:spPr>
        <p:txBody>
          <a:bodyPr wrap="square" rtlCol="0">
            <a:spAutoFit/>
          </a:bodyPr>
          <a:lstStyle/>
          <a:p>
            <a:r>
              <a:rPr lang="en-US" u="sng" dirty="0">
                <a:solidFill>
                  <a:schemeClr val="accent1">
                    <a:lumMod val="75000"/>
                  </a:schemeClr>
                </a:solidFill>
              </a:rPr>
              <a:t>+91 90218 71581</a:t>
            </a:r>
            <a:endParaRPr lang="en-IN" u="sng" dirty="0">
              <a:solidFill>
                <a:schemeClr val="accent1">
                  <a:lumMod val="75000"/>
                </a:schemeClr>
              </a:solidFill>
            </a:endParaRPr>
          </a:p>
        </p:txBody>
      </p:sp>
      <p:sp>
        <p:nvSpPr>
          <p:cNvPr id="3" name="TextBox 2">
            <a:extLst>
              <a:ext uri="{FF2B5EF4-FFF2-40B4-BE49-F238E27FC236}">
                <a16:creationId xmlns:a16="http://schemas.microsoft.com/office/drawing/2014/main" id="{2D240169-A81E-078F-9C4E-8A7EBF6FEAE2}"/>
              </a:ext>
            </a:extLst>
          </p:cNvPr>
          <p:cNvSpPr txBox="1"/>
          <p:nvPr/>
        </p:nvSpPr>
        <p:spPr>
          <a:xfrm>
            <a:off x="8302935" y="4954436"/>
            <a:ext cx="1924594" cy="369332"/>
          </a:xfrm>
          <a:prstGeom prst="rect">
            <a:avLst/>
          </a:prstGeom>
          <a:noFill/>
        </p:spPr>
        <p:txBody>
          <a:bodyPr wrap="square" rtlCol="0">
            <a:spAutoFit/>
          </a:bodyPr>
          <a:lstStyle/>
          <a:p>
            <a:r>
              <a:rPr lang="en-IN" dirty="0">
                <a:hlinkClick r:id="rId7"/>
              </a:rPr>
              <a:t>GitHub</a:t>
            </a:r>
            <a:endParaRPr lang="en-IN" dirty="0"/>
          </a:p>
        </p:txBody>
      </p:sp>
      <p:pic>
        <p:nvPicPr>
          <p:cNvPr id="12" name="Picture 11">
            <a:extLst>
              <a:ext uri="{FF2B5EF4-FFF2-40B4-BE49-F238E27FC236}">
                <a16:creationId xmlns:a16="http://schemas.microsoft.com/office/drawing/2014/main" id="{3A82ED54-1FCD-01F9-3320-FBCD291FE781}"/>
              </a:ext>
            </a:extLst>
          </p:cNvPr>
          <p:cNvPicPr>
            <a:picLocks noChangeAspect="1"/>
          </p:cNvPicPr>
          <p:nvPr/>
        </p:nvPicPr>
        <p:blipFill>
          <a:blip r:embed="rId8"/>
          <a:stretch>
            <a:fillRect/>
          </a:stretch>
        </p:blipFill>
        <p:spPr>
          <a:xfrm>
            <a:off x="7819599" y="4920304"/>
            <a:ext cx="423988" cy="434788"/>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8600FBE0-0937-4CF5-9649-A5E1EFADEB87}"/>
              </a:ext>
            </a:extLst>
          </p:cNvPr>
          <p:cNvSpPr/>
          <p:nvPr/>
        </p:nvSpPr>
        <p:spPr>
          <a:xfrm>
            <a:off x="338350" y="1210832"/>
            <a:ext cx="6570399" cy="3381321"/>
          </a:xfrm>
          <a:prstGeom prst="roundRect">
            <a:avLst>
              <a:gd name="adj" fmla="val 3532"/>
            </a:avLst>
          </a:prstGeom>
          <a:solidFill>
            <a:srgbClr val="F2F5F0"/>
          </a:solidFill>
          <a:ln>
            <a:solidFill>
              <a:srgbClr val="2C5F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Rounded Corners 27">
            <a:extLst>
              <a:ext uri="{FF2B5EF4-FFF2-40B4-BE49-F238E27FC236}">
                <a16:creationId xmlns:a16="http://schemas.microsoft.com/office/drawing/2014/main" id="{08824D9D-73E3-4CD2-8813-485E2DB4F062}"/>
              </a:ext>
            </a:extLst>
          </p:cNvPr>
          <p:cNvSpPr/>
          <p:nvPr/>
        </p:nvSpPr>
        <p:spPr>
          <a:xfrm>
            <a:off x="338350" y="5132450"/>
            <a:ext cx="11396145" cy="1111233"/>
          </a:xfrm>
          <a:prstGeom prst="roundRect">
            <a:avLst>
              <a:gd name="adj" fmla="val 8046"/>
            </a:avLst>
          </a:prstGeom>
          <a:solidFill>
            <a:schemeClr val="accent6">
              <a:lumMod val="20000"/>
              <a:lumOff val="80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397774" y="287235"/>
            <a:ext cx="11277295" cy="658368"/>
          </a:xfrm>
          <a:prstGeom prst="rect">
            <a:avLst/>
          </a:prstGeom>
          <a:noFill/>
          <a:ln/>
        </p:spPr>
        <p:txBody>
          <a:bodyPr wrap="square" lIns="0" tIns="0" rIns="0" bIns="0" rtlCol="0" anchor="ctr"/>
          <a:lstStyle/>
          <a:p>
            <a:pPr marL="0" indent="0" algn="l">
              <a:buNone/>
            </a:pPr>
            <a:r>
              <a:rPr lang="en-US" sz="3200" b="1" dirty="0">
                <a:solidFill>
                  <a:srgbClr val="2C5F2D"/>
                </a:solidFill>
                <a:latin typeface="Cambria" pitchFamily="34" charset="0"/>
                <a:ea typeface="Cambria" pitchFamily="34" charset="-122"/>
                <a:cs typeface="Cambria" pitchFamily="34" charset="-120"/>
              </a:rPr>
              <a:t>Introduction &amp; Problem Statement</a:t>
            </a:r>
            <a:endParaRPr lang="en-US" sz="3200" dirty="0">
              <a:solidFill>
                <a:srgbClr val="2C5F2D"/>
              </a:solidFill>
            </a:endParaRPr>
          </a:p>
        </p:txBody>
      </p:sp>
      <p:sp>
        <p:nvSpPr>
          <p:cNvPr id="3" name="Text 1"/>
          <p:cNvSpPr/>
          <p:nvPr/>
        </p:nvSpPr>
        <p:spPr>
          <a:xfrm>
            <a:off x="457200" y="6547104"/>
            <a:ext cx="7315200" cy="256032"/>
          </a:xfrm>
          <a:prstGeom prst="rect">
            <a:avLst/>
          </a:prstGeom>
          <a:noFill/>
          <a:ln/>
        </p:spPr>
        <p:txBody>
          <a:bodyPr wrap="square" rtlCol="0" anchor="ctr"/>
          <a:lstStyle/>
          <a:p>
            <a:r>
              <a:rPr lang="en-US" sz="850" dirty="0">
                <a:solidFill>
                  <a:srgbClr val="5B6B5C"/>
                </a:solidFill>
                <a:latin typeface="Calibri" pitchFamily="34" charset="0"/>
                <a:ea typeface="Calibri" pitchFamily="34" charset="-122"/>
                <a:cs typeface="Calibri" pitchFamily="34" charset="-120"/>
              </a:rPr>
              <a:t>Analysis of </a:t>
            </a:r>
            <a:r>
              <a:rPr lang="en-US" sz="850" dirty="0">
                <a:solidFill>
                  <a:srgbClr val="5B6B5C"/>
                </a:solidFill>
                <a:ea typeface="Cambria" panose="02040503050406030204" pitchFamily="18" charset="0"/>
                <a:cs typeface="Calibri"/>
                <a:sym typeface="Calibri"/>
              </a:rPr>
              <a:t>Analysis of Soil and Environmental Parameters Across Different Crops</a:t>
            </a:r>
            <a:r>
              <a:rPr lang="en-US" sz="850" dirty="0">
                <a:solidFill>
                  <a:srgbClr val="5B6B5C"/>
                </a:solidFill>
                <a:ea typeface="Calibri" pitchFamily="34" charset="-122"/>
                <a:cs typeface="Calibri" pitchFamily="34" charset="-120"/>
              </a:rPr>
              <a:t>  </a:t>
            </a:r>
            <a:r>
              <a:rPr lang="en-US" sz="850" dirty="0">
                <a:solidFill>
                  <a:srgbClr val="5B6B5C"/>
                </a:solidFill>
                <a:latin typeface="Calibri" pitchFamily="34" charset="0"/>
                <a:ea typeface="Calibri" pitchFamily="34" charset="-122"/>
                <a:cs typeface="Calibri" pitchFamily="34" charset="-120"/>
              </a:rPr>
              <a:t>|  Exploratory Data Analysis</a:t>
            </a:r>
            <a:endParaRPr lang="en-US" sz="850" dirty="0"/>
          </a:p>
        </p:txBody>
      </p:sp>
      <p:sp>
        <p:nvSpPr>
          <p:cNvPr id="4" name="Text 2"/>
          <p:cNvSpPr/>
          <p:nvPr/>
        </p:nvSpPr>
        <p:spPr>
          <a:xfrm>
            <a:off x="11185855" y="6547104"/>
            <a:ext cx="548640" cy="256032"/>
          </a:xfrm>
          <a:prstGeom prst="rect">
            <a:avLst/>
          </a:prstGeom>
          <a:noFill/>
          <a:ln/>
        </p:spPr>
        <p:txBody>
          <a:bodyPr wrap="square" rtlCol="0" anchor="ctr"/>
          <a:lstStyle/>
          <a:p>
            <a:pPr marL="0" indent="0" algn="r">
              <a:buNone/>
            </a:pPr>
            <a:r>
              <a:rPr lang="en-US" sz="900" dirty="0">
                <a:solidFill>
                  <a:srgbClr val="5B6B5C"/>
                </a:solidFill>
                <a:latin typeface="Calibri" pitchFamily="34" charset="0"/>
                <a:ea typeface="Calibri" pitchFamily="34" charset="-122"/>
                <a:cs typeface="Calibri" pitchFamily="34" charset="-120"/>
              </a:rPr>
              <a:t>1</a:t>
            </a:r>
            <a:endParaRPr lang="en-US" sz="900" dirty="0"/>
          </a:p>
        </p:txBody>
      </p:sp>
      <p:sp>
        <p:nvSpPr>
          <p:cNvPr id="5" name="Text 3"/>
          <p:cNvSpPr/>
          <p:nvPr/>
        </p:nvSpPr>
        <p:spPr>
          <a:xfrm>
            <a:off x="471830" y="1296612"/>
            <a:ext cx="6309360" cy="3487279"/>
          </a:xfrm>
          <a:prstGeom prst="rect">
            <a:avLst/>
          </a:prstGeom>
          <a:noFill/>
          <a:ln/>
        </p:spPr>
        <p:txBody>
          <a:bodyPr wrap="square" rtlCol="0" anchor="t"/>
          <a:lstStyle/>
          <a:p>
            <a:pPr marL="177800" indent="-177800" algn="just">
              <a:lnSpc>
                <a:spcPct val="128000"/>
              </a:lnSpc>
              <a:spcAft>
                <a:spcPts val="1600"/>
              </a:spcAft>
              <a:buSzPct val="100000"/>
              <a:buChar char="•"/>
            </a:pPr>
            <a:r>
              <a:rPr lang="en-US" sz="1400" dirty="0">
                <a:solidFill>
                  <a:srgbClr val="232D24"/>
                </a:solidFill>
                <a:latin typeface="Cambria" panose="02040503050406030204" pitchFamily="18" charset="0"/>
                <a:ea typeface="Cambria" panose="02040503050406030204" pitchFamily="18" charset="0"/>
                <a:cs typeface="Calibri" pitchFamily="34" charset="-120"/>
              </a:rPr>
              <a:t>Agriculture depends heavily on soil nutrient levels and environmental conditions such as temperature, humidity, and rainfall.</a:t>
            </a:r>
            <a:endParaRPr lang="en-US" sz="1400" dirty="0">
              <a:latin typeface="Cambria" panose="02040503050406030204" pitchFamily="18" charset="0"/>
              <a:ea typeface="Cambria" panose="02040503050406030204" pitchFamily="18" charset="0"/>
            </a:endParaRPr>
          </a:p>
          <a:p>
            <a:pPr marL="177800" indent="-177800" algn="just">
              <a:lnSpc>
                <a:spcPct val="128000"/>
              </a:lnSpc>
              <a:spcAft>
                <a:spcPts val="1600"/>
              </a:spcAft>
              <a:buSzPct val="100000"/>
              <a:buChar char="•"/>
            </a:pPr>
            <a:r>
              <a:rPr lang="en-US" sz="1400" dirty="0">
                <a:solidFill>
                  <a:srgbClr val="232D24"/>
                </a:solidFill>
                <a:latin typeface="Cambria" panose="02040503050406030204" pitchFamily="18" charset="0"/>
                <a:ea typeface="Cambria" panose="02040503050406030204" pitchFamily="18" charset="0"/>
                <a:cs typeface="Calibri" pitchFamily="34" charset="-120"/>
              </a:rPr>
              <a:t>Different crops have different nutrient and climatic requirements for healthy growth.</a:t>
            </a:r>
            <a:endParaRPr lang="en-US" sz="1400" dirty="0">
              <a:latin typeface="Cambria" panose="02040503050406030204" pitchFamily="18" charset="0"/>
              <a:ea typeface="Cambria" panose="02040503050406030204" pitchFamily="18" charset="0"/>
            </a:endParaRPr>
          </a:p>
          <a:p>
            <a:pPr marL="177800" indent="-177800" algn="just">
              <a:lnSpc>
                <a:spcPct val="128000"/>
              </a:lnSpc>
              <a:spcAft>
                <a:spcPts val="1600"/>
              </a:spcAft>
              <a:buSzPct val="100000"/>
              <a:buChar char="•"/>
            </a:pPr>
            <a:r>
              <a:rPr lang="en-US" sz="1400" dirty="0">
                <a:solidFill>
                  <a:srgbClr val="232D24"/>
                </a:solidFill>
                <a:latin typeface="Cambria" panose="02040503050406030204" pitchFamily="18" charset="0"/>
                <a:ea typeface="Cambria" panose="02040503050406030204" pitchFamily="18" charset="0"/>
                <a:cs typeface="Calibri" pitchFamily="34" charset="-120"/>
              </a:rPr>
              <a:t>Exploratory Data Analysis (EDA) reveals patterns, distributions, and relationships within agricultural data before any modeling is attempted.</a:t>
            </a:r>
            <a:endParaRPr lang="en-US" sz="1400" dirty="0">
              <a:latin typeface="Cambria" panose="02040503050406030204" pitchFamily="18" charset="0"/>
              <a:ea typeface="Cambria" panose="02040503050406030204" pitchFamily="18" charset="0"/>
            </a:endParaRPr>
          </a:p>
          <a:p>
            <a:pPr marL="177800" indent="-177800" algn="just">
              <a:lnSpc>
                <a:spcPct val="128000"/>
              </a:lnSpc>
              <a:spcAft>
                <a:spcPts val="1600"/>
              </a:spcAft>
              <a:buSzPct val="100000"/>
              <a:buChar char="•"/>
            </a:pPr>
            <a:r>
              <a:rPr lang="en-US" sz="1400" dirty="0">
                <a:solidFill>
                  <a:srgbClr val="232D24"/>
                </a:solidFill>
                <a:latin typeface="Cambria" panose="02040503050406030204" pitchFamily="18" charset="0"/>
                <a:ea typeface="Cambria" panose="02040503050406030204" pitchFamily="18" charset="0"/>
                <a:cs typeface="Calibri" pitchFamily="34" charset="-120"/>
              </a:rPr>
              <a:t>This project examines how three soil nutrients (N, P, K) and four environmental factors (temperature, humidity, pH, rainfall) vary across 22 crop categories.</a:t>
            </a:r>
            <a:endParaRPr lang="en-US" sz="1400" dirty="0">
              <a:latin typeface="Cambria" panose="02040503050406030204" pitchFamily="18" charset="0"/>
              <a:ea typeface="Cambria" panose="02040503050406030204" pitchFamily="18" charset="0"/>
            </a:endParaRPr>
          </a:p>
        </p:txBody>
      </p:sp>
      <p:sp>
        <p:nvSpPr>
          <p:cNvPr id="6" name="Shape 4"/>
          <p:cNvSpPr/>
          <p:nvPr/>
        </p:nvSpPr>
        <p:spPr>
          <a:xfrm>
            <a:off x="7306056" y="1697083"/>
            <a:ext cx="914" cy="274320"/>
          </a:xfrm>
          <a:prstGeom prst="line">
            <a:avLst/>
          </a:prstGeom>
          <a:noFill/>
          <a:ln w="15875">
            <a:solidFill>
              <a:srgbClr val="A9C2A0"/>
            </a:solidFill>
            <a:prstDash val="solid"/>
          </a:ln>
        </p:spPr>
      </p:sp>
      <p:sp>
        <p:nvSpPr>
          <p:cNvPr id="7" name="Shape 5"/>
          <p:cNvSpPr/>
          <p:nvPr/>
        </p:nvSpPr>
        <p:spPr>
          <a:xfrm>
            <a:off x="7306056" y="2501346"/>
            <a:ext cx="914" cy="274320"/>
          </a:xfrm>
          <a:prstGeom prst="line">
            <a:avLst/>
          </a:prstGeom>
          <a:noFill/>
          <a:ln w="15875">
            <a:solidFill>
              <a:srgbClr val="A9C2A0"/>
            </a:solidFill>
            <a:prstDash val="solid"/>
          </a:ln>
        </p:spPr>
        <p:txBody>
          <a:bodyPr/>
          <a:lstStyle/>
          <a:p>
            <a:endParaRPr lang="en-IN" dirty="0"/>
          </a:p>
        </p:txBody>
      </p:sp>
      <p:sp>
        <p:nvSpPr>
          <p:cNvPr id="8" name="Shape 6"/>
          <p:cNvSpPr/>
          <p:nvPr/>
        </p:nvSpPr>
        <p:spPr>
          <a:xfrm>
            <a:off x="7315200" y="3314700"/>
            <a:ext cx="914" cy="274320"/>
          </a:xfrm>
          <a:prstGeom prst="line">
            <a:avLst/>
          </a:prstGeom>
          <a:noFill/>
          <a:ln w="15875">
            <a:solidFill>
              <a:srgbClr val="A9C2A0"/>
            </a:solidFill>
            <a:prstDash val="solid"/>
          </a:ln>
        </p:spPr>
        <p:txBody>
          <a:bodyPr/>
          <a:lstStyle/>
          <a:p>
            <a:endParaRPr lang="en-IN" sz="3200" dirty="0"/>
          </a:p>
        </p:txBody>
      </p:sp>
      <p:sp>
        <p:nvSpPr>
          <p:cNvPr id="9" name="Shape 7"/>
          <p:cNvSpPr/>
          <p:nvPr/>
        </p:nvSpPr>
        <p:spPr>
          <a:xfrm>
            <a:off x="7324344" y="4152710"/>
            <a:ext cx="914" cy="274320"/>
          </a:xfrm>
          <a:prstGeom prst="line">
            <a:avLst/>
          </a:prstGeom>
          <a:noFill/>
          <a:ln w="15875">
            <a:solidFill>
              <a:srgbClr val="A9C2A0"/>
            </a:solidFill>
            <a:prstDash val="solid"/>
          </a:ln>
        </p:spPr>
      </p:sp>
      <p:sp>
        <p:nvSpPr>
          <p:cNvPr id="10" name="Shape 8"/>
          <p:cNvSpPr/>
          <p:nvPr/>
        </p:nvSpPr>
        <p:spPr>
          <a:xfrm>
            <a:off x="7041794" y="1130155"/>
            <a:ext cx="566928" cy="566928"/>
          </a:xfrm>
          <a:prstGeom prst="ellipse">
            <a:avLst/>
          </a:prstGeom>
          <a:solidFill>
            <a:srgbClr val="F2F5F0"/>
          </a:solidFill>
          <a:ln w="19050">
            <a:solidFill>
              <a:srgbClr val="7FA25C"/>
            </a:solidFill>
            <a:prstDash val="solid"/>
          </a:ln>
        </p:spPr>
      </p:sp>
      <p:sp>
        <p:nvSpPr>
          <p:cNvPr id="11" name="Text 9"/>
          <p:cNvSpPr/>
          <p:nvPr/>
        </p:nvSpPr>
        <p:spPr>
          <a:xfrm>
            <a:off x="6721754" y="1138428"/>
            <a:ext cx="1207008" cy="566928"/>
          </a:xfrm>
          <a:prstGeom prst="rect">
            <a:avLst/>
          </a:prstGeom>
          <a:noFill/>
          <a:ln/>
        </p:spPr>
        <p:txBody>
          <a:bodyPr wrap="square" rtlCol="0" anchor="ctr"/>
          <a:lstStyle/>
          <a:p>
            <a:pPr marL="0" indent="0" algn="ctr">
              <a:buNone/>
            </a:pPr>
            <a:r>
              <a:rPr lang="en-US" sz="950" b="1" dirty="0">
                <a:solidFill>
                  <a:srgbClr val="2C5F2D"/>
                </a:solidFill>
                <a:latin typeface="Calibri" pitchFamily="34" charset="0"/>
                <a:ea typeface="Calibri" pitchFamily="34" charset="-122"/>
                <a:cs typeface="Calibri" pitchFamily="34" charset="-120"/>
              </a:rPr>
              <a:t>N · P · K</a:t>
            </a:r>
            <a:endParaRPr lang="en-US" sz="950" dirty="0"/>
          </a:p>
        </p:txBody>
      </p:sp>
      <p:sp>
        <p:nvSpPr>
          <p:cNvPr id="12" name="Shape 10"/>
          <p:cNvSpPr/>
          <p:nvPr/>
        </p:nvSpPr>
        <p:spPr>
          <a:xfrm>
            <a:off x="7031736" y="1953115"/>
            <a:ext cx="566928" cy="566928"/>
          </a:xfrm>
          <a:prstGeom prst="ellipse">
            <a:avLst/>
          </a:prstGeom>
          <a:solidFill>
            <a:srgbClr val="F2F5F0"/>
          </a:solidFill>
          <a:ln w="19050">
            <a:solidFill>
              <a:srgbClr val="7FA25C"/>
            </a:solidFill>
            <a:prstDash val="solid"/>
          </a:ln>
        </p:spPr>
      </p:sp>
      <p:sp>
        <p:nvSpPr>
          <p:cNvPr id="13" name="Text 11"/>
          <p:cNvSpPr/>
          <p:nvPr/>
        </p:nvSpPr>
        <p:spPr>
          <a:xfrm>
            <a:off x="6702552" y="1934827"/>
            <a:ext cx="1207008" cy="566928"/>
          </a:xfrm>
          <a:prstGeom prst="rect">
            <a:avLst/>
          </a:prstGeom>
          <a:noFill/>
          <a:ln/>
        </p:spPr>
        <p:txBody>
          <a:bodyPr wrap="square" rtlCol="0" anchor="ctr"/>
          <a:lstStyle/>
          <a:p>
            <a:pPr marL="0" indent="0" algn="ctr">
              <a:buNone/>
            </a:pPr>
            <a:r>
              <a:rPr lang="en-US" sz="950" b="1" dirty="0">
                <a:solidFill>
                  <a:srgbClr val="2C5F2D"/>
                </a:solidFill>
                <a:latin typeface="Calibri" pitchFamily="34" charset="0"/>
                <a:ea typeface="Calibri" pitchFamily="34" charset="-122"/>
                <a:cs typeface="Calibri" pitchFamily="34" charset="-120"/>
              </a:rPr>
              <a:t>Temp</a:t>
            </a:r>
            <a:endParaRPr lang="en-US" sz="950" dirty="0"/>
          </a:p>
        </p:txBody>
      </p:sp>
      <p:sp>
        <p:nvSpPr>
          <p:cNvPr id="14" name="Shape 12"/>
          <p:cNvSpPr/>
          <p:nvPr/>
        </p:nvSpPr>
        <p:spPr>
          <a:xfrm>
            <a:off x="7023506" y="2757787"/>
            <a:ext cx="566928" cy="566928"/>
          </a:xfrm>
          <a:prstGeom prst="ellipse">
            <a:avLst/>
          </a:prstGeom>
          <a:solidFill>
            <a:srgbClr val="F2F5F0"/>
          </a:solidFill>
          <a:ln w="19050">
            <a:solidFill>
              <a:srgbClr val="7FA25C"/>
            </a:solidFill>
            <a:prstDash val="solid"/>
          </a:ln>
        </p:spPr>
      </p:sp>
      <p:sp>
        <p:nvSpPr>
          <p:cNvPr id="15" name="Text 13"/>
          <p:cNvSpPr/>
          <p:nvPr/>
        </p:nvSpPr>
        <p:spPr>
          <a:xfrm>
            <a:off x="6703466" y="2739499"/>
            <a:ext cx="1207008" cy="566928"/>
          </a:xfrm>
          <a:prstGeom prst="rect">
            <a:avLst/>
          </a:prstGeom>
          <a:noFill/>
          <a:ln/>
        </p:spPr>
        <p:txBody>
          <a:bodyPr wrap="square" rtlCol="0" anchor="ctr"/>
          <a:lstStyle/>
          <a:p>
            <a:pPr marL="0" indent="0" algn="ctr">
              <a:buNone/>
            </a:pPr>
            <a:r>
              <a:rPr lang="en-US" sz="950" b="1" dirty="0">
                <a:solidFill>
                  <a:srgbClr val="2C5F2D"/>
                </a:solidFill>
                <a:latin typeface="Calibri" pitchFamily="34" charset="0"/>
                <a:ea typeface="Calibri" pitchFamily="34" charset="-122"/>
                <a:cs typeface="Calibri" pitchFamily="34" charset="-120"/>
              </a:rPr>
              <a:t>Humidity</a:t>
            </a:r>
            <a:endParaRPr lang="en-US" sz="950" dirty="0"/>
          </a:p>
        </p:txBody>
      </p:sp>
      <p:sp>
        <p:nvSpPr>
          <p:cNvPr id="16" name="Shape 14"/>
          <p:cNvSpPr/>
          <p:nvPr/>
        </p:nvSpPr>
        <p:spPr>
          <a:xfrm>
            <a:off x="7031736" y="3597293"/>
            <a:ext cx="566928" cy="566928"/>
          </a:xfrm>
          <a:prstGeom prst="ellipse">
            <a:avLst/>
          </a:prstGeom>
          <a:solidFill>
            <a:srgbClr val="F2F5F0"/>
          </a:solidFill>
          <a:ln w="19050">
            <a:solidFill>
              <a:srgbClr val="7FA25C"/>
            </a:solidFill>
            <a:prstDash val="solid"/>
          </a:ln>
        </p:spPr>
      </p:sp>
      <p:sp>
        <p:nvSpPr>
          <p:cNvPr id="17" name="Text 15"/>
          <p:cNvSpPr/>
          <p:nvPr/>
        </p:nvSpPr>
        <p:spPr>
          <a:xfrm>
            <a:off x="6721754" y="3597293"/>
            <a:ext cx="1207008" cy="566928"/>
          </a:xfrm>
          <a:prstGeom prst="rect">
            <a:avLst/>
          </a:prstGeom>
          <a:noFill/>
          <a:ln/>
        </p:spPr>
        <p:txBody>
          <a:bodyPr wrap="square" rtlCol="0" anchor="ctr"/>
          <a:lstStyle/>
          <a:p>
            <a:pPr marL="0" indent="0" algn="ctr">
              <a:buNone/>
            </a:pPr>
            <a:r>
              <a:rPr lang="en-US" sz="950" b="1" dirty="0">
                <a:solidFill>
                  <a:srgbClr val="2C5F2D"/>
                </a:solidFill>
                <a:latin typeface="Calibri" pitchFamily="34" charset="0"/>
                <a:ea typeface="Calibri" pitchFamily="34" charset="-122"/>
                <a:cs typeface="Calibri" pitchFamily="34" charset="-120"/>
              </a:rPr>
              <a:t>Rainfall</a:t>
            </a:r>
            <a:endParaRPr lang="en-US" sz="950" dirty="0"/>
          </a:p>
        </p:txBody>
      </p:sp>
      <p:sp>
        <p:nvSpPr>
          <p:cNvPr id="18" name="Shape 16"/>
          <p:cNvSpPr/>
          <p:nvPr/>
        </p:nvSpPr>
        <p:spPr>
          <a:xfrm>
            <a:off x="7023506" y="4428363"/>
            <a:ext cx="566928" cy="566928"/>
          </a:xfrm>
          <a:prstGeom prst="ellipse">
            <a:avLst/>
          </a:prstGeom>
          <a:solidFill>
            <a:srgbClr val="F2F5F0"/>
          </a:solidFill>
          <a:ln w="19050">
            <a:solidFill>
              <a:srgbClr val="7FA25C"/>
            </a:solidFill>
            <a:prstDash val="solid"/>
          </a:ln>
        </p:spPr>
      </p:sp>
      <p:sp>
        <p:nvSpPr>
          <p:cNvPr id="19" name="Text 17"/>
          <p:cNvSpPr/>
          <p:nvPr/>
        </p:nvSpPr>
        <p:spPr>
          <a:xfrm>
            <a:off x="6702552" y="4436419"/>
            <a:ext cx="1207008" cy="566928"/>
          </a:xfrm>
          <a:prstGeom prst="rect">
            <a:avLst/>
          </a:prstGeom>
          <a:noFill/>
          <a:ln/>
        </p:spPr>
        <p:txBody>
          <a:bodyPr wrap="square" rtlCol="0" anchor="ctr"/>
          <a:lstStyle/>
          <a:p>
            <a:pPr marL="0" indent="0" algn="ctr">
              <a:buNone/>
            </a:pPr>
            <a:r>
              <a:rPr lang="en-US" sz="950" b="1" dirty="0">
                <a:solidFill>
                  <a:srgbClr val="2C5F2D"/>
                </a:solidFill>
                <a:latin typeface="Calibri" pitchFamily="34" charset="0"/>
                <a:ea typeface="Calibri" pitchFamily="34" charset="-122"/>
                <a:cs typeface="Calibri" pitchFamily="34" charset="-120"/>
              </a:rPr>
              <a:t>pH</a:t>
            </a:r>
            <a:endParaRPr lang="en-US" sz="950" dirty="0"/>
          </a:p>
        </p:txBody>
      </p:sp>
      <p:sp>
        <p:nvSpPr>
          <p:cNvPr id="20" name="Shape 18"/>
          <p:cNvSpPr/>
          <p:nvPr/>
        </p:nvSpPr>
        <p:spPr>
          <a:xfrm>
            <a:off x="7590434" y="3050247"/>
            <a:ext cx="1650492" cy="914"/>
          </a:xfrm>
          <a:prstGeom prst="line">
            <a:avLst/>
          </a:prstGeom>
          <a:noFill/>
          <a:ln w="19050">
            <a:solidFill>
              <a:srgbClr val="A9C2A0"/>
            </a:solidFill>
            <a:prstDash val="solid"/>
          </a:ln>
        </p:spPr>
      </p:sp>
      <p:sp>
        <p:nvSpPr>
          <p:cNvPr id="22" name="Shape 20"/>
          <p:cNvSpPr/>
          <p:nvPr/>
        </p:nvSpPr>
        <p:spPr>
          <a:xfrm>
            <a:off x="8756294" y="2508845"/>
            <a:ext cx="1051560" cy="1051560"/>
          </a:xfrm>
          <a:prstGeom prst="ellipse">
            <a:avLst/>
          </a:prstGeom>
          <a:solidFill>
            <a:srgbClr val="2C5F2D"/>
          </a:solidFill>
          <a:ln/>
        </p:spPr>
      </p:sp>
      <p:sp>
        <p:nvSpPr>
          <p:cNvPr id="23" name="Text 21"/>
          <p:cNvSpPr/>
          <p:nvPr/>
        </p:nvSpPr>
        <p:spPr>
          <a:xfrm>
            <a:off x="8768182" y="2497183"/>
            <a:ext cx="1051560" cy="105156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EDA</a:t>
            </a:r>
            <a:endParaRPr lang="en-US" sz="1600" dirty="0"/>
          </a:p>
        </p:txBody>
      </p:sp>
      <p:sp>
        <p:nvSpPr>
          <p:cNvPr id="24" name="Shape 22"/>
          <p:cNvSpPr/>
          <p:nvPr/>
        </p:nvSpPr>
        <p:spPr>
          <a:xfrm>
            <a:off x="9793224" y="3029564"/>
            <a:ext cx="685800" cy="914"/>
          </a:xfrm>
          <a:prstGeom prst="line">
            <a:avLst/>
          </a:prstGeom>
          <a:noFill/>
          <a:ln w="22225">
            <a:solidFill>
              <a:srgbClr val="7FA25C"/>
            </a:solidFill>
            <a:prstDash val="solid"/>
          </a:ln>
        </p:spPr>
        <p:txBody>
          <a:bodyPr/>
          <a:lstStyle/>
          <a:p>
            <a:endParaRPr lang="en-IN" dirty="0"/>
          </a:p>
        </p:txBody>
      </p:sp>
      <p:sp>
        <p:nvSpPr>
          <p:cNvPr id="25" name="Shape 23"/>
          <p:cNvSpPr/>
          <p:nvPr/>
        </p:nvSpPr>
        <p:spPr>
          <a:xfrm>
            <a:off x="10450678" y="2316616"/>
            <a:ext cx="1554480" cy="1554480"/>
          </a:xfrm>
          <a:prstGeom prst="ellipse">
            <a:avLst/>
          </a:prstGeom>
          <a:solidFill>
            <a:srgbClr val="7FA25C"/>
          </a:solidFill>
          <a:ln/>
        </p:spPr>
        <p:txBody>
          <a:bodyPr/>
          <a:lstStyle/>
          <a:p>
            <a:endParaRPr lang="en-IN" dirty="0"/>
          </a:p>
        </p:txBody>
      </p:sp>
      <p:sp>
        <p:nvSpPr>
          <p:cNvPr id="26" name="Text 24"/>
          <p:cNvSpPr/>
          <p:nvPr/>
        </p:nvSpPr>
        <p:spPr>
          <a:xfrm>
            <a:off x="10406786" y="2273921"/>
            <a:ext cx="1554480" cy="155448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Patterns &amp;</a:t>
            </a:r>
            <a:endParaRPr lang="en-US" sz="1400" dirty="0"/>
          </a:p>
          <a:p>
            <a:pPr marL="0" indent="0" algn="ctr">
              <a:buNone/>
            </a:pPr>
            <a:r>
              <a:rPr lang="en-US" sz="1400" b="1" dirty="0">
                <a:solidFill>
                  <a:srgbClr val="FFFFFF"/>
                </a:solidFill>
                <a:latin typeface="Cambria" pitchFamily="34" charset="0"/>
                <a:ea typeface="Cambria" pitchFamily="34" charset="-122"/>
                <a:cs typeface="Cambria" pitchFamily="34" charset="-120"/>
              </a:rPr>
              <a:t>Insights</a:t>
            </a:r>
            <a:endParaRPr lang="en-US" sz="1400" dirty="0"/>
          </a:p>
        </p:txBody>
      </p:sp>
      <p:sp>
        <p:nvSpPr>
          <p:cNvPr id="27" name="TextBox 26">
            <a:extLst>
              <a:ext uri="{FF2B5EF4-FFF2-40B4-BE49-F238E27FC236}">
                <a16:creationId xmlns:a16="http://schemas.microsoft.com/office/drawing/2014/main" id="{20CE6FDD-C9D2-BED6-6605-302265C23311}"/>
              </a:ext>
            </a:extLst>
          </p:cNvPr>
          <p:cNvSpPr txBox="1"/>
          <p:nvPr/>
        </p:nvSpPr>
        <p:spPr>
          <a:xfrm>
            <a:off x="542108" y="5180538"/>
            <a:ext cx="11107478" cy="984885"/>
          </a:xfrm>
          <a:prstGeom prst="rect">
            <a:avLst/>
          </a:prstGeom>
          <a:noFill/>
          <a:ln>
            <a:noFill/>
          </a:ln>
        </p:spPr>
        <p:txBody>
          <a:bodyPr wrap="square" rtlCol="0">
            <a:spAutoFit/>
          </a:bodyPr>
          <a:lstStyle/>
          <a:p>
            <a:pPr algn="just"/>
            <a:r>
              <a:rPr lang="en-US" sz="1450" dirty="0">
                <a:solidFill>
                  <a:srgbClr val="232D24"/>
                </a:solidFill>
                <a:latin typeface="Cambria" panose="02040503050406030204" pitchFamily="18" charset="0"/>
                <a:ea typeface="Cambria" panose="02040503050406030204" pitchFamily="18" charset="0"/>
              </a:rPr>
              <a:t>Agricultural stakeholders deal with multiple soil and environmental parameters when evaluating crop conditions. Without systematic analysis, it can be difficult to identify which parameters vary significantly across crops and how these variables are related. This project uses data cleaning, statistical analysis, visualization, and EDA techniques to uncover patterns and relationships within agricultural data, providing stakeholders with a clearer understanding of crop-wise characteristics and environmental conditions.</a:t>
            </a:r>
            <a:endParaRPr lang="en-IN" sz="1450" dirty="0">
              <a:solidFill>
                <a:srgbClr val="232D24"/>
              </a:solidFill>
              <a:latin typeface="Cambria" panose="02040503050406030204" pitchFamily="18" charset="0"/>
              <a:ea typeface="Cambria" panose="020405030504060302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up)">
                                      <p:cBhvr>
                                        <p:cTn id="7" dur="500"/>
                                        <p:tgtEl>
                                          <p:spTgt spid="28"/>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up)">
                                      <p:cBhvr>
                                        <p:cTn id="10" dur="500"/>
                                        <p:tgtEl>
                                          <p:spTgt spid="27"/>
                                        </p:tgtEl>
                                      </p:cBhvr>
                                    </p:animEffec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heel(1)">
                                      <p:cBhvr>
                                        <p:cTn id="15" dur="2000"/>
                                        <p:tgtEl>
                                          <p:spTgt spid="6"/>
                                        </p:tgtEl>
                                      </p:cBhvr>
                                    </p:animEffect>
                                  </p:childTnLst>
                                </p:cTn>
                              </p:par>
                              <p:par>
                                <p:cTn id="16" presetID="21" presetClass="entr" presetSubtype="1"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heel(1)">
                                      <p:cBhvr>
                                        <p:cTn id="18" dur="2000"/>
                                        <p:tgtEl>
                                          <p:spTgt spid="7"/>
                                        </p:tgtEl>
                                      </p:cBhvr>
                                    </p:animEffect>
                                  </p:childTnLst>
                                </p:cTn>
                              </p:par>
                              <p:par>
                                <p:cTn id="19" presetID="21" presetClass="entr" presetSubtype="1"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heel(1)">
                                      <p:cBhvr>
                                        <p:cTn id="21" dur="2000"/>
                                        <p:tgtEl>
                                          <p:spTgt spid="8"/>
                                        </p:tgtEl>
                                      </p:cBhvr>
                                    </p:animEffect>
                                  </p:childTnLst>
                                </p:cTn>
                              </p:par>
                              <p:par>
                                <p:cTn id="22" presetID="21" presetClass="entr" presetSubtype="1"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heel(1)">
                                      <p:cBhvr>
                                        <p:cTn id="24" dur="2000"/>
                                        <p:tgtEl>
                                          <p:spTgt spid="9"/>
                                        </p:tgtEl>
                                      </p:cBhvr>
                                    </p:animEffect>
                                  </p:childTnLst>
                                </p:cTn>
                              </p:par>
                              <p:par>
                                <p:cTn id="25" presetID="21" presetClass="entr" presetSubtype="1"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heel(1)">
                                      <p:cBhvr>
                                        <p:cTn id="27" dur="2000"/>
                                        <p:tgtEl>
                                          <p:spTgt spid="10"/>
                                        </p:tgtEl>
                                      </p:cBhvr>
                                    </p:animEffect>
                                  </p:childTnLst>
                                </p:cTn>
                              </p:par>
                              <p:par>
                                <p:cTn id="28" presetID="21" presetClass="entr" presetSubtype="1"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heel(1)">
                                      <p:cBhvr>
                                        <p:cTn id="30" dur="2000"/>
                                        <p:tgtEl>
                                          <p:spTgt spid="11"/>
                                        </p:tgtEl>
                                      </p:cBhvr>
                                    </p:animEffect>
                                  </p:childTnLst>
                                </p:cTn>
                              </p:par>
                              <p:par>
                                <p:cTn id="31" presetID="21" presetClass="entr" presetSubtype="1"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heel(1)">
                                      <p:cBhvr>
                                        <p:cTn id="33" dur="2000"/>
                                        <p:tgtEl>
                                          <p:spTgt spid="12"/>
                                        </p:tgtEl>
                                      </p:cBhvr>
                                    </p:animEffect>
                                  </p:childTnLst>
                                </p:cTn>
                              </p:par>
                              <p:par>
                                <p:cTn id="34" presetID="21" presetClass="entr" presetSubtype="1"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heel(1)">
                                      <p:cBhvr>
                                        <p:cTn id="36" dur="2000"/>
                                        <p:tgtEl>
                                          <p:spTgt spid="13"/>
                                        </p:tgtEl>
                                      </p:cBhvr>
                                    </p:animEffect>
                                  </p:childTnLst>
                                </p:cTn>
                              </p:par>
                              <p:par>
                                <p:cTn id="37" presetID="21" presetClass="entr" presetSubtype="1"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heel(1)">
                                      <p:cBhvr>
                                        <p:cTn id="39" dur="2000"/>
                                        <p:tgtEl>
                                          <p:spTgt spid="14"/>
                                        </p:tgtEl>
                                      </p:cBhvr>
                                    </p:animEffect>
                                  </p:childTnLst>
                                </p:cTn>
                              </p:par>
                              <p:par>
                                <p:cTn id="40" presetID="21" presetClass="entr" presetSubtype="1"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heel(1)">
                                      <p:cBhvr>
                                        <p:cTn id="42" dur="2000"/>
                                        <p:tgtEl>
                                          <p:spTgt spid="15"/>
                                        </p:tgtEl>
                                      </p:cBhvr>
                                    </p:animEffect>
                                  </p:childTnLst>
                                </p:cTn>
                              </p:par>
                              <p:par>
                                <p:cTn id="43" presetID="21" presetClass="entr" presetSubtype="1"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wheel(1)">
                                      <p:cBhvr>
                                        <p:cTn id="45" dur="2000"/>
                                        <p:tgtEl>
                                          <p:spTgt spid="16"/>
                                        </p:tgtEl>
                                      </p:cBhvr>
                                    </p:animEffect>
                                  </p:childTnLst>
                                </p:cTn>
                              </p:par>
                              <p:par>
                                <p:cTn id="46" presetID="21" presetClass="entr" presetSubtype="1"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wheel(1)">
                                      <p:cBhvr>
                                        <p:cTn id="48" dur="2000"/>
                                        <p:tgtEl>
                                          <p:spTgt spid="17"/>
                                        </p:tgtEl>
                                      </p:cBhvr>
                                    </p:animEffect>
                                  </p:childTnLst>
                                </p:cTn>
                              </p:par>
                              <p:par>
                                <p:cTn id="49" presetID="21" presetClass="entr" presetSubtype="1"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wheel(1)">
                                      <p:cBhvr>
                                        <p:cTn id="51" dur="2000"/>
                                        <p:tgtEl>
                                          <p:spTgt spid="18"/>
                                        </p:tgtEl>
                                      </p:cBhvr>
                                    </p:animEffect>
                                  </p:childTnLst>
                                </p:cTn>
                              </p:par>
                              <p:par>
                                <p:cTn id="52" presetID="21" presetClass="entr" presetSubtype="1"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wheel(1)">
                                      <p:cBhvr>
                                        <p:cTn id="54"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7" grpId="0" animBg="1"/>
      <p:bldP spid="8" grpId="0" animBg="1"/>
      <p:bldP spid="11" grpId="0" animBg="1"/>
      <p:bldP spid="13" grpId="0" animBg="1"/>
      <p:bldP spid="15" grpId="0" animBg="1"/>
      <p:bldP spid="17" grpId="0" animBg="1"/>
      <p:bldP spid="19" grpId="0" animBg="1"/>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47472"/>
            <a:ext cx="11277295" cy="658368"/>
          </a:xfrm>
          <a:prstGeom prst="rect">
            <a:avLst/>
          </a:prstGeom>
          <a:noFill/>
          <a:ln/>
        </p:spPr>
        <p:txBody>
          <a:bodyPr wrap="square" lIns="0" tIns="0" rIns="0" bIns="0" rtlCol="0" anchor="ctr"/>
          <a:lstStyle/>
          <a:p>
            <a:pPr marL="0" indent="0" algn="l">
              <a:buNone/>
            </a:pPr>
            <a:r>
              <a:rPr lang="en-US" sz="3200" b="1" dirty="0">
                <a:solidFill>
                  <a:srgbClr val="2C5F2D"/>
                </a:solidFill>
                <a:latin typeface="Cambria" pitchFamily="34" charset="0"/>
                <a:ea typeface="Cambria" pitchFamily="34" charset="-122"/>
                <a:cs typeface="Cambria" pitchFamily="34" charset="-120"/>
              </a:rPr>
              <a:t>Why This Project?</a:t>
            </a:r>
            <a:endParaRPr lang="en-US" sz="3200" dirty="0"/>
          </a:p>
        </p:txBody>
      </p:sp>
      <p:sp>
        <p:nvSpPr>
          <p:cNvPr id="3" name="Text 1"/>
          <p:cNvSpPr/>
          <p:nvPr/>
        </p:nvSpPr>
        <p:spPr>
          <a:xfrm>
            <a:off x="457200" y="6547104"/>
            <a:ext cx="7315200" cy="256032"/>
          </a:xfrm>
          <a:prstGeom prst="rect">
            <a:avLst/>
          </a:prstGeom>
          <a:noFill/>
          <a:ln/>
        </p:spPr>
        <p:txBody>
          <a:bodyPr wrap="square" rtlCol="0" anchor="ctr"/>
          <a:lstStyle/>
          <a:p>
            <a:r>
              <a:rPr lang="en-US" sz="850" dirty="0">
                <a:solidFill>
                  <a:srgbClr val="5B6B5C"/>
                </a:solidFill>
                <a:latin typeface="Calibri" pitchFamily="34" charset="0"/>
                <a:ea typeface="Calibri" pitchFamily="34" charset="-122"/>
                <a:cs typeface="Calibri" pitchFamily="34" charset="-120"/>
              </a:rPr>
              <a:t>Analysis of </a:t>
            </a:r>
            <a:r>
              <a:rPr lang="en-US" sz="850" dirty="0">
                <a:solidFill>
                  <a:srgbClr val="5B6B5C"/>
                </a:solidFill>
                <a:ea typeface="Cambria" panose="02040503050406030204" pitchFamily="18" charset="0"/>
                <a:cs typeface="Calibri"/>
                <a:sym typeface="Calibri"/>
              </a:rPr>
              <a:t>Analysis of Soil and Environmental Parameters Across Different Crops</a:t>
            </a:r>
            <a:r>
              <a:rPr lang="en-US" sz="850" dirty="0">
                <a:solidFill>
                  <a:srgbClr val="5B6B5C"/>
                </a:solidFill>
                <a:ea typeface="Calibri" pitchFamily="34" charset="-122"/>
                <a:cs typeface="Calibri" pitchFamily="34" charset="-120"/>
              </a:rPr>
              <a:t>  </a:t>
            </a:r>
            <a:r>
              <a:rPr lang="en-US" sz="850" dirty="0">
                <a:solidFill>
                  <a:srgbClr val="5B6B5C"/>
                </a:solidFill>
                <a:latin typeface="Calibri" pitchFamily="34" charset="0"/>
                <a:ea typeface="Calibri" pitchFamily="34" charset="-122"/>
                <a:cs typeface="Calibri" pitchFamily="34" charset="-120"/>
              </a:rPr>
              <a:t>|  Exploratory Data Analysis</a:t>
            </a:r>
            <a:endParaRPr lang="en-US" sz="850" dirty="0"/>
          </a:p>
        </p:txBody>
      </p:sp>
      <p:sp>
        <p:nvSpPr>
          <p:cNvPr id="4" name="Text 2"/>
          <p:cNvSpPr/>
          <p:nvPr/>
        </p:nvSpPr>
        <p:spPr>
          <a:xfrm>
            <a:off x="11185855" y="6547104"/>
            <a:ext cx="548640" cy="256032"/>
          </a:xfrm>
          <a:prstGeom prst="rect">
            <a:avLst/>
          </a:prstGeom>
          <a:noFill/>
          <a:ln/>
        </p:spPr>
        <p:txBody>
          <a:bodyPr wrap="square" rtlCol="0" anchor="ctr"/>
          <a:lstStyle/>
          <a:p>
            <a:pPr marL="0" indent="0" algn="r">
              <a:buNone/>
            </a:pPr>
            <a:r>
              <a:rPr lang="en-US" sz="900" dirty="0">
                <a:solidFill>
                  <a:srgbClr val="5B6B5C"/>
                </a:solidFill>
                <a:latin typeface="Calibri" pitchFamily="34" charset="0"/>
                <a:ea typeface="Calibri" pitchFamily="34" charset="-122"/>
                <a:cs typeface="Calibri" pitchFamily="34" charset="-120"/>
              </a:rPr>
              <a:t>2</a:t>
            </a:r>
            <a:endParaRPr lang="en-US" sz="900" dirty="0"/>
          </a:p>
        </p:txBody>
      </p:sp>
      <p:sp>
        <p:nvSpPr>
          <p:cNvPr id="5" name="Shape 3"/>
          <p:cNvSpPr/>
          <p:nvPr/>
        </p:nvSpPr>
        <p:spPr>
          <a:xfrm>
            <a:off x="457200" y="1280160"/>
            <a:ext cx="5410048" cy="2148840"/>
          </a:xfrm>
          <a:prstGeom prst="roundRect">
            <a:avLst>
              <a:gd name="adj" fmla="val 3404"/>
            </a:avLst>
          </a:prstGeom>
          <a:solidFill>
            <a:srgbClr val="F2F5F0"/>
          </a:solidFill>
          <a:ln>
            <a:solidFill>
              <a:schemeClr val="accent6">
                <a:lumMod val="75000"/>
              </a:schemeClr>
            </a:solidFill>
          </a:ln>
        </p:spPr>
        <p:txBody>
          <a:bodyPr/>
          <a:lstStyle/>
          <a:p>
            <a:endParaRPr lang="en-IN" dirty="0"/>
          </a:p>
        </p:txBody>
      </p:sp>
      <p:sp>
        <p:nvSpPr>
          <p:cNvPr id="6" name="Shape 4"/>
          <p:cNvSpPr/>
          <p:nvPr/>
        </p:nvSpPr>
        <p:spPr>
          <a:xfrm>
            <a:off x="777240" y="1709928"/>
            <a:ext cx="566928" cy="566928"/>
          </a:xfrm>
          <a:prstGeom prst="ellipse">
            <a:avLst/>
          </a:prstGeom>
          <a:solidFill>
            <a:srgbClr val="2C5F2D"/>
          </a:solidFill>
          <a:ln/>
        </p:spPr>
      </p:sp>
      <p:sp>
        <p:nvSpPr>
          <p:cNvPr id="7" name="Text 5"/>
          <p:cNvSpPr/>
          <p:nvPr/>
        </p:nvSpPr>
        <p:spPr>
          <a:xfrm>
            <a:off x="777240" y="1709928"/>
            <a:ext cx="566928" cy="56692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01</a:t>
            </a:r>
            <a:endParaRPr lang="en-US" sz="1500" dirty="0"/>
          </a:p>
        </p:txBody>
      </p:sp>
      <p:sp>
        <p:nvSpPr>
          <p:cNvPr id="8" name="Text 6"/>
          <p:cNvSpPr/>
          <p:nvPr/>
        </p:nvSpPr>
        <p:spPr>
          <a:xfrm>
            <a:off x="1508760" y="1655064"/>
            <a:ext cx="4084168" cy="502920"/>
          </a:xfrm>
          <a:prstGeom prst="rect">
            <a:avLst/>
          </a:prstGeom>
          <a:noFill/>
          <a:ln/>
        </p:spPr>
        <p:txBody>
          <a:bodyPr wrap="square" rtlCol="0" anchor="t"/>
          <a:lstStyle/>
          <a:p>
            <a:pPr marL="0" indent="0">
              <a:buNone/>
            </a:pPr>
            <a:r>
              <a:rPr lang="en-US" sz="1450" b="1" dirty="0">
                <a:solidFill>
                  <a:srgbClr val="2C5F2D"/>
                </a:solidFill>
                <a:latin typeface="Cambria" panose="02040503050406030204" pitchFamily="18" charset="0"/>
                <a:ea typeface="Cambria" panose="02040503050406030204" pitchFamily="18" charset="0"/>
                <a:cs typeface="Calibri" pitchFamily="34" charset="-120"/>
              </a:rPr>
              <a:t>Real Agricultural Relevance</a:t>
            </a:r>
            <a:endParaRPr lang="en-US" sz="1450" dirty="0">
              <a:latin typeface="Cambria" panose="02040503050406030204" pitchFamily="18" charset="0"/>
              <a:ea typeface="Cambria" panose="02040503050406030204" pitchFamily="18" charset="0"/>
            </a:endParaRPr>
          </a:p>
        </p:txBody>
      </p:sp>
      <p:sp>
        <p:nvSpPr>
          <p:cNvPr id="9" name="Text 7"/>
          <p:cNvSpPr/>
          <p:nvPr/>
        </p:nvSpPr>
        <p:spPr>
          <a:xfrm>
            <a:off x="1508760" y="2130552"/>
            <a:ext cx="4084168" cy="1280160"/>
          </a:xfrm>
          <a:prstGeom prst="rect">
            <a:avLst/>
          </a:prstGeom>
          <a:noFill/>
          <a:ln/>
        </p:spPr>
        <p:txBody>
          <a:bodyPr wrap="square" rtlCol="0" anchor="t"/>
          <a:lstStyle/>
          <a:p>
            <a:pPr marL="0" indent="0" algn="just">
              <a:lnSpc>
                <a:spcPct val="120000"/>
              </a:lnSpc>
              <a:buNone/>
            </a:pPr>
            <a:r>
              <a:rPr lang="en-US" sz="1400" dirty="0">
                <a:solidFill>
                  <a:srgbClr val="232D24"/>
                </a:solidFill>
                <a:latin typeface="Calibri" pitchFamily="34" charset="0"/>
                <a:ea typeface="Calibri" pitchFamily="34" charset="-122"/>
                <a:cs typeface="Calibri" pitchFamily="34" charset="-120"/>
              </a:rPr>
              <a:t>Agriculture underpins food security and rural livelihoods, giving this analysis a genuine, applied domain rather than a synthetic one.</a:t>
            </a:r>
            <a:endParaRPr lang="en-US" sz="1400" dirty="0"/>
          </a:p>
        </p:txBody>
      </p:sp>
      <p:sp>
        <p:nvSpPr>
          <p:cNvPr id="10" name="Shape 8"/>
          <p:cNvSpPr/>
          <p:nvPr/>
        </p:nvSpPr>
        <p:spPr>
          <a:xfrm>
            <a:off x="6324448" y="1243584"/>
            <a:ext cx="5410048" cy="2167128"/>
          </a:xfrm>
          <a:prstGeom prst="roundRect">
            <a:avLst>
              <a:gd name="adj" fmla="val 3404"/>
            </a:avLst>
          </a:prstGeom>
          <a:solidFill>
            <a:srgbClr val="F2F5F0"/>
          </a:solidFill>
          <a:ln>
            <a:solidFill>
              <a:schemeClr val="accent6">
                <a:lumMod val="75000"/>
              </a:schemeClr>
            </a:solidFill>
          </a:ln>
        </p:spPr>
      </p:sp>
      <p:sp>
        <p:nvSpPr>
          <p:cNvPr id="11" name="Shape 9"/>
          <p:cNvSpPr/>
          <p:nvPr/>
        </p:nvSpPr>
        <p:spPr>
          <a:xfrm>
            <a:off x="6644488" y="1709928"/>
            <a:ext cx="566928" cy="566928"/>
          </a:xfrm>
          <a:prstGeom prst="ellipse">
            <a:avLst/>
          </a:prstGeom>
          <a:solidFill>
            <a:srgbClr val="2C5F2D"/>
          </a:solidFill>
          <a:ln/>
        </p:spPr>
      </p:sp>
      <p:sp>
        <p:nvSpPr>
          <p:cNvPr id="12" name="Text 10"/>
          <p:cNvSpPr/>
          <p:nvPr/>
        </p:nvSpPr>
        <p:spPr>
          <a:xfrm>
            <a:off x="6644488" y="1709928"/>
            <a:ext cx="566928" cy="56692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02</a:t>
            </a:r>
            <a:endParaRPr lang="en-US" sz="1500" dirty="0"/>
          </a:p>
        </p:txBody>
      </p:sp>
      <p:sp>
        <p:nvSpPr>
          <p:cNvPr id="13" name="Text 11"/>
          <p:cNvSpPr/>
          <p:nvPr/>
        </p:nvSpPr>
        <p:spPr>
          <a:xfrm>
            <a:off x="7376008" y="1655064"/>
            <a:ext cx="4084168" cy="502920"/>
          </a:xfrm>
          <a:prstGeom prst="rect">
            <a:avLst/>
          </a:prstGeom>
          <a:noFill/>
          <a:ln/>
        </p:spPr>
        <p:txBody>
          <a:bodyPr wrap="square" rtlCol="0" anchor="t"/>
          <a:lstStyle/>
          <a:p>
            <a:pPr marL="0" indent="0">
              <a:buNone/>
            </a:pPr>
            <a:r>
              <a:rPr lang="en-US" sz="1450" b="1" dirty="0">
                <a:solidFill>
                  <a:srgbClr val="2C5F2D"/>
                </a:solidFill>
                <a:latin typeface="Cambria" panose="02040503050406030204" pitchFamily="18" charset="0"/>
                <a:ea typeface="Cambria" panose="02040503050406030204" pitchFamily="18" charset="0"/>
                <a:cs typeface="Calibri" pitchFamily="34" charset="-120"/>
              </a:rPr>
              <a:t>Multi-Nutrient Interaction</a:t>
            </a:r>
            <a:endParaRPr lang="en-US" sz="1450" dirty="0">
              <a:latin typeface="Cambria" panose="02040503050406030204" pitchFamily="18" charset="0"/>
              <a:ea typeface="Cambria" panose="02040503050406030204" pitchFamily="18" charset="0"/>
            </a:endParaRPr>
          </a:p>
        </p:txBody>
      </p:sp>
      <p:sp>
        <p:nvSpPr>
          <p:cNvPr id="14" name="Text 12"/>
          <p:cNvSpPr/>
          <p:nvPr/>
        </p:nvSpPr>
        <p:spPr>
          <a:xfrm>
            <a:off x="7376008" y="2130552"/>
            <a:ext cx="4084168" cy="1280160"/>
          </a:xfrm>
          <a:prstGeom prst="rect">
            <a:avLst/>
          </a:prstGeom>
          <a:noFill/>
          <a:ln/>
        </p:spPr>
        <p:txBody>
          <a:bodyPr wrap="square" rtlCol="0" anchor="t"/>
          <a:lstStyle/>
          <a:p>
            <a:pPr marL="0" indent="0" algn="just">
              <a:lnSpc>
                <a:spcPct val="120000"/>
              </a:lnSpc>
              <a:buNone/>
            </a:pPr>
            <a:r>
              <a:rPr lang="en-US" sz="1400" dirty="0">
                <a:solidFill>
                  <a:srgbClr val="232D24"/>
                </a:solidFill>
                <a:latin typeface="Calibri" pitchFamily="34" charset="0"/>
                <a:ea typeface="Calibri" pitchFamily="34" charset="-122"/>
                <a:cs typeface="Calibri" pitchFamily="34" charset="-120"/>
              </a:rPr>
              <a:t>The dataset captures three soil macronutrients — N, P, and K — simultaneously, allowing their joint variation across crops to be explored.</a:t>
            </a:r>
            <a:endParaRPr lang="en-US" sz="1400" dirty="0"/>
          </a:p>
        </p:txBody>
      </p:sp>
      <p:sp>
        <p:nvSpPr>
          <p:cNvPr id="15" name="Shape 13"/>
          <p:cNvSpPr/>
          <p:nvPr/>
        </p:nvSpPr>
        <p:spPr>
          <a:xfrm>
            <a:off x="457200" y="3858768"/>
            <a:ext cx="5410048" cy="2148840"/>
          </a:xfrm>
          <a:prstGeom prst="roundRect">
            <a:avLst>
              <a:gd name="adj" fmla="val 3404"/>
            </a:avLst>
          </a:prstGeom>
          <a:solidFill>
            <a:srgbClr val="F2F5F0"/>
          </a:solidFill>
          <a:ln>
            <a:solidFill>
              <a:schemeClr val="accent6">
                <a:lumMod val="75000"/>
              </a:schemeClr>
            </a:solidFill>
          </a:ln>
        </p:spPr>
      </p:sp>
      <p:sp>
        <p:nvSpPr>
          <p:cNvPr id="16" name="Shape 14"/>
          <p:cNvSpPr/>
          <p:nvPr/>
        </p:nvSpPr>
        <p:spPr>
          <a:xfrm>
            <a:off x="768096" y="4091940"/>
            <a:ext cx="566928" cy="566928"/>
          </a:xfrm>
          <a:prstGeom prst="ellipse">
            <a:avLst/>
          </a:prstGeom>
          <a:solidFill>
            <a:srgbClr val="2C5F2D"/>
          </a:solidFill>
          <a:ln/>
        </p:spPr>
      </p:sp>
      <p:sp>
        <p:nvSpPr>
          <p:cNvPr id="17" name="Text 15"/>
          <p:cNvSpPr/>
          <p:nvPr/>
        </p:nvSpPr>
        <p:spPr>
          <a:xfrm>
            <a:off x="777240" y="4178808"/>
            <a:ext cx="566928" cy="566928"/>
          </a:xfrm>
          <a:prstGeom prst="rect">
            <a:avLst/>
          </a:prstGeom>
          <a:noFill/>
          <a:ln/>
        </p:spPr>
        <p:txBody>
          <a:bodyPr wrap="square" rtlCol="0" anchor="ctr"/>
          <a:lstStyle/>
          <a:p>
            <a:pPr marL="0" indent="0" algn="ctr">
              <a:buNone/>
            </a:pPr>
            <a:endParaRPr lang="en-US" sz="1500" dirty="0"/>
          </a:p>
        </p:txBody>
      </p:sp>
      <p:sp>
        <p:nvSpPr>
          <p:cNvPr id="18" name="Text 16"/>
          <p:cNvSpPr/>
          <p:nvPr/>
        </p:nvSpPr>
        <p:spPr>
          <a:xfrm>
            <a:off x="1508760" y="4123944"/>
            <a:ext cx="4084168" cy="502920"/>
          </a:xfrm>
          <a:prstGeom prst="rect">
            <a:avLst/>
          </a:prstGeom>
          <a:noFill/>
          <a:ln/>
        </p:spPr>
        <p:txBody>
          <a:bodyPr wrap="square" rtlCol="0" anchor="t"/>
          <a:lstStyle/>
          <a:p>
            <a:pPr marL="0" indent="0">
              <a:buNone/>
            </a:pPr>
            <a:r>
              <a:rPr lang="en-US" sz="1450" b="1" dirty="0">
                <a:solidFill>
                  <a:srgbClr val="2C5F2D"/>
                </a:solidFill>
                <a:latin typeface="Cambria" panose="02040503050406030204" pitchFamily="18" charset="0"/>
                <a:ea typeface="Cambria" panose="02040503050406030204" pitchFamily="18" charset="0"/>
                <a:cs typeface="Calibri" pitchFamily="34" charset="-120"/>
              </a:rPr>
              <a:t>Environmental Diversity</a:t>
            </a:r>
            <a:endParaRPr lang="en-US" sz="1450" dirty="0">
              <a:latin typeface="Cambria" panose="02040503050406030204" pitchFamily="18" charset="0"/>
              <a:ea typeface="Cambria" panose="02040503050406030204" pitchFamily="18" charset="0"/>
            </a:endParaRPr>
          </a:p>
        </p:txBody>
      </p:sp>
      <p:sp>
        <p:nvSpPr>
          <p:cNvPr id="19" name="Text 17"/>
          <p:cNvSpPr/>
          <p:nvPr/>
        </p:nvSpPr>
        <p:spPr>
          <a:xfrm>
            <a:off x="1508760" y="4599432"/>
            <a:ext cx="4084168" cy="1280160"/>
          </a:xfrm>
          <a:prstGeom prst="rect">
            <a:avLst/>
          </a:prstGeom>
          <a:noFill/>
          <a:ln/>
        </p:spPr>
        <p:txBody>
          <a:bodyPr wrap="square" rtlCol="0" anchor="t"/>
          <a:lstStyle/>
          <a:p>
            <a:pPr marL="0" indent="0" algn="just">
              <a:lnSpc>
                <a:spcPct val="120000"/>
              </a:lnSpc>
              <a:buNone/>
            </a:pPr>
            <a:r>
              <a:rPr lang="en-US" sz="1400" dirty="0">
                <a:solidFill>
                  <a:srgbClr val="232D24"/>
                </a:solidFill>
                <a:latin typeface="Calibri" pitchFamily="34" charset="0"/>
                <a:ea typeface="Calibri" pitchFamily="34" charset="-122"/>
                <a:cs typeface="Calibri" pitchFamily="34" charset="-120"/>
              </a:rPr>
              <a:t>Temperature, humidity, pH, and rainfall together represent the major climatic drivers of crop suitability, giving EDA a genuinely multi-dimensional dataset.</a:t>
            </a:r>
            <a:endParaRPr lang="en-US" sz="1400" dirty="0"/>
          </a:p>
        </p:txBody>
      </p:sp>
      <p:sp>
        <p:nvSpPr>
          <p:cNvPr id="20" name="Shape 18"/>
          <p:cNvSpPr/>
          <p:nvPr/>
        </p:nvSpPr>
        <p:spPr>
          <a:xfrm>
            <a:off x="6324448" y="3886200"/>
            <a:ext cx="5410048" cy="2148840"/>
          </a:xfrm>
          <a:prstGeom prst="roundRect">
            <a:avLst>
              <a:gd name="adj" fmla="val 3404"/>
            </a:avLst>
          </a:prstGeom>
          <a:solidFill>
            <a:srgbClr val="F2F5F0"/>
          </a:solidFill>
          <a:ln>
            <a:solidFill>
              <a:schemeClr val="accent6">
                <a:lumMod val="75000"/>
              </a:schemeClr>
            </a:solidFill>
          </a:ln>
        </p:spPr>
      </p:sp>
      <p:sp>
        <p:nvSpPr>
          <p:cNvPr id="21" name="Shape 19"/>
          <p:cNvSpPr/>
          <p:nvPr/>
        </p:nvSpPr>
        <p:spPr>
          <a:xfrm>
            <a:off x="6644488" y="4178808"/>
            <a:ext cx="566928" cy="566928"/>
          </a:xfrm>
          <a:prstGeom prst="ellipse">
            <a:avLst/>
          </a:prstGeom>
          <a:solidFill>
            <a:srgbClr val="2C5F2D"/>
          </a:solidFill>
          <a:ln/>
        </p:spPr>
      </p:sp>
      <p:sp>
        <p:nvSpPr>
          <p:cNvPr id="22" name="Text 20"/>
          <p:cNvSpPr/>
          <p:nvPr/>
        </p:nvSpPr>
        <p:spPr>
          <a:xfrm>
            <a:off x="6644488" y="4178808"/>
            <a:ext cx="566928" cy="56692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04</a:t>
            </a:r>
            <a:endParaRPr lang="en-US" sz="1500" dirty="0"/>
          </a:p>
        </p:txBody>
      </p:sp>
      <p:sp>
        <p:nvSpPr>
          <p:cNvPr id="23" name="Text 21"/>
          <p:cNvSpPr/>
          <p:nvPr/>
        </p:nvSpPr>
        <p:spPr>
          <a:xfrm>
            <a:off x="7376008" y="4123944"/>
            <a:ext cx="4084168" cy="502920"/>
          </a:xfrm>
          <a:prstGeom prst="rect">
            <a:avLst/>
          </a:prstGeom>
          <a:noFill/>
          <a:ln/>
        </p:spPr>
        <p:txBody>
          <a:bodyPr wrap="square" rtlCol="0" anchor="t"/>
          <a:lstStyle/>
          <a:p>
            <a:pPr marL="0" indent="0">
              <a:buNone/>
            </a:pPr>
            <a:r>
              <a:rPr lang="en-US" sz="1450" b="1" dirty="0">
                <a:solidFill>
                  <a:srgbClr val="2C5F2D"/>
                </a:solidFill>
                <a:latin typeface="Cambria" panose="02040503050406030204" pitchFamily="18" charset="0"/>
                <a:ea typeface="Cambria" panose="02040503050406030204" pitchFamily="18" charset="0"/>
                <a:cs typeface="Calibri" pitchFamily="34" charset="-120"/>
              </a:rPr>
              <a:t>Well-Suited to a Full EDA Workflow</a:t>
            </a:r>
            <a:endParaRPr lang="en-US" sz="1450" dirty="0">
              <a:latin typeface="Cambria" panose="02040503050406030204" pitchFamily="18" charset="0"/>
              <a:ea typeface="Cambria" panose="02040503050406030204" pitchFamily="18" charset="0"/>
            </a:endParaRPr>
          </a:p>
        </p:txBody>
      </p:sp>
      <p:sp>
        <p:nvSpPr>
          <p:cNvPr id="24" name="Text 22"/>
          <p:cNvSpPr/>
          <p:nvPr/>
        </p:nvSpPr>
        <p:spPr>
          <a:xfrm>
            <a:off x="7376008" y="4599432"/>
            <a:ext cx="4084168" cy="1280160"/>
          </a:xfrm>
          <a:prstGeom prst="rect">
            <a:avLst/>
          </a:prstGeom>
          <a:noFill/>
          <a:ln/>
        </p:spPr>
        <p:txBody>
          <a:bodyPr wrap="square" rtlCol="0" anchor="t"/>
          <a:lstStyle/>
          <a:p>
            <a:pPr marL="0" indent="0" algn="just">
              <a:lnSpc>
                <a:spcPct val="120000"/>
              </a:lnSpc>
              <a:buNone/>
            </a:pPr>
            <a:r>
              <a:rPr lang="en-US" sz="1400" dirty="0">
                <a:solidFill>
                  <a:srgbClr val="232D24"/>
                </a:solidFill>
                <a:latin typeface="Calibri" pitchFamily="34" charset="0"/>
                <a:ea typeface="Calibri" pitchFamily="34" charset="-122"/>
                <a:cs typeface="Calibri" pitchFamily="34" charset="-120"/>
              </a:rPr>
              <a:t>A clean, fully numeric feature set with one categorical target is ideal for demonstrating the complete univariate → bivariate → multivariate workflow.</a:t>
            </a:r>
            <a:endParaRPr lang="en-US" sz="1400" dirty="0"/>
          </a:p>
        </p:txBody>
      </p:sp>
      <p:sp>
        <p:nvSpPr>
          <p:cNvPr id="26" name="TextBox 25">
            <a:extLst>
              <a:ext uri="{FF2B5EF4-FFF2-40B4-BE49-F238E27FC236}">
                <a16:creationId xmlns:a16="http://schemas.microsoft.com/office/drawing/2014/main" id="{CC40E5C2-0A17-E18B-4A9F-347193EE5FA0}"/>
              </a:ext>
            </a:extLst>
          </p:cNvPr>
          <p:cNvSpPr txBox="1"/>
          <p:nvPr/>
        </p:nvSpPr>
        <p:spPr>
          <a:xfrm>
            <a:off x="827749" y="4178808"/>
            <a:ext cx="525563" cy="369332"/>
          </a:xfrm>
          <a:prstGeom prst="rect">
            <a:avLst/>
          </a:prstGeom>
          <a:noFill/>
        </p:spPr>
        <p:txBody>
          <a:bodyPr wrap="square" rtlCol="0">
            <a:spAutoFit/>
          </a:bodyPr>
          <a:lstStyle/>
          <a:p>
            <a:r>
              <a:rPr lang="en-US" b="1" dirty="0">
                <a:solidFill>
                  <a:schemeClr val="bg1"/>
                </a:solidFill>
                <a:latin typeface="Cambria" panose="02040503050406030204" pitchFamily="18" charset="0"/>
                <a:ea typeface="Cambria" panose="02040503050406030204" pitchFamily="18" charset="0"/>
              </a:rPr>
              <a:t>03</a:t>
            </a:r>
            <a:endParaRPr lang="en-IN" b="1" dirty="0">
              <a:solidFill>
                <a:schemeClr val="bg1"/>
              </a:solidFill>
              <a:latin typeface="Cambria" panose="02040503050406030204" pitchFamily="18" charset="0"/>
              <a:ea typeface="Cambria" panose="020405030504060302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ppt_x"/>
                                          </p:val>
                                        </p:tav>
                                        <p:tav tm="100000">
                                          <p:val>
                                            <p:strVal val="#ppt_x"/>
                                          </p:val>
                                        </p:tav>
                                      </p:tavLst>
                                    </p:anim>
                                    <p:anim calcmode="lin" valueType="num">
                                      <p:cBhvr additive="base">
                                        <p:cTn id="34" dur="500" fill="hold"/>
                                        <p:tgtEl>
                                          <p:spTgt spid="11"/>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500" fill="hold"/>
                                        <p:tgtEl>
                                          <p:spTgt spid="13"/>
                                        </p:tgtEl>
                                        <p:attrNameLst>
                                          <p:attrName>ppt_x</p:attrName>
                                        </p:attrNameLst>
                                      </p:cBhvr>
                                      <p:tavLst>
                                        <p:tav tm="0">
                                          <p:val>
                                            <p:strVal val="#ppt_x"/>
                                          </p:val>
                                        </p:tav>
                                        <p:tav tm="100000">
                                          <p:val>
                                            <p:strVal val="#ppt_x"/>
                                          </p:val>
                                        </p:tav>
                                      </p:tavLst>
                                    </p:anim>
                                    <p:anim calcmode="lin" valueType="num">
                                      <p:cBhvr additive="base">
                                        <p:cTn id="42" dur="500" fill="hold"/>
                                        <p:tgtEl>
                                          <p:spTgt spid="13"/>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fill="hold"/>
                                        <p:tgtEl>
                                          <p:spTgt spid="14"/>
                                        </p:tgtEl>
                                        <p:attrNameLst>
                                          <p:attrName>ppt_x</p:attrName>
                                        </p:attrNameLst>
                                      </p:cBhvr>
                                      <p:tavLst>
                                        <p:tav tm="0">
                                          <p:val>
                                            <p:strVal val="#ppt_x"/>
                                          </p:val>
                                        </p:tav>
                                        <p:tav tm="100000">
                                          <p:val>
                                            <p:strVal val="#ppt_x"/>
                                          </p:val>
                                        </p:tav>
                                      </p:tavLst>
                                    </p:anim>
                                    <p:anim calcmode="lin" valueType="num">
                                      <p:cBhvr additive="base">
                                        <p:cTn id="4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ppt_x"/>
                                          </p:val>
                                        </p:tav>
                                        <p:tav tm="100000">
                                          <p:val>
                                            <p:strVal val="#ppt_x"/>
                                          </p:val>
                                        </p:tav>
                                      </p:tavLst>
                                    </p:anim>
                                    <p:anim calcmode="lin" valueType="num">
                                      <p:cBhvr additive="base">
                                        <p:cTn id="52" dur="500" fill="hold"/>
                                        <p:tgtEl>
                                          <p:spTgt spid="15"/>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ppt_x</p:attrName>
                                        </p:attrNameLst>
                                      </p:cBhvr>
                                      <p:tavLst>
                                        <p:tav tm="0">
                                          <p:val>
                                            <p:strVal val="#ppt_x"/>
                                          </p:val>
                                        </p:tav>
                                        <p:tav tm="100000">
                                          <p:val>
                                            <p:strVal val="#ppt_x"/>
                                          </p:val>
                                        </p:tav>
                                      </p:tavLst>
                                    </p:anim>
                                    <p:anim calcmode="lin" valueType="num">
                                      <p:cBhvr additive="base">
                                        <p:cTn id="56" dur="500" fill="hold"/>
                                        <p:tgtEl>
                                          <p:spTgt spid="16"/>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500" fill="hold"/>
                                        <p:tgtEl>
                                          <p:spTgt spid="17"/>
                                        </p:tgtEl>
                                        <p:attrNameLst>
                                          <p:attrName>ppt_x</p:attrName>
                                        </p:attrNameLst>
                                      </p:cBhvr>
                                      <p:tavLst>
                                        <p:tav tm="0">
                                          <p:val>
                                            <p:strVal val="#ppt_x"/>
                                          </p:val>
                                        </p:tav>
                                        <p:tav tm="100000">
                                          <p:val>
                                            <p:strVal val="#ppt_x"/>
                                          </p:val>
                                        </p:tav>
                                      </p:tavLst>
                                    </p:anim>
                                    <p:anim calcmode="lin" valueType="num">
                                      <p:cBhvr additive="base">
                                        <p:cTn id="60" dur="500" fill="hold"/>
                                        <p:tgtEl>
                                          <p:spTgt spid="17"/>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anim calcmode="lin" valueType="num">
                                      <p:cBhvr additive="base">
                                        <p:cTn id="63" dur="500" fill="hold"/>
                                        <p:tgtEl>
                                          <p:spTgt spid="18"/>
                                        </p:tgtEl>
                                        <p:attrNameLst>
                                          <p:attrName>ppt_x</p:attrName>
                                        </p:attrNameLst>
                                      </p:cBhvr>
                                      <p:tavLst>
                                        <p:tav tm="0">
                                          <p:val>
                                            <p:strVal val="#ppt_x"/>
                                          </p:val>
                                        </p:tav>
                                        <p:tav tm="100000">
                                          <p:val>
                                            <p:strVal val="#ppt_x"/>
                                          </p:val>
                                        </p:tav>
                                      </p:tavLst>
                                    </p:anim>
                                    <p:anim calcmode="lin" valueType="num">
                                      <p:cBhvr additive="base">
                                        <p:cTn id="64" dur="500" fill="hold"/>
                                        <p:tgtEl>
                                          <p:spTgt spid="18"/>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9"/>
                                        </p:tgtEl>
                                        <p:attrNameLst>
                                          <p:attrName>style.visibility</p:attrName>
                                        </p:attrNameLst>
                                      </p:cBhvr>
                                      <p:to>
                                        <p:strVal val="visible"/>
                                      </p:to>
                                    </p:set>
                                    <p:anim calcmode="lin" valueType="num">
                                      <p:cBhvr additive="base">
                                        <p:cTn id="67" dur="500" fill="hold"/>
                                        <p:tgtEl>
                                          <p:spTgt spid="19"/>
                                        </p:tgtEl>
                                        <p:attrNameLst>
                                          <p:attrName>ppt_x</p:attrName>
                                        </p:attrNameLst>
                                      </p:cBhvr>
                                      <p:tavLst>
                                        <p:tav tm="0">
                                          <p:val>
                                            <p:strVal val="#ppt_x"/>
                                          </p:val>
                                        </p:tav>
                                        <p:tav tm="100000">
                                          <p:val>
                                            <p:strVal val="#ppt_x"/>
                                          </p:val>
                                        </p:tav>
                                      </p:tavLst>
                                    </p:anim>
                                    <p:anim calcmode="lin" valueType="num">
                                      <p:cBhvr additive="base">
                                        <p:cTn id="68" dur="500" fill="hold"/>
                                        <p:tgtEl>
                                          <p:spTgt spid="19"/>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 calcmode="lin" valueType="num">
                                      <p:cBhvr additive="base">
                                        <p:cTn id="71" dur="500" fill="hold"/>
                                        <p:tgtEl>
                                          <p:spTgt spid="26"/>
                                        </p:tgtEl>
                                        <p:attrNameLst>
                                          <p:attrName>ppt_x</p:attrName>
                                        </p:attrNameLst>
                                      </p:cBhvr>
                                      <p:tavLst>
                                        <p:tav tm="0">
                                          <p:val>
                                            <p:strVal val="#ppt_x"/>
                                          </p:val>
                                        </p:tav>
                                        <p:tav tm="100000">
                                          <p:val>
                                            <p:strVal val="#ppt_x"/>
                                          </p:val>
                                        </p:tav>
                                      </p:tavLst>
                                    </p:anim>
                                    <p:anim calcmode="lin" valueType="num">
                                      <p:cBhvr additive="base">
                                        <p:cTn id="7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20"/>
                                        </p:tgtEl>
                                        <p:attrNameLst>
                                          <p:attrName>style.visibility</p:attrName>
                                        </p:attrNameLst>
                                      </p:cBhvr>
                                      <p:to>
                                        <p:strVal val="visible"/>
                                      </p:to>
                                    </p:set>
                                    <p:anim calcmode="lin" valueType="num">
                                      <p:cBhvr additive="base">
                                        <p:cTn id="77" dur="500" fill="hold"/>
                                        <p:tgtEl>
                                          <p:spTgt spid="20"/>
                                        </p:tgtEl>
                                        <p:attrNameLst>
                                          <p:attrName>ppt_x</p:attrName>
                                        </p:attrNameLst>
                                      </p:cBhvr>
                                      <p:tavLst>
                                        <p:tav tm="0">
                                          <p:val>
                                            <p:strVal val="#ppt_x"/>
                                          </p:val>
                                        </p:tav>
                                        <p:tav tm="100000">
                                          <p:val>
                                            <p:strVal val="#ppt_x"/>
                                          </p:val>
                                        </p:tav>
                                      </p:tavLst>
                                    </p:anim>
                                    <p:anim calcmode="lin" valueType="num">
                                      <p:cBhvr additive="base">
                                        <p:cTn id="78" dur="500" fill="hold"/>
                                        <p:tgtEl>
                                          <p:spTgt spid="20"/>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21"/>
                                        </p:tgtEl>
                                        <p:attrNameLst>
                                          <p:attrName>style.visibility</p:attrName>
                                        </p:attrNameLst>
                                      </p:cBhvr>
                                      <p:to>
                                        <p:strVal val="visible"/>
                                      </p:to>
                                    </p:set>
                                    <p:anim calcmode="lin" valueType="num">
                                      <p:cBhvr additive="base">
                                        <p:cTn id="81" dur="500" fill="hold"/>
                                        <p:tgtEl>
                                          <p:spTgt spid="21"/>
                                        </p:tgtEl>
                                        <p:attrNameLst>
                                          <p:attrName>ppt_x</p:attrName>
                                        </p:attrNameLst>
                                      </p:cBhvr>
                                      <p:tavLst>
                                        <p:tav tm="0">
                                          <p:val>
                                            <p:strVal val="#ppt_x"/>
                                          </p:val>
                                        </p:tav>
                                        <p:tav tm="100000">
                                          <p:val>
                                            <p:strVal val="#ppt_x"/>
                                          </p:val>
                                        </p:tav>
                                      </p:tavLst>
                                    </p:anim>
                                    <p:anim calcmode="lin" valueType="num">
                                      <p:cBhvr additive="base">
                                        <p:cTn id="82" dur="500" fill="hold"/>
                                        <p:tgtEl>
                                          <p:spTgt spid="21"/>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22"/>
                                        </p:tgtEl>
                                        <p:attrNameLst>
                                          <p:attrName>style.visibility</p:attrName>
                                        </p:attrNameLst>
                                      </p:cBhvr>
                                      <p:to>
                                        <p:strVal val="visible"/>
                                      </p:to>
                                    </p:set>
                                    <p:anim calcmode="lin" valueType="num">
                                      <p:cBhvr additive="base">
                                        <p:cTn id="85" dur="500" fill="hold"/>
                                        <p:tgtEl>
                                          <p:spTgt spid="22"/>
                                        </p:tgtEl>
                                        <p:attrNameLst>
                                          <p:attrName>ppt_x</p:attrName>
                                        </p:attrNameLst>
                                      </p:cBhvr>
                                      <p:tavLst>
                                        <p:tav tm="0">
                                          <p:val>
                                            <p:strVal val="#ppt_x"/>
                                          </p:val>
                                        </p:tav>
                                        <p:tav tm="100000">
                                          <p:val>
                                            <p:strVal val="#ppt_x"/>
                                          </p:val>
                                        </p:tav>
                                      </p:tavLst>
                                    </p:anim>
                                    <p:anim calcmode="lin" valueType="num">
                                      <p:cBhvr additive="base">
                                        <p:cTn id="86" dur="500" fill="hold"/>
                                        <p:tgtEl>
                                          <p:spTgt spid="22"/>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23"/>
                                        </p:tgtEl>
                                        <p:attrNameLst>
                                          <p:attrName>style.visibility</p:attrName>
                                        </p:attrNameLst>
                                      </p:cBhvr>
                                      <p:to>
                                        <p:strVal val="visible"/>
                                      </p:to>
                                    </p:set>
                                    <p:anim calcmode="lin" valueType="num">
                                      <p:cBhvr additive="base">
                                        <p:cTn id="89" dur="500" fill="hold"/>
                                        <p:tgtEl>
                                          <p:spTgt spid="23"/>
                                        </p:tgtEl>
                                        <p:attrNameLst>
                                          <p:attrName>ppt_x</p:attrName>
                                        </p:attrNameLst>
                                      </p:cBhvr>
                                      <p:tavLst>
                                        <p:tav tm="0">
                                          <p:val>
                                            <p:strVal val="#ppt_x"/>
                                          </p:val>
                                        </p:tav>
                                        <p:tav tm="100000">
                                          <p:val>
                                            <p:strVal val="#ppt_x"/>
                                          </p:val>
                                        </p:tav>
                                      </p:tavLst>
                                    </p:anim>
                                    <p:anim calcmode="lin" valueType="num">
                                      <p:cBhvr additive="base">
                                        <p:cTn id="90" dur="500" fill="hold"/>
                                        <p:tgtEl>
                                          <p:spTgt spid="23"/>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24"/>
                                        </p:tgtEl>
                                        <p:attrNameLst>
                                          <p:attrName>style.visibility</p:attrName>
                                        </p:attrNameLst>
                                      </p:cBhvr>
                                      <p:to>
                                        <p:strVal val="visible"/>
                                      </p:to>
                                    </p:set>
                                    <p:anim calcmode="lin" valueType="num">
                                      <p:cBhvr additive="base">
                                        <p:cTn id="93" dur="500" fill="hold"/>
                                        <p:tgtEl>
                                          <p:spTgt spid="24"/>
                                        </p:tgtEl>
                                        <p:attrNameLst>
                                          <p:attrName>ppt_x</p:attrName>
                                        </p:attrNameLst>
                                      </p:cBhvr>
                                      <p:tavLst>
                                        <p:tav tm="0">
                                          <p:val>
                                            <p:strVal val="#ppt_x"/>
                                          </p:val>
                                        </p:tav>
                                        <p:tav tm="100000">
                                          <p:val>
                                            <p:strVal val="#ppt_x"/>
                                          </p:val>
                                        </p:tav>
                                      </p:tavLst>
                                    </p:anim>
                                    <p:anim calcmode="lin" valueType="num">
                                      <p:cBhvr additive="base">
                                        <p:cTn id="9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2" grpId="0" animBg="1"/>
      <p:bldP spid="13" grpId="0" animBg="1"/>
      <p:bldP spid="14" grpId="0" animBg="1"/>
      <p:bldP spid="17" grpId="0" animBg="1"/>
      <p:bldP spid="18" grpId="0" animBg="1"/>
      <p:bldP spid="19" grpId="0" animBg="1"/>
      <p:bldP spid="22" grpId="0" animBg="1"/>
      <p:bldP spid="23" grpId="0" animBg="1"/>
      <p:bldP spid="24" grpId="0" animBg="1"/>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47472"/>
            <a:ext cx="11277295" cy="658368"/>
          </a:xfrm>
          <a:prstGeom prst="rect">
            <a:avLst/>
          </a:prstGeom>
          <a:noFill/>
          <a:ln/>
        </p:spPr>
        <p:txBody>
          <a:bodyPr wrap="square" lIns="0" tIns="0" rIns="0" bIns="0" rtlCol="0" anchor="ctr"/>
          <a:lstStyle/>
          <a:p>
            <a:pPr marL="0" indent="0" algn="l">
              <a:buNone/>
            </a:pPr>
            <a:r>
              <a:rPr lang="en-US" sz="3600" b="1" dirty="0">
                <a:solidFill>
                  <a:srgbClr val="2C5F2D"/>
                </a:solidFill>
                <a:latin typeface="Cambria" pitchFamily="34" charset="0"/>
                <a:ea typeface="Cambria" pitchFamily="34" charset="-122"/>
                <a:cs typeface="Cambria" pitchFamily="34" charset="-120"/>
              </a:rPr>
              <a:t>Dataset Information</a:t>
            </a:r>
            <a:endParaRPr lang="en-US" sz="3600" dirty="0"/>
          </a:p>
        </p:txBody>
      </p:sp>
      <p:sp>
        <p:nvSpPr>
          <p:cNvPr id="3" name="Text 1"/>
          <p:cNvSpPr/>
          <p:nvPr/>
        </p:nvSpPr>
        <p:spPr>
          <a:xfrm>
            <a:off x="457200" y="6547104"/>
            <a:ext cx="7315200" cy="256032"/>
          </a:xfrm>
          <a:prstGeom prst="rect">
            <a:avLst/>
          </a:prstGeom>
          <a:noFill/>
          <a:ln/>
        </p:spPr>
        <p:txBody>
          <a:bodyPr wrap="square" rtlCol="0" anchor="ctr"/>
          <a:lstStyle/>
          <a:p>
            <a:r>
              <a:rPr lang="en-US" sz="850" dirty="0">
                <a:solidFill>
                  <a:srgbClr val="5B6B5C"/>
                </a:solidFill>
                <a:latin typeface="Calibri" pitchFamily="34" charset="0"/>
                <a:ea typeface="Calibri" pitchFamily="34" charset="-122"/>
                <a:cs typeface="Calibri" pitchFamily="34" charset="-120"/>
              </a:rPr>
              <a:t>Analysis of </a:t>
            </a:r>
            <a:r>
              <a:rPr lang="en-US" sz="850" dirty="0">
                <a:solidFill>
                  <a:srgbClr val="5B6B5C"/>
                </a:solidFill>
                <a:ea typeface="Cambria" panose="02040503050406030204" pitchFamily="18" charset="0"/>
                <a:cs typeface="Calibri"/>
                <a:sym typeface="Calibri"/>
              </a:rPr>
              <a:t>Analysis of Soil and Environmental Parameters Across Different Crops</a:t>
            </a:r>
            <a:r>
              <a:rPr lang="en-US" sz="850" dirty="0">
                <a:solidFill>
                  <a:srgbClr val="5B6B5C"/>
                </a:solidFill>
                <a:ea typeface="Calibri" pitchFamily="34" charset="-122"/>
                <a:cs typeface="Calibri" pitchFamily="34" charset="-120"/>
              </a:rPr>
              <a:t>  </a:t>
            </a:r>
            <a:r>
              <a:rPr lang="en-US" sz="850" dirty="0">
                <a:solidFill>
                  <a:srgbClr val="5B6B5C"/>
                </a:solidFill>
                <a:latin typeface="Calibri" pitchFamily="34" charset="0"/>
                <a:ea typeface="Calibri" pitchFamily="34" charset="-122"/>
                <a:cs typeface="Calibri" pitchFamily="34" charset="-120"/>
              </a:rPr>
              <a:t>|  Exploratory Data Analysis</a:t>
            </a:r>
            <a:endParaRPr lang="en-US" sz="850" dirty="0"/>
          </a:p>
        </p:txBody>
      </p:sp>
      <p:sp>
        <p:nvSpPr>
          <p:cNvPr id="4" name="Text 2"/>
          <p:cNvSpPr/>
          <p:nvPr/>
        </p:nvSpPr>
        <p:spPr>
          <a:xfrm>
            <a:off x="11185855" y="6547104"/>
            <a:ext cx="548640" cy="256032"/>
          </a:xfrm>
          <a:prstGeom prst="rect">
            <a:avLst/>
          </a:prstGeom>
          <a:noFill/>
          <a:ln/>
        </p:spPr>
        <p:txBody>
          <a:bodyPr wrap="square" rtlCol="0" anchor="ctr"/>
          <a:lstStyle/>
          <a:p>
            <a:pPr marL="0" indent="0" algn="r">
              <a:buNone/>
            </a:pPr>
            <a:r>
              <a:rPr lang="en-US" sz="900" dirty="0">
                <a:solidFill>
                  <a:srgbClr val="5B6B5C"/>
                </a:solidFill>
                <a:latin typeface="Calibri" pitchFamily="34" charset="0"/>
                <a:ea typeface="Calibri" pitchFamily="34" charset="-122"/>
                <a:cs typeface="Calibri" pitchFamily="34" charset="-120"/>
              </a:rPr>
              <a:t>3</a:t>
            </a:r>
            <a:endParaRPr lang="en-US" sz="900" dirty="0"/>
          </a:p>
        </p:txBody>
      </p:sp>
      <p:sp>
        <p:nvSpPr>
          <p:cNvPr id="5" name="Text 3"/>
          <p:cNvSpPr/>
          <p:nvPr/>
        </p:nvSpPr>
        <p:spPr>
          <a:xfrm>
            <a:off x="457200" y="1371600"/>
            <a:ext cx="6035040" cy="292608"/>
          </a:xfrm>
          <a:prstGeom prst="rect">
            <a:avLst/>
          </a:prstGeom>
          <a:noFill/>
          <a:ln/>
        </p:spPr>
        <p:txBody>
          <a:bodyPr wrap="square" rtlCol="0" anchor="ctr"/>
          <a:lstStyle/>
          <a:p>
            <a:pPr marL="0" indent="0">
              <a:buNone/>
            </a:pPr>
            <a:r>
              <a:rPr lang="en-US" sz="1400" b="1" kern="0" spc="150" dirty="0">
                <a:solidFill>
                  <a:srgbClr val="7FA25C"/>
                </a:solidFill>
                <a:latin typeface="Calibri" pitchFamily="34" charset="0"/>
                <a:ea typeface="Calibri" pitchFamily="34" charset="-122"/>
                <a:cs typeface="Calibri" pitchFamily="34" charset="-120"/>
              </a:rPr>
              <a:t>DATASET OVERVIEW</a:t>
            </a:r>
            <a:endParaRPr lang="en-US" sz="1400" dirty="0"/>
          </a:p>
        </p:txBody>
      </p:sp>
      <p:sp>
        <p:nvSpPr>
          <p:cNvPr id="6" name="Shape 4"/>
          <p:cNvSpPr/>
          <p:nvPr/>
        </p:nvSpPr>
        <p:spPr>
          <a:xfrm>
            <a:off x="457200" y="1737360"/>
            <a:ext cx="6035040" cy="475488"/>
          </a:xfrm>
          <a:prstGeom prst="rect">
            <a:avLst/>
          </a:prstGeom>
          <a:solidFill>
            <a:srgbClr val="F2F5F0"/>
          </a:solidFill>
          <a:ln/>
        </p:spPr>
      </p:sp>
      <p:sp>
        <p:nvSpPr>
          <p:cNvPr id="7" name="Text 5"/>
          <p:cNvSpPr/>
          <p:nvPr/>
        </p:nvSpPr>
        <p:spPr>
          <a:xfrm>
            <a:off x="594360" y="1737360"/>
            <a:ext cx="2148840" cy="475488"/>
          </a:xfrm>
          <a:prstGeom prst="rect">
            <a:avLst/>
          </a:prstGeom>
          <a:noFill/>
          <a:ln/>
        </p:spPr>
        <p:txBody>
          <a:bodyPr wrap="square" rtlCol="0" anchor="ctr"/>
          <a:lstStyle/>
          <a:p>
            <a:pPr marL="0" indent="0">
              <a:buNone/>
            </a:pPr>
            <a:r>
              <a:rPr lang="en-US" sz="1400" b="1" dirty="0">
                <a:solidFill>
                  <a:srgbClr val="232D24"/>
                </a:solidFill>
                <a:latin typeface="Calibri" pitchFamily="34" charset="0"/>
                <a:ea typeface="Calibri" pitchFamily="34" charset="-122"/>
                <a:cs typeface="Calibri" pitchFamily="34" charset="-120"/>
              </a:rPr>
              <a:t>Dataset name</a:t>
            </a:r>
            <a:endParaRPr lang="en-US" sz="1400" dirty="0"/>
          </a:p>
        </p:txBody>
      </p:sp>
      <p:sp>
        <p:nvSpPr>
          <p:cNvPr id="8" name="Text 6"/>
          <p:cNvSpPr/>
          <p:nvPr/>
        </p:nvSpPr>
        <p:spPr>
          <a:xfrm>
            <a:off x="2788920" y="1737360"/>
            <a:ext cx="3566160" cy="475488"/>
          </a:xfrm>
          <a:prstGeom prst="rect">
            <a:avLst/>
          </a:prstGeom>
          <a:noFill/>
          <a:ln/>
        </p:spPr>
        <p:txBody>
          <a:bodyPr wrap="square" rtlCol="0" anchor="ctr"/>
          <a:lstStyle/>
          <a:p>
            <a:pPr marL="0" indent="0">
              <a:buNone/>
            </a:pPr>
            <a:r>
              <a:rPr lang="en-US" sz="1400" dirty="0">
                <a:solidFill>
                  <a:srgbClr val="232D24"/>
                </a:solidFill>
                <a:latin typeface="Calibri" pitchFamily="34" charset="0"/>
                <a:ea typeface="Calibri" pitchFamily="34" charset="-122"/>
                <a:cs typeface="Calibri" pitchFamily="34" charset="-120"/>
              </a:rPr>
              <a:t>Crop_recommendation.csv</a:t>
            </a:r>
            <a:endParaRPr lang="en-US" sz="1400" dirty="0"/>
          </a:p>
        </p:txBody>
      </p:sp>
      <p:sp>
        <p:nvSpPr>
          <p:cNvPr id="9" name="Shape 7"/>
          <p:cNvSpPr/>
          <p:nvPr/>
        </p:nvSpPr>
        <p:spPr>
          <a:xfrm>
            <a:off x="320040" y="2267712"/>
            <a:ext cx="6035040" cy="475488"/>
          </a:xfrm>
          <a:prstGeom prst="rect">
            <a:avLst/>
          </a:prstGeom>
          <a:solidFill>
            <a:srgbClr val="FFFFFF"/>
          </a:solidFill>
          <a:ln/>
        </p:spPr>
      </p:sp>
      <p:sp>
        <p:nvSpPr>
          <p:cNvPr id="10" name="Text 8"/>
          <p:cNvSpPr/>
          <p:nvPr/>
        </p:nvSpPr>
        <p:spPr>
          <a:xfrm>
            <a:off x="594360" y="2212848"/>
            <a:ext cx="2148840" cy="475488"/>
          </a:xfrm>
          <a:prstGeom prst="rect">
            <a:avLst/>
          </a:prstGeom>
          <a:noFill/>
          <a:ln/>
        </p:spPr>
        <p:txBody>
          <a:bodyPr wrap="square" rtlCol="0" anchor="ctr"/>
          <a:lstStyle/>
          <a:p>
            <a:pPr marL="0" indent="0">
              <a:buNone/>
            </a:pPr>
            <a:r>
              <a:rPr lang="en-US" sz="1400" b="1" dirty="0">
                <a:solidFill>
                  <a:srgbClr val="232D24"/>
                </a:solidFill>
                <a:latin typeface="Calibri" pitchFamily="34" charset="0"/>
                <a:ea typeface="Calibri" pitchFamily="34" charset="-122"/>
                <a:cs typeface="Calibri" pitchFamily="34" charset="-120"/>
              </a:rPr>
              <a:t>Dataset source</a:t>
            </a:r>
            <a:endParaRPr lang="en-US" sz="1400" dirty="0"/>
          </a:p>
        </p:txBody>
      </p:sp>
      <p:sp>
        <p:nvSpPr>
          <p:cNvPr id="11" name="Text 9"/>
          <p:cNvSpPr/>
          <p:nvPr/>
        </p:nvSpPr>
        <p:spPr>
          <a:xfrm>
            <a:off x="2788920" y="2212848"/>
            <a:ext cx="3566160" cy="475488"/>
          </a:xfrm>
          <a:prstGeom prst="rect">
            <a:avLst/>
          </a:prstGeom>
          <a:noFill/>
          <a:ln/>
        </p:spPr>
        <p:txBody>
          <a:bodyPr wrap="square" rtlCol="0" anchor="ctr"/>
          <a:lstStyle/>
          <a:p>
            <a:pPr marL="0" indent="0">
              <a:buNone/>
            </a:pPr>
            <a:r>
              <a:rPr lang="en-US" sz="1400" dirty="0">
                <a:solidFill>
                  <a:srgbClr val="232D24"/>
                </a:solidFill>
                <a:latin typeface="Calibri" pitchFamily="34" charset="0"/>
                <a:ea typeface="Calibri" pitchFamily="34" charset="-122"/>
                <a:cs typeface="Calibri" pitchFamily="34" charset="-120"/>
              </a:rPr>
              <a:t>Kaggle</a:t>
            </a:r>
            <a:endParaRPr lang="en-US" sz="1400" dirty="0"/>
          </a:p>
        </p:txBody>
      </p:sp>
      <p:sp>
        <p:nvSpPr>
          <p:cNvPr id="12" name="Shape 10"/>
          <p:cNvSpPr/>
          <p:nvPr/>
        </p:nvSpPr>
        <p:spPr>
          <a:xfrm>
            <a:off x="457200" y="2688336"/>
            <a:ext cx="6035040" cy="475488"/>
          </a:xfrm>
          <a:prstGeom prst="rect">
            <a:avLst/>
          </a:prstGeom>
          <a:solidFill>
            <a:srgbClr val="F2F5F0"/>
          </a:solidFill>
          <a:ln/>
        </p:spPr>
      </p:sp>
      <p:sp>
        <p:nvSpPr>
          <p:cNvPr id="13" name="Text 11"/>
          <p:cNvSpPr/>
          <p:nvPr/>
        </p:nvSpPr>
        <p:spPr>
          <a:xfrm>
            <a:off x="594360" y="2688336"/>
            <a:ext cx="2148840" cy="475488"/>
          </a:xfrm>
          <a:prstGeom prst="rect">
            <a:avLst/>
          </a:prstGeom>
          <a:noFill/>
          <a:ln/>
        </p:spPr>
        <p:txBody>
          <a:bodyPr wrap="square" rtlCol="0" anchor="ctr"/>
          <a:lstStyle/>
          <a:p>
            <a:pPr marL="0" indent="0">
              <a:buNone/>
            </a:pPr>
            <a:r>
              <a:rPr lang="en-US" sz="1400" b="1" dirty="0">
                <a:solidFill>
                  <a:srgbClr val="232D24"/>
                </a:solidFill>
                <a:latin typeface="Calibri" pitchFamily="34" charset="0"/>
                <a:ea typeface="Calibri" pitchFamily="34" charset="-122"/>
                <a:cs typeface="Calibri" pitchFamily="34" charset="-120"/>
              </a:rPr>
              <a:t>Number of rows</a:t>
            </a:r>
            <a:endParaRPr lang="en-US" sz="1400" dirty="0"/>
          </a:p>
        </p:txBody>
      </p:sp>
      <p:sp>
        <p:nvSpPr>
          <p:cNvPr id="14" name="Text 12"/>
          <p:cNvSpPr/>
          <p:nvPr/>
        </p:nvSpPr>
        <p:spPr>
          <a:xfrm>
            <a:off x="2788920" y="2688336"/>
            <a:ext cx="3566160" cy="475488"/>
          </a:xfrm>
          <a:prstGeom prst="rect">
            <a:avLst/>
          </a:prstGeom>
          <a:noFill/>
          <a:ln/>
        </p:spPr>
        <p:txBody>
          <a:bodyPr wrap="square" rtlCol="0" anchor="ctr"/>
          <a:lstStyle/>
          <a:p>
            <a:pPr marL="0" indent="0">
              <a:buNone/>
            </a:pPr>
            <a:r>
              <a:rPr lang="en-US" sz="1400" dirty="0">
                <a:solidFill>
                  <a:srgbClr val="232D24"/>
                </a:solidFill>
                <a:latin typeface="Calibri" pitchFamily="34" charset="0"/>
                <a:ea typeface="Calibri" pitchFamily="34" charset="-122"/>
                <a:cs typeface="Calibri" pitchFamily="34" charset="-120"/>
              </a:rPr>
              <a:t>2,200</a:t>
            </a:r>
            <a:endParaRPr lang="en-US" sz="1400" dirty="0"/>
          </a:p>
        </p:txBody>
      </p:sp>
      <p:sp>
        <p:nvSpPr>
          <p:cNvPr id="15" name="Shape 13"/>
          <p:cNvSpPr/>
          <p:nvPr/>
        </p:nvSpPr>
        <p:spPr>
          <a:xfrm>
            <a:off x="457200" y="3163824"/>
            <a:ext cx="6035040" cy="475488"/>
          </a:xfrm>
          <a:prstGeom prst="rect">
            <a:avLst/>
          </a:prstGeom>
          <a:solidFill>
            <a:srgbClr val="FFFFFF"/>
          </a:solidFill>
          <a:ln/>
        </p:spPr>
      </p:sp>
      <p:sp>
        <p:nvSpPr>
          <p:cNvPr id="16" name="Text 14"/>
          <p:cNvSpPr/>
          <p:nvPr/>
        </p:nvSpPr>
        <p:spPr>
          <a:xfrm>
            <a:off x="594360" y="3163824"/>
            <a:ext cx="2148840" cy="475488"/>
          </a:xfrm>
          <a:prstGeom prst="rect">
            <a:avLst/>
          </a:prstGeom>
          <a:noFill/>
          <a:ln/>
        </p:spPr>
        <p:txBody>
          <a:bodyPr wrap="square" rtlCol="0" anchor="ctr"/>
          <a:lstStyle/>
          <a:p>
            <a:pPr marL="0" indent="0">
              <a:buNone/>
            </a:pPr>
            <a:r>
              <a:rPr lang="en-US" sz="1400" b="1" dirty="0">
                <a:solidFill>
                  <a:srgbClr val="232D24"/>
                </a:solidFill>
                <a:latin typeface="Calibri" pitchFamily="34" charset="0"/>
                <a:ea typeface="Calibri" pitchFamily="34" charset="-122"/>
                <a:cs typeface="Calibri" pitchFamily="34" charset="-120"/>
              </a:rPr>
              <a:t>Number of Columns</a:t>
            </a:r>
            <a:endParaRPr lang="en-US" sz="1400" dirty="0"/>
          </a:p>
        </p:txBody>
      </p:sp>
      <p:sp>
        <p:nvSpPr>
          <p:cNvPr id="17" name="Text 15"/>
          <p:cNvSpPr/>
          <p:nvPr/>
        </p:nvSpPr>
        <p:spPr>
          <a:xfrm>
            <a:off x="2788920" y="3163824"/>
            <a:ext cx="3566160" cy="475488"/>
          </a:xfrm>
          <a:prstGeom prst="rect">
            <a:avLst/>
          </a:prstGeom>
          <a:noFill/>
          <a:ln/>
        </p:spPr>
        <p:txBody>
          <a:bodyPr wrap="square" rtlCol="0" anchor="ctr"/>
          <a:lstStyle/>
          <a:p>
            <a:pPr marL="0" indent="0">
              <a:buNone/>
            </a:pPr>
            <a:r>
              <a:rPr lang="en-US" sz="1400" dirty="0">
                <a:solidFill>
                  <a:srgbClr val="232D24"/>
                </a:solidFill>
                <a:latin typeface="Calibri" pitchFamily="34" charset="0"/>
                <a:ea typeface="Calibri" pitchFamily="34" charset="-122"/>
                <a:cs typeface="Calibri" pitchFamily="34" charset="-120"/>
              </a:rPr>
              <a:t>8</a:t>
            </a:r>
            <a:endParaRPr lang="en-US" sz="1400" dirty="0"/>
          </a:p>
        </p:txBody>
      </p:sp>
      <p:sp>
        <p:nvSpPr>
          <p:cNvPr id="18" name="Shape 16"/>
          <p:cNvSpPr/>
          <p:nvPr/>
        </p:nvSpPr>
        <p:spPr>
          <a:xfrm>
            <a:off x="457200" y="3639312"/>
            <a:ext cx="6035040" cy="475488"/>
          </a:xfrm>
          <a:prstGeom prst="rect">
            <a:avLst/>
          </a:prstGeom>
          <a:solidFill>
            <a:srgbClr val="F2F5F0"/>
          </a:solidFill>
          <a:ln/>
        </p:spPr>
      </p:sp>
      <p:sp>
        <p:nvSpPr>
          <p:cNvPr id="19" name="Text 17"/>
          <p:cNvSpPr/>
          <p:nvPr/>
        </p:nvSpPr>
        <p:spPr>
          <a:xfrm>
            <a:off x="594360" y="3639312"/>
            <a:ext cx="2148840" cy="475488"/>
          </a:xfrm>
          <a:prstGeom prst="rect">
            <a:avLst/>
          </a:prstGeom>
          <a:noFill/>
          <a:ln/>
        </p:spPr>
        <p:txBody>
          <a:bodyPr wrap="square" rtlCol="0" anchor="ctr"/>
          <a:lstStyle/>
          <a:p>
            <a:pPr marL="0" indent="0">
              <a:buNone/>
            </a:pPr>
            <a:r>
              <a:rPr lang="en-US" sz="1400" b="1" dirty="0">
                <a:solidFill>
                  <a:srgbClr val="232D24"/>
                </a:solidFill>
                <a:latin typeface="Calibri" pitchFamily="34" charset="0"/>
                <a:ea typeface="Calibri" pitchFamily="34" charset="-122"/>
                <a:cs typeface="Calibri" pitchFamily="34" charset="-120"/>
              </a:rPr>
              <a:t>Numerical Columns</a:t>
            </a:r>
            <a:endParaRPr lang="en-US" sz="1400" dirty="0"/>
          </a:p>
        </p:txBody>
      </p:sp>
      <p:sp>
        <p:nvSpPr>
          <p:cNvPr id="20" name="Text 18"/>
          <p:cNvSpPr/>
          <p:nvPr/>
        </p:nvSpPr>
        <p:spPr>
          <a:xfrm>
            <a:off x="2788920" y="3639312"/>
            <a:ext cx="3566160" cy="475488"/>
          </a:xfrm>
          <a:prstGeom prst="rect">
            <a:avLst/>
          </a:prstGeom>
          <a:noFill/>
          <a:ln/>
        </p:spPr>
        <p:txBody>
          <a:bodyPr wrap="square" rtlCol="0" anchor="ctr"/>
          <a:lstStyle/>
          <a:p>
            <a:pPr marL="0" indent="0">
              <a:buNone/>
            </a:pPr>
            <a:r>
              <a:rPr lang="en-US" sz="1400" dirty="0">
                <a:solidFill>
                  <a:srgbClr val="232D24"/>
                </a:solidFill>
                <a:latin typeface="Calibri" pitchFamily="34" charset="0"/>
                <a:ea typeface="Calibri" pitchFamily="34" charset="-122"/>
                <a:cs typeface="Calibri" pitchFamily="34" charset="-120"/>
              </a:rPr>
              <a:t>7  (N, P, K, temperature, humidity, ph, rainfall)</a:t>
            </a:r>
            <a:endParaRPr lang="en-US" sz="1400" dirty="0"/>
          </a:p>
        </p:txBody>
      </p:sp>
      <p:sp>
        <p:nvSpPr>
          <p:cNvPr id="21" name="Shape 19"/>
          <p:cNvSpPr/>
          <p:nvPr/>
        </p:nvSpPr>
        <p:spPr>
          <a:xfrm>
            <a:off x="457200" y="4114800"/>
            <a:ext cx="6035040" cy="475488"/>
          </a:xfrm>
          <a:prstGeom prst="rect">
            <a:avLst/>
          </a:prstGeom>
          <a:solidFill>
            <a:srgbClr val="FFFFFF"/>
          </a:solidFill>
          <a:ln/>
        </p:spPr>
      </p:sp>
      <p:sp>
        <p:nvSpPr>
          <p:cNvPr id="22" name="Text 20"/>
          <p:cNvSpPr/>
          <p:nvPr/>
        </p:nvSpPr>
        <p:spPr>
          <a:xfrm>
            <a:off x="594360" y="4114800"/>
            <a:ext cx="2148840" cy="475488"/>
          </a:xfrm>
          <a:prstGeom prst="rect">
            <a:avLst/>
          </a:prstGeom>
          <a:noFill/>
          <a:ln/>
        </p:spPr>
        <p:txBody>
          <a:bodyPr wrap="square" rtlCol="0" anchor="ctr"/>
          <a:lstStyle/>
          <a:p>
            <a:pPr marL="0" indent="0">
              <a:buNone/>
            </a:pPr>
            <a:r>
              <a:rPr lang="en-US" sz="1400" b="1" dirty="0">
                <a:solidFill>
                  <a:srgbClr val="232D24"/>
                </a:solidFill>
                <a:latin typeface="Calibri" pitchFamily="34" charset="0"/>
                <a:ea typeface="Calibri" pitchFamily="34" charset="-122"/>
                <a:cs typeface="Calibri" pitchFamily="34" charset="-120"/>
              </a:rPr>
              <a:t>Categorical Columns</a:t>
            </a:r>
            <a:endParaRPr lang="en-US" sz="1400" dirty="0"/>
          </a:p>
        </p:txBody>
      </p:sp>
      <p:sp>
        <p:nvSpPr>
          <p:cNvPr id="23" name="Text 21"/>
          <p:cNvSpPr/>
          <p:nvPr/>
        </p:nvSpPr>
        <p:spPr>
          <a:xfrm>
            <a:off x="2788920" y="4114800"/>
            <a:ext cx="3566160" cy="475488"/>
          </a:xfrm>
          <a:prstGeom prst="rect">
            <a:avLst/>
          </a:prstGeom>
          <a:noFill/>
          <a:ln/>
        </p:spPr>
        <p:txBody>
          <a:bodyPr wrap="square" rtlCol="0" anchor="ctr"/>
          <a:lstStyle/>
          <a:p>
            <a:pPr marL="0" indent="0">
              <a:buNone/>
            </a:pPr>
            <a:r>
              <a:rPr lang="en-US" sz="1400" dirty="0">
                <a:solidFill>
                  <a:srgbClr val="232D24"/>
                </a:solidFill>
                <a:latin typeface="Calibri" pitchFamily="34" charset="0"/>
                <a:ea typeface="Calibri" pitchFamily="34" charset="-122"/>
                <a:cs typeface="Calibri" pitchFamily="34" charset="-120"/>
              </a:rPr>
              <a:t>1  (label)</a:t>
            </a:r>
            <a:endParaRPr lang="en-US" sz="1400" dirty="0"/>
          </a:p>
        </p:txBody>
      </p:sp>
      <p:sp>
        <p:nvSpPr>
          <p:cNvPr id="24" name="Shape 22"/>
          <p:cNvSpPr/>
          <p:nvPr/>
        </p:nvSpPr>
        <p:spPr>
          <a:xfrm>
            <a:off x="457200" y="4590288"/>
            <a:ext cx="6035040" cy="475488"/>
          </a:xfrm>
          <a:prstGeom prst="rect">
            <a:avLst/>
          </a:prstGeom>
          <a:solidFill>
            <a:srgbClr val="F2F5F0"/>
          </a:solidFill>
          <a:ln/>
        </p:spPr>
      </p:sp>
      <p:sp>
        <p:nvSpPr>
          <p:cNvPr id="25" name="Text 23"/>
          <p:cNvSpPr/>
          <p:nvPr/>
        </p:nvSpPr>
        <p:spPr>
          <a:xfrm>
            <a:off x="594360" y="4590288"/>
            <a:ext cx="2148840" cy="475488"/>
          </a:xfrm>
          <a:prstGeom prst="rect">
            <a:avLst/>
          </a:prstGeom>
          <a:noFill/>
          <a:ln/>
        </p:spPr>
        <p:txBody>
          <a:bodyPr wrap="square" rtlCol="0" anchor="ctr"/>
          <a:lstStyle/>
          <a:p>
            <a:pPr marL="0" indent="0">
              <a:buNone/>
            </a:pPr>
            <a:r>
              <a:rPr lang="en-US" sz="1400" b="1" dirty="0">
                <a:solidFill>
                  <a:srgbClr val="232D24"/>
                </a:solidFill>
                <a:latin typeface="Calibri" pitchFamily="34" charset="0"/>
                <a:ea typeface="Calibri" pitchFamily="34" charset="-122"/>
                <a:cs typeface="Calibri" pitchFamily="34" charset="-120"/>
              </a:rPr>
              <a:t>Target Columns</a:t>
            </a:r>
            <a:endParaRPr lang="en-US" sz="1400" dirty="0"/>
          </a:p>
        </p:txBody>
      </p:sp>
      <p:sp>
        <p:nvSpPr>
          <p:cNvPr id="26" name="Text 24"/>
          <p:cNvSpPr/>
          <p:nvPr/>
        </p:nvSpPr>
        <p:spPr>
          <a:xfrm>
            <a:off x="2788920" y="4590288"/>
            <a:ext cx="3566160" cy="475488"/>
          </a:xfrm>
          <a:prstGeom prst="rect">
            <a:avLst/>
          </a:prstGeom>
          <a:noFill/>
          <a:ln/>
        </p:spPr>
        <p:txBody>
          <a:bodyPr wrap="square" rtlCol="0" anchor="ctr"/>
          <a:lstStyle/>
          <a:p>
            <a:pPr marL="0" indent="0">
              <a:buNone/>
            </a:pPr>
            <a:r>
              <a:rPr lang="en-US" sz="1400" dirty="0">
                <a:solidFill>
                  <a:srgbClr val="232D24"/>
                </a:solidFill>
                <a:latin typeface="Calibri" pitchFamily="34" charset="0"/>
                <a:ea typeface="Calibri" pitchFamily="34" charset="-122"/>
                <a:cs typeface="Calibri" pitchFamily="34" charset="-120"/>
              </a:rPr>
              <a:t>label — crop category (22 classes)</a:t>
            </a:r>
            <a:endParaRPr lang="en-US" sz="1400" dirty="0"/>
          </a:p>
        </p:txBody>
      </p:sp>
      <p:sp>
        <p:nvSpPr>
          <p:cNvPr id="27" name="Shape 25"/>
          <p:cNvSpPr/>
          <p:nvPr/>
        </p:nvSpPr>
        <p:spPr>
          <a:xfrm>
            <a:off x="6903720" y="1371600"/>
            <a:ext cx="4830775" cy="1417320"/>
          </a:xfrm>
          <a:prstGeom prst="roundRect">
            <a:avLst>
              <a:gd name="adj" fmla="val 5161"/>
            </a:avLst>
          </a:prstGeom>
          <a:solidFill>
            <a:srgbClr val="2C5F2D"/>
          </a:solidFill>
          <a:ln/>
        </p:spPr>
      </p:sp>
      <p:sp>
        <p:nvSpPr>
          <p:cNvPr id="28" name="Text 26"/>
          <p:cNvSpPr/>
          <p:nvPr/>
        </p:nvSpPr>
        <p:spPr>
          <a:xfrm>
            <a:off x="6903720" y="1481328"/>
            <a:ext cx="4830775" cy="77724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2,200 × 8</a:t>
            </a:r>
            <a:endParaRPr lang="en-US" sz="3400" dirty="0"/>
          </a:p>
        </p:txBody>
      </p:sp>
      <p:sp>
        <p:nvSpPr>
          <p:cNvPr id="29" name="Text 27"/>
          <p:cNvSpPr/>
          <p:nvPr/>
        </p:nvSpPr>
        <p:spPr>
          <a:xfrm>
            <a:off x="6903720" y="2212848"/>
            <a:ext cx="4830775" cy="365760"/>
          </a:xfrm>
          <a:prstGeom prst="rect">
            <a:avLst/>
          </a:prstGeom>
          <a:noFill/>
          <a:ln/>
        </p:spPr>
        <p:txBody>
          <a:bodyPr wrap="square" rtlCol="0" anchor="ctr"/>
          <a:lstStyle/>
          <a:p>
            <a:pPr marL="0" indent="0" algn="ctr">
              <a:buNone/>
            </a:pPr>
            <a:r>
              <a:rPr lang="en-US" sz="1400" b="1" dirty="0">
                <a:solidFill>
                  <a:srgbClr val="A9C2A0"/>
                </a:solidFill>
                <a:latin typeface="Calibri" pitchFamily="34" charset="0"/>
                <a:ea typeface="Calibri" pitchFamily="34" charset="-122"/>
                <a:cs typeface="Calibri" pitchFamily="34" charset="-120"/>
              </a:rPr>
              <a:t>rows  ×  columns</a:t>
            </a:r>
            <a:endParaRPr lang="en-US" sz="1400" b="1" dirty="0"/>
          </a:p>
        </p:txBody>
      </p:sp>
      <p:sp>
        <p:nvSpPr>
          <p:cNvPr id="30" name="Shape 28"/>
          <p:cNvSpPr/>
          <p:nvPr/>
        </p:nvSpPr>
        <p:spPr>
          <a:xfrm>
            <a:off x="6903720" y="3063240"/>
            <a:ext cx="4830775" cy="2834640"/>
          </a:xfrm>
          <a:prstGeom prst="roundRect">
            <a:avLst>
              <a:gd name="adj" fmla="val 2581"/>
            </a:avLst>
          </a:prstGeom>
          <a:solidFill>
            <a:srgbClr val="F2F5F0"/>
          </a:solidFill>
          <a:ln>
            <a:solidFill>
              <a:schemeClr val="accent6">
                <a:lumMod val="75000"/>
              </a:schemeClr>
            </a:solidFill>
          </a:ln>
        </p:spPr>
      </p:sp>
      <p:sp>
        <p:nvSpPr>
          <p:cNvPr id="31" name="Text 29"/>
          <p:cNvSpPr/>
          <p:nvPr/>
        </p:nvSpPr>
        <p:spPr>
          <a:xfrm>
            <a:off x="7178040" y="3246120"/>
            <a:ext cx="4282135" cy="274320"/>
          </a:xfrm>
          <a:prstGeom prst="rect">
            <a:avLst/>
          </a:prstGeom>
          <a:noFill/>
          <a:ln/>
        </p:spPr>
        <p:txBody>
          <a:bodyPr wrap="square" rtlCol="0" anchor="ctr"/>
          <a:lstStyle/>
          <a:p>
            <a:pPr marL="0" indent="0">
              <a:buNone/>
            </a:pPr>
            <a:r>
              <a:rPr lang="en-US" sz="1200" b="1" kern="0" spc="100" dirty="0">
                <a:solidFill>
                  <a:srgbClr val="B85042"/>
                </a:solidFill>
                <a:latin typeface="Calibri" pitchFamily="34" charset="0"/>
                <a:ea typeface="Calibri" pitchFamily="34" charset="-122"/>
                <a:cs typeface="Calibri" pitchFamily="34" charset="-120"/>
              </a:rPr>
              <a:t>DATASET REQUIREMENT NOTE</a:t>
            </a:r>
            <a:endParaRPr lang="en-US" sz="1200" dirty="0"/>
          </a:p>
        </p:txBody>
      </p:sp>
      <p:sp>
        <p:nvSpPr>
          <p:cNvPr id="32" name="Text 30"/>
          <p:cNvSpPr/>
          <p:nvPr/>
        </p:nvSpPr>
        <p:spPr>
          <a:xfrm>
            <a:off x="7178040" y="3566160"/>
            <a:ext cx="4282135" cy="2194560"/>
          </a:xfrm>
          <a:prstGeom prst="rect">
            <a:avLst/>
          </a:prstGeom>
          <a:noFill/>
          <a:ln/>
        </p:spPr>
        <p:txBody>
          <a:bodyPr wrap="square" rtlCol="0" anchor="t"/>
          <a:lstStyle/>
          <a:p>
            <a:pPr marL="0" indent="0" algn="just">
              <a:lnSpc>
                <a:spcPct val="125000"/>
              </a:lnSpc>
              <a:buNone/>
            </a:pPr>
            <a:r>
              <a:rPr lang="en-US" sz="1400" dirty="0">
                <a:solidFill>
                  <a:srgbClr val="232D24"/>
                </a:solidFill>
                <a:latin typeface="Calibri" pitchFamily="34" charset="0"/>
                <a:ea typeface="Calibri" pitchFamily="34" charset="-122"/>
                <a:cs typeface="Calibri" pitchFamily="34" charset="-120"/>
              </a:rPr>
              <a:t>The project manual specifies a minimum of 10 columns and approximately 5,000-7,000+ rows. The supplied dataset contains 8 columns and 2,200 rows.</a:t>
            </a:r>
            <a:endParaRPr lang="en-US" sz="1400" dirty="0"/>
          </a:p>
          <a:p>
            <a:pPr marL="0" indent="0" algn="just">
              <a:lnSpc>
                <a:spcPct val="125000"/>
              </a:lnSpc>
              <a:buNone/>
            </a:pPr>
            <a:endParaRPr lang="en-US" sz="1400" dirty="0"/>
          </a:p>
          <a:p>
            <a:pPr marL="0" indent="0" algn="just">
              <a:lnSpc>
                <a:spcPct val="125000"/>
              </a:lnSpc>
              <a:buNone/>
            </a:pPr>
            <a:r>
              <a:rPr lang="en-US" sz="1400" dirty="0">
                <a:solidFill>
                  <a:srgbClr val="232D24"/>
                </a:solidFill>
                <a:latin typeface="Calibri" pitchFamily="34" charset="0"/>
                <a:ea typeface="Calibri" pitchFamily="34" charset="-122"/>
                <a:cs typeface="Calibri" pitchFamily="34" charset="-120"/>
              </a:rPr>
              <a:t>The analysis is nevertheless performed in full on the supplied dataset to demonstrate the complete required EDA workflow. A larger dataset is suggested as future work (see Conclusion).</a:t>
            </a:r>
            <a:endParaRPr lang="en-US" sz="14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1000" fill="hold"/>
                                        <p:tgtEl>
                                          <p:spTgt spid="7"/>
                                        </p:tgtEl>
                                        <p:attrNameLst>
                                          <p:attrName>ppt_w</p:attrName>
                                        </p:attrNameLst>
                                      </p:cBhvr>
                                      <p:tavLst>
                                        <p:tav tm="0">
                                          <p:val>
                                            <p:fltVal val="0"/>
                                          </p:val>
                                        </p:tav>
                                        <p:tav tm="100000">
                                          <p:val>
                                            <p:strVal val="#ppt_w"/>
                                          </p:val>
                                        </p:tav>
                                      </p:tavLst>
                                    </p:anim>
                                    <p:anim calcmode="lin" valueType="num">
                                      <p:cBhvr>
                                        <p:cTn id="14" dur="1000" fill="hold"/>
                                        <p:tgtEl>
                                          <p:spTgt spid="7"/>
                                        </p:tgtEl>
                                        <p:attrNameLst>
                                          <p:attrName>ppt_h</p:attrName>
                                        </p:attrNameLst>
                                      </p:cBhvr>
                                      <p:tavLst>
                                        <p:tav tm="0">
                                          <p:val>
                                            <p:fltVal val="0"/>
                                          </p:val>
                                        </p:tav>
                                        <p:tav tm="100000">
                                          <p:val>
                                            <p:strVal val="#ppt_h"/>
                                          </p:val>
                                        </p:tav>
                                      </p:tavLst>
                                    </p:anim>
                                    <p:anim calcmode="lin" valueType="num">
                                      <p:cBhvr>
                                        <p:cTn id="15" dur="1000" fill="hold"/>
                                        <p:tgtEl>
                                          <p:spTgt spid="7"/>
                                        </p:tgtEl>
                                        <p:attrNameLst>
                                          <p:attrName>style.rotation</p:attrName>
                                        </p:attrNameLst>
                                      </p:cBhvr>
                                      <p:tavLst>
                                        <p:tav tm="0">
                                          <p:val>
                                            <p:fltVal val="90"/>
                                          </p:val>
                                        </p:tav>
                                        <p:tav tm="100000">
                                          <p:val>
                                            <p:fltVal val="0"/>
                                          </p:val>
                                        </p:tav>
                                      </p:tavLst>
                                    </p:anim>
                                    <p:animEffect transition="in" filter="fade">
                                      <p:cBhvr>
                                        <p:cTn id="16" dur="1000"/>
                                        <p:tgtEl>
                                          <p:spTgt spid="7"/>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1000" fill="hold"/>
                                        <p:tgtEl>
                                          <p:spTgt spid="8"/>
                                        </p:tgtEl>
                                        <p:attrNameLst>
                                          <p:attrName>ppt_w</p:attrName>
                                        </p:attrNameLst>
                                      </p:cBhvr>
                                      <p:tavLst>
                                        <p:tav tm="0">
                                          <p:val>
                                            <p:fltVal val="0"/>
                                          </p:val>
                                        </p:tav>
                                        <p:tav tm="100000">
                                          <p:val>
                                            <p:strVal val="#ppt_w"/>
                                          </p:val>
                                        </p:tav>
                                      </p:tavLst>
                                    </p:anim>
                                    <p:anim calcmode="lin" valueType="num">
                                      <p:cBhvr>
                                        <p:cTn id="20" dur="1000" fill="hold"/>
                                        <p:tgtEl>
                                          <p:spTgt spid="8"/>
                                        </p:tgtEl>
                                        <p:attrNameLst>
                                          <p:attrName>ppt_h</p:attrName>
                                        </p:attrNameLst>
                                      </p:cBhvr>
                                      <p:tavLst>
                                        <p:tav tm="0">
                                          <p:val>
                                            <p:fltVal val="0"/>
                                          </p:val>
                                        </p:tav>
                                        <p:tav tm="100000">
                                          <p:val>
                                            <p:strVal val="#ppt_h"/>
                                          </p:val>
                                        </p:tav>
                                      </p:tavLst>
                                    </p:anim>
                                    <p:anim calcmode="lin" valueType="num">
                                      <p:cBhvr>
                                        <p:cTn id="21" dur="1000" fill="hold"/>
                                        <p:tgtEl>
                                          <p:spTgt spid="8"/>
                                        </p:tgtEl>
                                        <p:attrNameLst>
                                          <p:attrName>style.rotation</p:attrName>
                                        </p:attrNameLst>
                                      </p:cBhvr>
                                      <p:tavLst>
                                        <p:tav tm="0">
                                          <p:val>
                                            <p:fltVal val="90"/>
                                          </p:val>
                                        </p:tav>
                                        <p:tav tm="100000">
                                          <p:val>
                                            <p:fltVal val="0"/>
                                          </p:val>
                                        </p:tav>
                                      </p:tavLst>
                                    </p:anim>
                                    <p:animEffect transition="in" filter="fade">
                                      <p:cBhvr>
                                        <p:cTn id="22" dur="1000"/>
                                        <p:tgtEl>
                                          <p:spTgt spid="8"/>
                                        </p:tgtEl>
                                      </p:cBhvr>
                                    </p:animEffect>
                                  </p:childTnLst>
                                </p:cTn>
                              </p:par>
                              <p:par>
                                <p:cTn id="23" presetID="3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1000" fill="hold"/>
                                        <p:tgtEl>
                                          <p:spTgt spid="9"/>
                                        </p:tgtEl>
                                        <p:attrNameLst>
                                          <p:attrName>ppt_w</p:attrName>
                                        </p:attrNameLst>
                                      </p:cBhvr>
                                      <p:tavLst>
                                        <p:tav tm="0">
                                          <p:val>
                                            <p:fltVal val="0"/>
                                          </p:val>
                                        </p:tav>
                                        <p:tav tm="100000">
                                          <p:val>
                                            <p:strVal val="#ppt_w"/>
                                          </p:val>
                                        </p:tav>
                                      </p:tavLst>
                                    </p:anim>
                                    <p:anim calcmode="lin" valueType="num">
                                      <p:cBhvr>
                                        <p:cTn id="26" dur="1000" fill="hold"/>
                                        <p:tgtEl>
                                          <p:spTgt spid="9"/>
                                        </p:tgtEl>
                                        <p:attrNameLst>
                                          <p:attrName>ppt_h</p:attrName>
                                        </p:attrNameLst>
                                      </p:cBhvr>
                                      <p:tavLst>
                                        <p:tav tm="0">
                                          <p:val>
                                            <p:fltVal val="0"/>
                                          </p:val>
                                        </p:tav>
                                        <p:tav tm="100000">
                                          <p:val>
                                            <p:strVal val="#ppt_h"/>
                                          </p:val>
                                        </p:tav>
                                      </p:tavLst>
                                    </p:anim>
                                    <p:anim calcmode="lin" valueType="num">
                                      <p:cBhvr>
                                        <p:cTn id="27" dur="1000" fill="hold"/>
                                        <p:tgtEl>
                                          <p:spTgt spid="9"/>
                                        </p:tgtEl>
                                        <p:attrNameLst>
                                          <p:attrName>style.rotation</p:attrName>
                                        </p:attrNameLst>
                                      </p:cBhvr>
                                      <p:tavLst>
                                        <p:tav tm="0">
                                          <p:val>
                                            <p:fltVal val="90"/>
                                          </p:val>
                                        </p:tav>
                                        <p:tav tm="100000">
                                          <p:val>
                                            <p:fltVal val="0"/>
                                          </p:val>
                                        </p:tav>
                                      </p:tavLst>
                                    </p:anim>
                                    <p:animEffect transition="in" filter="fade">
                                      <p:cBhvr>
                                        <p:cTn id="28" dur="1000"/>
                                        <p:tgtEl>
                                          <p:spTgt spid="9"/>
                                        </p:tgtEl>
                                      </p:cBhvr>
                                    </p:animEffect>
                                  </p:childTnLst>
                                </p:cTn>
                              </p:par>
                              <p:par>
                                <p:cTn id="29" presetID="3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p:cTn id="31" dur="1000" fill="hold"/>
                                        <p:tgtEl>
                                          <p:spTgt spid="10"/>
                                        </p:tgtEl>
                                        <p:attrNameLst>
                                          <p:attrName>ppt_w</p:attrName>
                                        </p:attrNameLst>
                                      </p:cBhvr>
                                      <p:tavLst>
                                        <p:tav tm="0">
                                          <p:val>
                                            <p:fltVal val="0"/>
                                          </p:val>
                                        </p:tav>
                                        <p:tav tm="100000">
                                          <p:val>
                                            <p:strVal val="#ppt_w"/>
                                          </p:val>
                                        </p:tav>
                                      </p:tavLst>
                                    </p:anim>
                                    <p:anim calcmode="lin" valueType="num">
                                      <p:cBhvr>
                                        <p:cTn id="32" dur="1000" fill="hold"/>
                                        <p:tgtEl>
                                          <p:spTgt spid="10"/>
                                        </p:tgtEl>
                                        <p:attrNameLst>
                                          <p:attrName>ppt_h</p:attrName>
                                        </p:attrNameLst>
                                      </p:cBhvr>
                                      <p:tavLst>
                                        <p:tav tm="0">
                                          <p:val>
                                            <p:fltVal val="0"/>
                                          </p:val>
                                        </p:tav>
                                        <p:tav tm="100000">
                                          <p:val>
                                            <p:strVal val="#ppt_h"/>
                                          </p:val>
                                        </p:tav>
                                      </p:tavLst>
                                    </p:anim>
                                    <p:anim calcmode="lin" valueType="num">
                                      <p:cBhvr>
                                        <p:cTn id="33" dur="1000" fill="hold"/>
                                        <p:tgtEl>
                                          <p:spTgt spid="10"/>
                                        </p:tgtEl>
                                        <p:attrNameLst>
                                          <p:attrName>style.rotation</p:attrName>
                                        </p:attrNameLst>
                                      </p:cBhvr>
                                      <p:tavLst>
                                        <p:tav tm="0">
                                          <p:val>
                                            <p:fltVal val="90"/>
                                          </p:val>
                                        </p:tav>
                                        <p:tav tm="100000">
                                          <p:val>
                                            <p:fltVal val="0"/>
                                          </p:val>
                                        </p:tav>
                                      </p:tavLst>
                                    </p:anim>
                                    <p:animEffect transition="in" filter="fade">
                                      <p:cBhvr>
                                        <p:cTn id="34" dur="1000"/>
                                        <p:tgtEl>
                                          <p:spTgt spid="10"/>
                                        </p:tgtEl>
                                      </p:cBhvr>
                                    </p:animEffect>
                                  </p:childTnLst>
                                </p:cTn>
                              </p:par>
                              <p:par>
                                <p:cTn id="35" presetID="3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1000" fill="hold"/>
                                        <p:tgtEl>
                                          <p:spTgt spid="11"/>
                                        </p:tgtEl>
                                        <p:attrNameLst>
                                          <p:attrName>ppt_w</p:attrName>
                                        </p:attrNameLst>
                                      </p:cBhvr>
                                      <p:tavLst>
                                        <p:tav tm="0">
                                          <p:val>
                                            <p:fltVal val="0"/>
                                          </p:val>
                                        </p:tav>
                                        <p:tav tm="100000">
                                          <p:val>
                                            <p:strVal val="#ppt_w"/>
                                          </p:val>
                                        </p:tav>
                                      </p:tavLst>
                                    </p:anim>
                                    <p:anim calcmode="lin" valueType="num">
                                      <p:cBhvr>
                                        <p:cTn id="38" dur="1000" fill="hold"/>
                                        <p:tgtEl>
                                          <p:spTgt spid="11"/>
                                        </p:tgtEl>
                                        <p:attrNameLst>
                                          <p:attrName>ppt_h</p:attrName>
                                        </p:attrNameLst>
                                      </p:cBhvr>
                                      <p:tavLst>
                                        <p:tav tm="0">
                                          <p:val>
                                            <p:fltVal val="0"/>
                                          </p:val>
                                        </p:tav>
                                        <p:tav tm="100000">
                                          <p:val>
                                            <p:strVal val="#ppt_h"/>
                                          </p:val>
                                        </p:tav>
                                      </p:tavLst>
                                    </p:anim>
                                    <p:anim calcmode="lin" valueType="num">
                                      <p:cBhvr>
                                        <p:cTn id="39" dur="1000" fill="hold"/>
                                        <p:tgtEl>
                                          <p:spTgt spid="11"/>
                                        </p:tgtEl>
                                        <p:attrNameLst>
                                          <p:attrName>style.rotation</p:attrName>
                                        </p:attrNameLst>
                                      </p:cBhvr>
                                      <p:tavLst>
                                        <p:tav tm="0">
                                          <p:val>
                                            <p:fltVal val="90"/>
                                          </p:val>
                                        </p:tav>
                                        <p:tav tm="100000">
                                          <p:val>
                                            <p:fltVal val="0"/>
                                          </p:val>
                                        </p:tav>
                                      </p:tavLst>
                                    </p:anim>
                                    <p:animEffect transition="in" filter="fade">
                                      <p:cBhvr>
                                        <p:cTn id="40" dur="1000"/>
                                        <p:tgtEl>
                                          <p:spTgt spid="11"/>
                                        </p:tgtEl>
                                      </p:cBhvr>
                                    </p:animEffect>
                                  </p:childTnLst>
                                </p:cTn>
                              </p:par>
                              <p:par>
                                <p:cTn id="41" presetID="31" presetClass="entr" presetSubtype="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p:cTn id="43" dur="1000" fill="hold"/>
                                        <p:tgtEl>
                                          <p:spTgt spid="12"/>
                                        </p:tgtEl>
                                        <p:attrNameLst>
                                          <p:attrName>ppt_w</p:attrName>
                                        </p:attrNameLst>
                                      </p:cBhvr>
                                      <p:tavLst>
                                        <p:tav tm="0">
                                          <p:val>
                                            <p:fltVal val="0"/>
                                          </p:val>
                                        </p:tav>
                                        <p:tav tm="100000">
                                          <p:val>
                                            <p:strVal val="#ppt_w"/>
                                          </p:val>
                                        </p:tav>
                                      </p:tavLst>
                                    </p:anim>
                                    <p:anim calcmode="lin" valueType="num">
                                      <p:cBhvr>
                                        <p:cTn id="44" dur="1000" fill="hold"/>
                                        <p:tgtEl>
                                          <p:spTgt spid="12"/>
                                        </p:tgtEl>
                                        <p:attrNameLst>
                                          <p:attrName>ppt_h</p:attrName>
                                        </p:attrNameLst>
                                      </p:cBhvr>
                                      <p:tavLst>
                                        <p:tav tm="0">
                                          <p:val>
                                            <p:fltVal val="0"/>
                                          </p:val>
                                        </p:tav>
                                        <p:tav tm="100000">
                                          <p:val>
                                            <p:strVal val="#ppt_h"/>
                                          </p:val>
                                        </p:tav>
                                      </p:tavLst>
                                    </p:anim>
                                    <p:anim calcmode="lin" valueType="num">
                                      <p:cBhvr>
                                        <p:cTn id="45" dur="1000" fill="hold"/>
                                        <p:tgtEl>
                                          <p:spTgt spid="12"/>
                                        </p:tgtEl>
                                        <p:attrNameLst>
                                          <p:attrName>style.rotation</p:attrName>
                                        </p:attrNameLst>
                                      </p:cBhvr>
                                      <p:tavLst>
                                        <p:tav tm="0">
                                          <p:val>
                                            <p:fltVal val="90"/>
                                          </p:val>
                                        </p:tav>
                                        <p:tav tm="100000">
                                          <p:val>
                                            <p:fltVal val="0"/>
                                          </p:val>
                                        </p:tav>
                                      </p:tavLst>
                                    </p:anim>
                                    <p:animEffect transition="in" filter="fade">
                                      <p:cBhvr>
                                        <p:cTn id="46" dur="1000"/>
                                        <p:tgtEl>
                                          <p:spTgt spid="12"/>
                                        </p:tgtEl>
                                      </p:cBhvr>
                                    </p:animEffect>
                                  </p:childTnLst>
                                </p:cTn>
                              </p:par>
                              <p:par>
                                <p:cTn id="47" presetID="31"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p:cTn id="49" dur="1000" fill="hold"/>
                                        <p:tgtEl>
                                          <p:spTgt spid="13"/>
                                        </p:tgtEl>
                                        <p:attrNameLst>
                                          <p:attrName>ppt_w</p:attrName>
                                        </p:attrNameLst>
                                      </p:cBhvr>
                                      <p:tavLst>
                                        <p:tav tm="0">
                                          <p:val>
                                            <p:fltVal val="0"/>
                                          </p:val>
                                        </p:tav>
                                        <p:tav tm="100000">
                                          <p:val>
                                            <p:strVal val="#ppt_w"/>
                                          </p:val>
                                        </p:tav>
                                      </p:tavLst>
                                    </p:anim>
                                    <p:anim calcmode="lin" valueType="num">
                                      <p:cBhvr>
                                        <p:cTn id="50" dur="1000" fill="hold"/>
                                        <p:tgtEl>
                                          <p:spTgt spid="13"/>
                                        </p:tgtEl>
                                        <p:attrNameLst>
                                          <p:attrName>ppt_h</p:attrName>
                                        </p:attrNameLst>
                                      </p:cBhvr>
                                      <p:tavLst>
                                        <p:tav tm="0">
                                          <p:val>
                                            <p:fltVal val="0"/>
                                          </p:val>
                                        </p:tav>
                                        <p:tav tm="100000">
                                          <p:val>
                                            <p:strVal val="#ppt_h"/>
                                          </p:val>
                                        </p:tav>
                                      </p:tavLst>
                                    </p:anim>
                                    <p:anim calcmode="lin" valueType="num">
                                      <p:cBhvr>
                                        <p:cTn id="51" dur="1000" fill="hold"/>
                                        <p:tgtEl>
                                          <p:spTgt spid="13"/>
                                        </p:tgtEl>
                                        <p:attrNameLst>
                                          <p:attrName>style.rotation</p:attrName>
                                        </p:attrNameLst>
                                      </p:cBhvr>
                                      <p:tavLst>
                                        <p:tav tm="0">
                                          <p:val>
                                            <p:fltVal val="90"/>
                                          </p:val>
                                        </p:tav>
                                        <p:tav tm="100000">
                                          <p:val>
                                            <p:fltVal val="0"/>
                                          </p:val>
                                        </p:tav>
                                      </p:tavLst>
                                    </p:anim>
                                    <p:animEffect transition="in" filter="fade">
                                      <p:cBhvr>
                                        <p:cTn id="52" dur="1000"/>
                                        <p:tgtEl>
                                          <p:spTgt spid="13"/>
                                        </p:tgtEl>
                                      </p:cBhvr>
                                    </p:animEffect>
                                  </p:childTnLst>
                                </p:cTn>
                              </p:par>
                              <p:par>
                                <p:cTn id="53" presetID="31"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p:cTn id="55" dur="1000" fill="hold"/>
                                        <p:tgtEl>
                                          <p:spTgt spid="14"/>
                                        </p:tgtEl>
                                        <p:attrNameLst>
                                          <p:attrName>ppt_w</p:attrName>
                                        </p:attrNameLst>
                                      </p:cBhvr>
                                      <p:tavLst>
                                        <p:tav tm="0">
                                          <p:val>
                                            <p:fltVal val="0"/>
                                          </p:val>
                                        </p:tav>
                                        <p:tav tm="100000">
                                          <p:val>
                                            <p:strVal val="#ppt_w"/>
                                          </p:val>
                                        </p:tav>
                                      </p:tavLst>
                                    </p:anim>
                                    <p:anim calcmode="lin" valueType="num">
                                      <p:cBhvr>
                                        <p:cTn id="56" dur="1000" fill="hold"/>
                                        <p:tgtEl>
                                          <p:spTgt spid="14"/>
                                        </p:tgtEl>
                                        <p:attrNameLst>
                                          <p:attrName>ppt_h</p:attrName>
                                        </p:attrNameLst>
                                      </p:cBhvr>
                                      <p:tavLst>
                                        <p:tav tm="0">
                                          <p:val>
                                            <p:fltVal val="0"/>
                                          </p:val>
                                        </p:tav>
                                        <p:tav tm="100000">
                                          <p:val>
                                            <p:strVal val="#ppt_h"/>
                                          </p:val>
                                        </p:tav>
                                      </p:tavLst>
                                    </p:anim>
                                    <p:anim calcmode="lin" valueType="num">
                                      <p:cBhvr>
                                        <p:cTn id="57" dur="1000" fill="hold"/>
                                        <p:tgtEl>
                                          <p:spTgt spid="14"/>
                                        </p:tgtEl>
                                        <p:attrNameLst>
                                          <p:attrName>style.rotation</p:attrName>
                                        </p:attrNameLst>
                                      </p:cBhvr>
                                      <p:tavLst>
                                        <p:tav tm="0">
                                          <p:val>
                                            <p:fltVal val="90"/>
                                          </p:val>
                                        </p:tav>
                                        <p:tav tm="100000">
                                          <p:val>
                                            <p:fltVal val="0"/>
                                          </p:val>
                                        </p:tav>
                                      </p:tavLst>
                                    </p:anim>
                                    <p:animEffect transition="in" filter="fade">
                                      <p:cBhvr>
                                        <p:cTn id="58" dur="1000"/>
                                        <p:tgtEl>
                                          <p:spTgt spid="14"/>
                                        </p:tgtEl>
                                      </p:cBhvr>
                                    </p:animEffect>
                                  </p:childTnLst>
                                </p:cTn>
                              </p:par>
                              <p:par>
                                <p:cTn id="59" presetID="31" presetClass="entr" presetSubtype="0" fill="hold" nodeType="with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p:cTn id="61" dur="1000" fill="hold"/>
                                        <p:tgtEl>
                                          <p:spTgt spid="15"/>
                                        </p:tgtEl>
                                        <p:attrNameLst>
                                          <p:attrName>ppt_w</p:attrName>
                                        </p:attrNameLst>
                                      </p:cBhvr>
                                      <p:tavLst>
                                        <p:tav tm="0">
                                          <p:val>
                                            <p:fltVal val="0"/>
                                          </p:val>
                                        </p:tav>
                                        <p:tav tm="100000">
                                          <p:val>
                                            <p:strVal val="#ppt_w"/>
                                          </p:val>
                                        </p:tav>
                                      </p:tavLst>
                                    </p:anim>
                                    <p:anim calcmode="lin" valueType="num">
                                      <p:cBhvr>
                                        <p:cTn id="62" dur="1000" fill="hold"/>
                                        <p:tgtEl>
                                          <p:spTgt spid="15"/>
                                        </p:tgtEl>
                                        <p:attrNameLst>
                                          <p:attrName>ppt_h</p:attrName>
                                        </p:attrNameLst>
                                      </p:cBhvr>
                                      <p:tavLst>
                                        <p:tav tm="0">
                                          <p:val>
                                            <p:fltVal val="0"/>
                                          </p:val>
                                        </p:tav>
                                        <p:tav tm="100000">
                                          <p:val>
                                            <p:strVal val="#ppt_h"/>
                                          </p:val>
                                        </p:tav>
                                      </p:tavLst>
                                    </p:anim>
                                    <p:anim calcmode="lin" valueType="num">
                                      <p:cBhvr>
                                        <p:cTn id="63" dur="1000" fill="hold"/>
                                        <p:tgtEl>
                                          <p:spTgt spid="15"/>
                                        </p:tgtEl>
                                        <p:attrNameLst>
                                          <p:attrName>style.rotation</p:attrName>
                                        </p:attrNameLst>
                                      </p:cBhvr>
                                      <p:tavLst>
                                        <p:tav tm="0">
                                          <p:val>
                                            <p:fltVal val="90"/>
                                          </p:val>
                                        </p:tav>
                                        <p:tav tm="100000">
                                          <p:val>
                                            <p:fltVal val="0"/>
                                          </p:val>
                                        </p:tav>
                                      </p:tavLst>
                                    </p:anim>
                                    <p:animEffect transition="in" filter="fade">
                                      <p:cBhvr>
                                        <p:cTn id="64" dur="1000"/>
                                        <p:tgtEl>
                                          <p:spTgt spid="15"/>
                                        </p:tgtEl>
                                      </p:cBhvr>
                                    </p:animEffect>
                                  </p:childTnLst>
                                </p:cTn>
                              </p:par>
                              <p:par>
                                <p:cTn id="65" presetID="31" presetClass="entr" presetSubtype="0" fill="hold" grpId="0" nodeType="withEffect">
                                  <p:stCondLst>
                                    <p:cond delay="0"/>
                                  </p:stCondLst>
                                  <p:childTnLst>
                                    <p:set>
                                      <p:cBhvr>
                                        <p:cTn id="66" dur="1" fill="hold">
                                          <p:stCondLst>
                                            <p:cond delay="0"/>
                                          </p:stCondLst>
                                        </p:cTn>
                                        <p:tgtEl>
                                          <p:spTgt spid="16"/>
                                        </p:tgtEl>
                                        <p:attrNameLst>
                                          <p:attrName>style.visibility</p:attrName>
                                        </p:attrNameLst>
                                      </p:cBhvr>
                                      <p:to>
                                        <p:strVal val="visible"/>
                                      </p:to>
                                    </p:set>
                                    <p:anim calcmode="lin" valueType="num">
                                      <p:cBhvr>
                                        <p:cTn id="67" dur="1000" fill="hold"/>
                                        <p:tgtEl>
                                          <p:spTgt spid="16"/>
                                        </p:tgtEl>
                                        <p:attrNameLst>
                                          <p:attrName>ppt_w</p:attrName>
                                        </p:attrNameLst>
                                      </p:cBhvr>
                                      <p:tavLst>
                                        <p:tav tm="0">
                                          <p:val>
                                            <p:fltVal val="0"/>
                                          </p:val>
                                        </p:tav>
                                        <p:tav tm="100000">
                                          <p:val>
                                            <p:strVal val="#ppt_w"/>
                                          </p:val>
                                        </p:tav>
                                      </p:tavLst>
                                    </p:anim>
                                    <p:anim calcmode="lin" valueType="num">
                                      <p:cBhvr>
                                        <p:cTn id="68" dur="1000" fill="hold"/>
                                        <p:tgtEl>
                                          <p:spTgt spid="16"/>
                                        </p:tgtEl>
                                        <p:attrNameLst>
                                          <p:attrName>ppt_h</p:attrName>
                                        </p:attrNameLst>
                                      </p:cBhvr>
                                      <p:tavLst>
                                        <p:tav tm="0">
                                          <p:val>
                                            <p:fltVal val="0"/>
                                          </p:val>
                                        </p:tav>
                                        <p:tav tm="100000">
                                          <p:val>
                                            <p:strVal val="#ppt_h"/>
                                          </p:val>
                                        </p:tav>
                                      </p:tavLst>
                                    </p:anim>
                                    <p:anim calcmode="lin" valueType="num">
                                      <p:cBhvr>
                                        <p:cTn id="69" dur="1000" fill="hold"/>
                                        <p:tgtEl>
                                          <p:spTgt spid="16"/>
                                        </p:tgtEl>
                                        <p:attrNameLst>
                                          <p:attrName>style.rotation</p:attrName>
                                        </p:attrNameLst>
                                      </p:cBhvr>
                                      <p:tavLst>
                                        <p:tav tm="0">
                                          <p:val>
                                            <p:fltVal val="90"/>
                                          </p:val>
                                        </p:tav>
                                        <p:tav tm="100000">
                                          <p:val>
                                            <p:fltVal val="0"/>
                                          </p:val>
                                        </p:tav>
                                      </p:tavLst>
                                    </p:anim>
                                    <p:animEffect transition="in" filter="fade">
                                      <p:cBhvr>
                                        <p:cTn id="70" dur="1000"/>
                                        <p:tgtEl>
                                          <p:spTgt spid="16"/>
                                        </p:tgtEl>
                                      </p:cBhvr>
                                    </p:animEffect>
                                  </p:childTnLst>
                                </p:cTn>
                              </p:par>
                              <p:par>
                                <p:cTn id="71" presetID="31" presetClass="entr" presetSubtype="0" fill="hold" grpId="0" nodeType="withEffect">
                                  <p:stCondLst>
                                    <p:cond delay="0"/>
                                  </p:stCondLst>
                                  <p:childTnLst>
                                    <p:set>
                                      <p:cBhvr>
                                        <p:cTn id="72" dur="1" fill="hold">
                                          <p:stCondLst>
                                            <p:cond delay="0"/>
                                          </p:stCondLst>
                                        </p:cTn>
                                        <p:tgtEl>
                                          <p:spTgt spid="17"/>
                                        </p:tgtEl>
                                        <p:attrNameLst>
                                          <p:attrName>style.visibility</p:attrName>
                                        </p:attrNameLst>
                                      </p:cBhvr>
                                      <p:to>
                                        <p:strVal val="visible"/>
                                      </p:to>
                                    </p:set>
                                    <p:anim calcmode="lin" valueType="num">
                                      <p:cBhvr>
                                        <p:cTn id="73" dur="1000" fill="hold"/>
                                        <p:tgtEl>
                                          <p:spTgt spid="17"/>
                                        </p:tgtEl>
                                        <p:attrNameLst>
                                          <p:attrName>ppt_w</p:attrName>
                                        </p:attrNameLst>
                                      </p:cBhvr>
                                      <p:tavLst>
                                        <p:tav tm="0">
                                          <p:val>
                                            <p:fltVal val="0"/>
                                          </p:val>
                                        </p:tav>
                                        <p:tav tm="100000">
                                          <p:val>
                                            <p:strVal val="#ppt_w"/>
                                          </p:val>
                                        </p:tav>
                                      </p:tavLst>
                                    </p:anim>
                                    <p:anim calcmode="lin" valueType="num">
                                      <p:cBhvr>
                                        <p:cTn id="74" dur="1000" fill="hold"/>
                                        <p:tgtEl>
                                          <p:spTgt spid="17"/>
                                        </p:tgtEl>
                                        <p:attrNameLst>
                                          <p:attrName>ppt_h</p:attrName>
                                        </p:attrNameLst>
                                      </p:cBhvr>
                                      <p:tavLst>
                                        <p:tav tm="0">
                                          <p:val>
                                            <p:fltVal val="0"/>
                                          </p:val>
                                        </p:tav>
                                        <p:tav tm="100000">
                                          <p:val>
                                            <p:strVal val="#ppt_h"/>
                                          </p:val>
                                        </p:tav>
                                      </p:tavLst>
                                    </p:anim>
                                    <p:anim calcmode="lin" valueType="num">
                                      <p:cBhvr>
                                        <p:cTn id="75" dur="1000" fill="hold"/>
                                        <p:tgtEl>
                                          <p:spTgt spid="17"/>
                                        </p:tgtEl>
                                        <p:attrNameLst>
                                          <p:attrName>style.rotation</p:attrName>
                                        </p:attrNameLst>
                                      </p:cBhvr>
                                      <p:tavLst>
                                        <p:tav tm="0">
                                          <p:val>
                                            <p:fltVal val="90"/>
                                          </p:val>
                                        </p:tav>
                                        <p:tav tm="100000">
                                          <p:val>
                                            <p:fltVal val="0"/>
                                          </p:val>
                                        </p:tav>
                                      </p:tavLst>
                                    </p:anim>
                                    <p:animEffect transition="in" filter="fade">
                                      <p:cBhvr>
                                        <p:cTn id="76" dur="1000"/>
                                        <p:tgtEl>
                                          <p:spTgt spid="17"/>
                                        </p:tgtEl>
                                      </p:cBhvr>
                                    </p:animEffect>
                                  </p:childTnLst>
                                </p:cTn>
                              </p:par>
                              <p:par>
                                <p:cTn id="77" presetID="31" presetClass="entr" presetSubtype="0" fill="hold" nodeType="withEffect">
                                  <p:stCondLst>
                                    <p:cond delay="0"/>
                                  </p:stCondLst>
                                  <p:childTnLst>
                                    <p:set>
                                      <p:cBhvr>
                                        <p:cTn id="78" dur="1" fill="hold">
                                          <p:stCondLst>
                                            <p:cond delay="0"/>
                                          </p:stCondLst>
                                        </p:cTn>
                                        <p:tgtEl>
                                          <p:spTgt spid="18"/>
                                        </p:tgtEl>
                                        <p:attrNameLst>
                                          <p:attrName>style.visibility</p:attrName>
                                        </p:attrNameLst>
                                      </p:cBhvr>
                                      <p:to>
                                        <p:strVal val="visible"/>
                                      </p:to>
                                    </p:set>
                                    <p:anim calcmode="lin" valueType="num">
                                      <p:cBhvr>
                                        <p:cTn id="79" dur="1000" fill="hold"/>
                                        <p:tgtEl>
                                          <p:spTgt spid="18"/>
                                        </p:tgtEl>
                                        <p:attrNameLst>
                                          <p:attrName>ppt_w</p:attrName>
                                        </p:attrNameLst>
                                      </p:cBhvr>
                                      <p:tavLst>
                                        <p:tav tm="0">
                                          <p:val>
                                            <p:fltVal val="0"/>
                                          </p:val>
                                        </p:tav>
                                        <p:tav tm="100000">
                                          <p:val>
                                            <p:strVal val="#ppt_w"/>
                                          </p:val>
                                        </p:tav>
                                      </p:tavLst>
                                    </p:anim>
                                    <p:anim calcmode="lin" valueType="num">
                                      <p:cBhvr>
                                        <p:cTn id="80" dur="1000" fill="hold"/>
                                        <p:tgtEl>
                                          <p:spTgt spid="18"/>
                                        </p:tgtEl>
                                        <p:attrNameLst>
                                          <p:attrName>ppt_h</p:attrName>
                                        </p:attrNameLst>
                                      </p:cBhvr>
                                      <p:tavLst>
                                        <p:tav tm="0">
                                          <p:val>
                                            <p:fltVal val="0"/>
                                          </p:val>
                                        </p:tav>
                                        <p:tav tm="100000">
                                          <p:val>
                                            <p:strVal val="#ppt_h"/>
                                          </p:val>
                                        </p:tav>
                                      </p:tavLst>
                                    </p:anim>
                                    <p:anim calcmode="lin" valueType="num">
                                      <p:cBhvr>
                                        <p:cTn id="81" dur="1000" fill="hold"/>
                                        <p:tgtEl>
                                          <p:spTgt spid="18"/>
                                        </p:tgtEl>
                                        <p:attrNameLst>
                                          <p:attrName>style.rotation</p:attrName>
                                        </p:attrNameLst>
                                      </p:cBhvr>
                                      <p:tavLst>
                                        <p:tav tm="0">
                                          <p:val>
                                            <p:fltVal val="90"/>
                                          </p:val>
                                        </p:tav>
                                        <p:tav tm="100000">
                                          <p:val>
                                            <p:fltVal val="0"/>
                                          </p:val>
                                        </p:tav>
                                      </p:tavLst>
                                    </p:anim>
                                    <p:animEffect transition="in" filter="fade">
                                      <p:cBhvr>
                                        <p:cTn id="82" dur="1000"/>
                                        <p:tgtEl>
                                          <p:spTgt spid="18"/>
                                        </p:tgtEl>
                                      </p:cBhvr>
                                    </p:animEffect>
                                  </p:childTnLst>
                                </p:cTn>
                              </p:par>
                              <p:par>
                                <p:cTn id="83" presetID="31" presetClass="entr" presetSubtype="0" fill="hold" grpId="0" nodeType="withEffect">
                                  <p:stCondLst>
                                    <p:cond delay="0"/>
                                  </p:stCondLst>
                                  <p:childTnLst>
                                    <p:set>
                                      <p:cBhvr>
                                        <p:cTn id="84" dur="1" fill="hold">
                                          <p:stCondLst>
                                            <p:cond delay="0"/>
                                          </p:stCondLst>
                                        </p:cTn>
                                        <p:tgtEl>
                                          <p:spTgt spid="19"/>
                                        </p:tgtEl>
                                        <p:attrNameLst>
                                          <p:attrName>style.visibility</p:attrName>
                                        </p:attrNameLst>
                                      </p:cBhvr>
                                      <p:to>
                                        <p:strVal val="visible"/>
                                      </p:to>
                                    </p:set>
                                    <p:anim calcmode="lin" valueType="num">
                                      <p:cBhvr>
                                        <p:cTn id="85" dur="1000" fill="hold"/>
                                        <p:tgtEl>
                                          <p:spTgt spid="19"/>
                                        </p:tgtEl>
                                        <p:attrNameLst>
                                          <p:attrName>ppt_w</p:attrName>
                                        </p:attrNameLst>
                                      </p:cBhvr>
                                      <p:tavLst>
                                        <p:tav tm="0">
                                          <p:val>
                                            <p:fltVal val="0"/>
                                          </p:val>
                                        </p:tav>
                                        <p:tav tm="100000">
                                          <p:val>
                                            <p:strVal val="#ppt_w"/>
                                          </p:val>
                                        </p:tav>
                                      </p:tavLst>
                                    </p:anim>
                                    <p:anim calcmode="lin" valueType="num">
                                      <p:cBhvr>
                                        <p:cTn id="86" dur="1000" fill="hold"/>
                                        <p:tgtEl>
                                          <p:spTgt spid="19"/>
                                        </p:tgtEl>
                                        <p:attrNameLst>
                                          <p:attrName>ppt_h</p:attrName>
                                        </p:attrNameLst>
                                      </p:cBhvr>
                                      <p:tavLst>
                                        <p:tav tm="0">
                                          <p:val>
                                            <p:fltVal val="0"/>
                                          </p:val>
                                        </p:tav>
                                        <p:tav tm="100000">
                                          <p:val>
                                            <p:strVal val="#ppt_h"/>
                                          </p:val>
                                        </p:tav>
                                      </p:tavLst>
                                    </p:anim>
                                    <p:anim calcmode="lin" valueType="num">
                                      <p:cBhvr>
                                        <p:cTn id="87" dur="1000" fill="hold"/>
                                        <p:tgtEl>
                                          <p:spTgt spid="19"/>
                                        </p:tgtEl>
                                        <p:attrNameLst>
                                          <p:attrName>style.rotation</p:attrName>
                                        </p:attrNameLst>
                                      </p:cBhvr>
                                      <p:tavLst>
                                        <p:tav tm="0">
                                          <p:val>
                                            <p:fltVal val="90"/>
                                          </p:val>
                                        </p:tav>
                                        <p:tav tm="100000">
                                          <p:val>
                                            <p:fltVal val="0"/>
                                          </p:val>
                                        </p:tav>
                                      </p:tavLst>
                                    </p:anim>
                                    <p:animEffect transition="in" filter="fade">
                                      <p:cBhvr>
                                        <p:cTn id="88" dur="1000"/>
                                        <p:tgtEl>
                                          <p:spTgt spid="19"/>
                                        </p:tgtEl>
                                      </p:cBhvr>
                                    </p:animEffect>
                                  </p:childTnLst>
                                </p:cTn>
                              </p:par>
                              <p:par>
                                <p:cTn id="89" presetID="31" presetClass="entr" presetSubtype="0" fill="hold" grpId="0" nodeType="withEffect">
                                  <p:stCondLst>
                                    <p:cond delay="0"/>
                                  </p:stCondLst>
                                  <p:childTnLst>
                                    <p:set>
                                      <p:cBhvr>
                                        <p:cTn id="90" dur="1" fill="hold">
                                          <p:stCondLst>
                                            <p:cond delay="0"/>
                                          </p:stCondLst>
                                        </p:cTn>
                                        <p:tgtEl>
                                          <p:spTgt spid="20"/>
                                        </p:tgtEl>
                                        <p:attrNameLst>
                                          <p:attrName>style.visibility</p:attrName>
                                        </p:attrNameLst>
                                      </p:cBhvr>
                                      <p:to>
                                        <p:strVal val="visible"/>
                                      </p:to>
                                    </p:set>
                                    <p:anim calcmode="lin" valueType="num">
                                      <p:cBhvr>
                                        <p:cTn id="91" dur="1000" fill="hold"/>
                                        <p:tgtEl>
                                          <p:spTgt spid="20"/>
                                        </p:tgtEl>
                                        <p:attrNameLst>
                                          <p:attrName>ppt_w</p:attrName>
                                        </p:attrNameLst>
                                      </p:cBhvr>
                                      <p:tavLst>
                                        <p:tav tm="0">
                                          <p:val>
                                            <p:fltVal val="0"/>
                                          </p:val>
                                        </p:tav>
                                        <p:tav tm="100000">
                                          <p:val>
                                            <p:strVal val="#ppt_w"/>
                                          </p:val>
                                        </p:tav>
                                      </p:tavLst>
                                    </p:anim>
                                    <p:anim calcmode="lin" valueType="num">
                                      <p:cBhvr>
                                        <p:cTn id="92" dur="1000" fill="hold"/>
                                        <p:tgtEl>
                                          <p:spTgt spid="20"/>
                                        </p:tgtEl>
                                        <p:attrNameLst>
                                          <p:attrName>ppt_h</p:attrName>
                                        </p:attrNameLst>
                                      </p:cBhvr>
                                      <p:tavLst>
                                        <p:tav tm="0">
                                          <p:val>
                                            <p:fltVal val="0"/>
                                          </p:val>
                                        </p:tav>
                                        <p:tav tm="100000">
                                          <p:val>
                                            <p:strVal val="#ppt_h"/>
                                          </p:val>
                                        </p:tav>
                                      </p:tavLst>
                                    </p:anim>
                                    <p:anim calcmode="lin" valueType="num">
                                      <p:cBhvr>
                                        <p:cTn id="93" dur="1000" fill="hold"/>
                                        <p:tgtEl>
                                          <p:spTgt spid="20"/>
                                        </p:tgtEl>
                                        <p:attrNameLst>
                                          <p:attrName>style.rotation</p:attrName>
                                        </p:attrNameLst>
                                      </p:cBhvr>
                                      <p:tavLst>
                                        <p:tav tm="0">
                                          <p:val>
                                            <p:fltVal val="90"/>
                                          </p:val>
                                        </p:tav>
                                        <p:tav tm="100000">
                                          <p:val>
                                            <p:fltVal val="0"/>
                                          </p:val>
                                        </p:tav>
                                      </p:tavLst>
                                    </p:anim>
                                    <p:animEffect transition="in" filter="fade">
                                      <p:cBhvr>
                                        <p:cTn id="94" dur="1000"/>
                                        <p:tgtEl>
                                          <p:spTgt spid="20"/>
                                        </p:tgtEl>
                                      </p:cBhvr>
                                    </p:animEffect>
                                  </p:childTnLst>
                                </p:cTn>
                              </p:par>
                              <p:par>
                                <p:cTn id="95" presetID="31" presetClass="entr" presetSubtype="0" fill="hold" nodeType="withEffect">
                                  <p:stCondLst>
                                    <p:cond delay="0"/>
                                  </p:stCondLst>
                                  <p:childTnLst>
                                    <p:set>
                                      <p:cBhvr>
                                        <p:cTn id="96" dur="1" fill="hold">
                                          <p:stCondLst>
                                            <p:cond delay="0"/>
                                          </p:stCondLst>
                                        </p:cTn>
                                        <p:tgtEl>
                                          <p:spTgt spid="21"/>
                                        </p:tgtEl>
                                        <p:attrNameLst>
                                          <p:attrName>style.visibility</p:attrName>
                                        </p:attrNameLst>
                                      </p:cBhvr>
                                      <p:to>
                                        <p:strVal val="visible"/>
                                      </p:to>
                                    </p:set>
                                    <p:anim calcmode="lin" valueType="num">
                                      <p:cBhvr>
                                        <p:cTn id="97" dur="1000" fill="hold"/>
                                        <p:tgtEl>
                                          <p:spTgt spid="21"/>
                                        </p:tgtEl>
                                        <p:attrNameLst>
                                          <p:attrName>ppt_w</p:attrName>
                                        </p:attrNameLst>
                                      </p:cBhvr>
                                      <p:tavLst>
                                        <p:tav tm="0">
                                          <p:val>
                                            <p:fltVal val="0"/>
                                          </p:val>
                                        </p:tav>
                                        <p:tav tm="100000">
                                          <p:val>
                                            <p:strVal val="#ppt_w"/>
                                          </p:val>
                                        </p:tav>
                                      </p:tavLst>
                                    </p:anim>
                                    <p:anim calcmode="lin" valueType="num">
                                      <p:cBhvr>
                                        <p:cTn id="98" dur="1000" fill="hold"/>
                                        <p:tgtEl>
                                          <p:spTgt spid="21"/>
                                        </p:tgtEl>
                                        <p:attrNameLst>
                                          <p:attrName>ppt_h</p:attrName>
                                        </p:attrNameLst>
                                      </p:cBhvr>
                                      <p:tavLst>
                                        <p:tav tm="0">
                                          <p:val>
                                            <p:fltVal val="0"/>
                                          </p:val>
                                        </p:tav>
                                        <p:tav tm="100000">
                                          <p:val>
                                            <p:strVal val="#ppt_h"/>
                                          </p:val>
                                        </p:tav>
                                      </p:tavLst>
                                    </p:anim>
                                    <p:anim calcmode="lin" valueType="num">
                                      <p:cBhvr>
                                        <p:cTn id="99" dur="1000" fill="hold"/>
                                        <p:tgtEl>
                                          <p:spTgt spid="21"/>
                                        </p:tgtEl>
                                        <p:attrNameLst>
                                          <p:attrName>style.rotation</p:attrName>
                                        </p:attrNameLst>
                                      </p:cBhvr>
                                      <p:tavLst>
                                        <p:tav tm="0">
                                          <p:val>
                                            <p:fltVal val="90"/>
                                          </p:val>
                                        </p:tav>
                                        <p:tav tm="100000">
                                          <p:val>
                                            <p:fltVal val="0"/>
                                          </p:val>
                                        </p:tav>
                                      </p:tavLst>
                                    </p:anim>
                                    <p:animEffect transition="in" filter="fade">
                                      <p:cBhvr>
                                        <p:cTn id="100" dur="1000"/>
                                        <p:tgtEl>
                                          <p:spTgt spid="21"/>
                                        </p:tgtEl>
                                      </p:cBhvr>
                                    </p:animEffect>
                                  </p:childTnLst>
                                </p:cTn>
                              </p:par>
                              <p:par>
                                <p:cTn id="101" presetID="31" presetClass="entr" presetSubtype="0" fill="hold" grpId="0" nodeType="withEffect">
                                  <p:stCondLst>
                                    <p:cond delay="0"/>
                                  </p:stCondLst>
                                  <p:childTnLst>
                                    <p:set>
                                      <p:cBhvr>
                                        <p:cTn id="102" dur="1" fill="hold">
                                          <p:stCondLst>
                                            <p:cond delay="0"/>
                                          </p:stCondLst>
                                        </p:cTn>
                                        <p:tgtEl>
                                          <p:spTgt spid="22"/>
                                        </p:tgtEl>
                                        <p:attrNameLst>
                                          <p:attrName>style.visibility</p:attrName>
                                        </p:attrNameLst>
                                      </p:cBhvr>
                                      <p:to>
                                        <p:strVal val="visible"/>
                                      </p:to>
                                    </p:set>
                                    <p:anim calcmode="lin" valueType="num">
                                      <p:cBhvr>
                                        <p:cTn id="103" dur="1000" fill="hold"/>
                                        <p:tgtEl>
                                          <p:spTgt spid="22"/>
                                        </p:tgtEl>
                                        <p:attrNameLst>
                                          <p:attrName>ppt_w</p:attrName>
                                        </p:attrNameLst>
                                      </p:cBhvr>
                                      <p:tavLst>
                                        <p:tav tm="0">
                                          <p:val>
                                            <p:fltVal val="0"/>
                                          </p:val>
                                        </p:tav>
                                        <p:tav tm="100000">
                                          <p:val>
                                            <p:strVal val="#ppt_w"/>
                                          </p:val>
                                        </p:tav>
                                      </p:tavLst>
                                    </p:anim>
                                    <p:anim calcmode="lin" valueType="num">
                                      <p:cBhvr>
                                        <p:cTn id="104" dur="1000" fill="hold"/>
                                        <p:tgtEl>
                                          <p:spTgt spid="22"/>
                                        </p:tgtEl>
                                        <p:attrNameLst>
                                          <p:attrName>ppt_h</p:attrName>
                                        </p:attrNameLst>
                                      </p:cBhvr>
                                      <p:tavLst>
                                        <p:tav tm="0">
                                          <p:val>
                                            <p:fltVal val="0"/>
                                          </p:val>
                                        </p:tav>
                                        <p:tav tm="100000">
                                          <p:val>
                                            <p:strVal val="#ppt_h"/>
                                          </p:val>
                                        </p:tav>
                                      </p:tavLst>
                                    </p:anim>
                                    <p:anim calcmode="lin" valueType="num">
                                      <p:cBhvr>
                                        <p:cTn id="105" dur="1000" fill="hold"/>
                                        <p:tgtEl>
                                          <p:spTgt spid="22"/>
                                        </p:tgtEl>
                                        <p:attrNameLst>
                                          <p:attrName>style.rotation</p:attrName>
                                        </p:attrNameLst>
                                      </p:cBhvr>
                                      <p:tavLst>
                                        <p:tav tm="0">
                                          <p:val>
                                            <p:fltVal val="90"/>
                                          </p:val>
                                        </p:tav>
                                        <p:tav tm="100000">
                                          <p:val>
                                            <p:fltVal val="0"/>
                                          </p:val>
                                        </p:tav>
                                      </p:tavLst>
                                    </p:anim>
                                    <p:animEffect transition="in" filter="fade">
                                      <p:cBhvr>
                                        <p:cTn id="106" dur="1000"/>
                                        <p:tgtEl>
                                          <p:spTgt spid="22"/>
                                        </p:tgtEl>
                                      </p:cBhvr>
                                    </p:animEffect>
                                  </p:childTnLst>
                                </p:cTn>
                              </p:par>
                              <p:par>
                                <p:cTn id="107" presetID="31" presetClass="entr" presetSubtype="0" fill="hold" grpId="0" nodeType="withEffect">
                                  <p:stCondLst>
                                    <p:cond delay="0"/>
                                  </p:stCondLst>
                                  <p:childTnLst>
                                    <p:set>
                                      <p:cBhvr>
                                        <p:cTn id="108" dur="1" fill="hold">
                                          <p:stCondLst>
                                            <p:cond delay="0"/>
                                          </p:stCondLst>
                                        </p:cTn>
                                        <p:tgtEl>
                                          <p:spTgt spid="23"/>
                                        </p:tgtEl>
                                        <p:attrNameLst>
                                          <p:attrName>style.visibility</p:attrName>
                                        </p:attrNameLst>
                                      </p:cBhvr>
                                      <p:to>
                                        <p:strVal val="visible"/>
                                      </p:to>
                                    </p:set>
                                    <p:anim calcmode="lin" valueType="num">
                                      <p:cBhvr>
                                        <p:cTn id="109" dur="1000" fill="hold"/>
                                        <p:tgtEl>
                                          <p:spTgt spid="23"/>
                                        </p:tgtEl>
                                        <p:attrNameLst>
                                          <p:attrName>ppt_w</p:attrName>
                                        </p:attrNameLst>
                                      </p:cBhvr>
                                      <p:tavLst>
                                        <p:tav tm="0">
                                          <p:val>
                                            <p:fltVal val="0"/>
                                          </p:val>
                                        </p:tav>
                                        <p:tav tm="100000">
                                          <p:val>
                                            <p:strVal val="#ppt_w"/>
                                          </p:val>
                                        </p:tav>
                                      </p:tavLst>
                                    </p:anim>
                                    <p:anim calcmode="lin" valueType="num">
                                      <p:cBhvr>
                                        <p:cTn id="110" dur="1000" fill="hold"/>
                                        <p:tgtEl>
                                          <p:spTgt spid="23"/>
                                        </p:tgtEl>
                                        <p:attrNameLst>
                                          <p:attrName>ppt_h</p:attrName>
                                        </p:attrNameLst>
                                      </p:cBhvr>
                                      <p:tavLst>
                                        <p:tav tm="0">
                                          <p:val>
                                            <p:fltVal val="0"/>
                                          </p:val>
                                        </p:tav>
                                        <p:tav tm="100000">
                                          <p:val>
                                            <p:strVal val="#ppt_h"/>
                                          </p:val>
                                        </p:tav>
                                      </p:tavLst>
                                    </p:anim>
                                    <p:anim calcmode="lin" valueType="num">
                                      <p:cBhvr>
                                        <p:cTn id="111" dur="1000" fill="hold"/>
                                        <p:tgtEl>
                                          <p:spTgt spid="23"/>
                                        </p:tgtEl>
                                        <p:attrNameLst>
                                          <p:attrName>style.rotation</p:attrName>
                                        </p:attrNameLst>
                                      </p:cBhvr>
                                      <p:tavLst>
                                        <p:tav tm="0">
                                          <p:val>
                                            <p:fltVal val="90"/>
                                          </p:val>
                                        </p:tav>
                                        <p:tav tm="100000">
                                          <p:val>
                                            <p:fltVal val="0"/>
                                          </p:val>
                                        </p:tav>
                                      </p:tavLst>
                                    </p:anim>
                                    <p:animEffect transition="in" filter="fade">
                                      <p:cBhvr>
                                        <p:cTn id="112" dur="1000"/>
                                        <p:tgtEl>
                                          <p:spTgt spid="23"/>
                                        </p:tgtEl>
                                      </p:cBhvr>
                                    </p:animEffect>
                                  </p:childTnLst>
                                </p:cTn>
                              </p:par>
                              <p:par>
                                <p:cTn id="113" presetID="31" presetClass="entr" presetSubtype="0" fill="hold" nodeType="withEffect">
                                  <p:stCondLst>
                                    <p:cond delay="0"/>
                                  </p:stCondLst>
                                  <p:childTnLst>
                                    <p:set>
                                      <p:cBhvr>
                                        <p:cTn id="114" dur="1" fill="hold">
                                          <p:stCondLst>
                                            <p:cond delay="0"/>
                                          </p:stCondLst>
                                        </p:cTn>
                                        <p:tgtEl>
                                          <p:spTgt spid="24"/>
                                        </p:tgtEl>
                                        <p:attrNameLst>
                                          <p:attrName>style.visibility</p:attrName>
                                        </p:attrNameLst>
                                      </p:cBhvr>
                                      <p:to>
                                        <p:strVal val="visible"/>
                                      </p:to>
                                    </p:set>
                                    <p:anim calcmode="lin" valueType="num">
                                      <p:cBhvr>
                                        <p:cTn id="115" dur="1000" fill="hold"/>
                                        <p:tgtEl>
                                          <p:spTgt spid="24"/>
                                        </p:tgtEl>
                                        <p:attrNameLst>
                                          <p:attrName>ppt_w</p:attrName>
                                        </p:attrNameLst>
                                      </p:cBhvr>
                                      <p:tavLst>
                                        <p:tav tm="0">
                                          <p:val>
                                            <p:fltVal val="0"/>
                                          </p:val>
                                        </p:tav>
                                        <p:tav tm="100000">
                                          <p:val>
                                            <p:strVal val="#ppt_w"/>
                                          </p:val>
                                        </p:tav>
                                      </p:tavLst>
                                    </p:anim>
                                    <p:anim calcmode="lin" valueType="num">
                                      <p:cBhvr>
                                        <p:cTn id="116" dur="1000" fill="hold"/>
                                        <p:tgtEl>
                                          <p:spTgt spid="24"/>
                                        </p:tgtEl>
                                        <p:attrNameLst>
                                          <p:attrName>ppt_h</p:attrName>
                                        </p:attrNameLst>
                                      </p:cBhvr>
                                      <p:tavLst>
                                        <p:tav tm="0">
                                          <p:val>
                                            <p:fltVal val="0"/>
                                          </p:val>
                                        </p:tav>
                                        <p:tav tm="100000">
                                          <p:val>
                                            <p:strVal val="#ppt_h"/>
                                          </p:val>
                                        </p:tav>
                                      </p:tavLst>
                                    </p:anim>
                                    <p:anim calcmode="lin" valueType="num">
                                      <p:cBhvr>
                                        <p:cTn id="117" dur="1000" fill="hold"/>
                                        <p:tgtEl>
                                          <p:spTgt spid="24"/>
                                        </p:tgtEl>
                                        <p:attrNameLst>
                                          <p:attrName>style.rotation</p:attrName>
                                        </p:attrNameLst>
                                      </p:cBhvr>
                                      <p:tavLst>
                                        <p:tav tm="0">
                                          <p:val>
                                            <p:fltVal val="90"/>
                                          </p:val>
                                        </p:tav>
                                        <p:tav tm="100000">
                                          <p:val>
                                            <p:fltVal val="0"/>
                                          </p:val>
                                        </p:tav>
                                      </p:tavLst>
                                    </p:anim>
                                    <p:animEffect transition="in" filter="fade">
                                      <p:cBhvr>
                                        <p:cTn id="118" dur="1000"/>
                                        <p:tgtEl>
                                          <p:spTgt spid="24"/>
                                        </p:tgtEl>
                                      </p:cBhvr>
                                    </p:animEffect>
                                  </p:childTnLst>
                                </p:cTn>
                              </p:par>
                              <p:par>
                                <p:cTn id="119" presetID="31" presetClass="entr" presetSubtype="0" fill="hold" grpId="0" nodeType="withEffect">
                                  <p:stCondLst>
                                    <p:cond delay="0"/>
                                  </p:stCondLst>
                                  <p:childTnLst>
                                    <p:set>
                                      <p:cBhvr>
                                        <p:cTn id="120" dur="1" fill="hold">
                                          <p:stCondLst>
                                            <p:cond delay="0"/>
                                          </p:stCondLst>
                                        </p:cTn>
                                        <p:tgtEl>
                                          <p:spTgt spid="25"/>
                                        </p:tgtEl>
                                        <p:attrNameLst>
                                          <p:attrName>style.visibility</p:attrName>
                                        </p:attrNameLst>
                                      </p:cBhvr>
                                      <p:to>
                                        <p:strVal val="visible"/>
                                      </p:to>
                                    </p:set>
                                    <p:anim calcmode="lin" valueType="num">
                                      <p:cBhvr>
                                        <p:cTn id="121" dur="1000" fill="hold"/>
                                        <p:tgtEl>
                                          <p:spTgt spid="25"/>
                                        </p:tgtEl>
                                        <p:attrNameLst>
                                          <p:attrName>ppt_w</p:attrName>
                                        </p:attrNameLst>
                                      </p:cBhvr>
                                      <p:tavLst>
                                        <p:tav tm="0">
                                          <p:val>
                                            <p:fltVal val="0"/>
                                          </p:val>
                                        </p:tav>
                                        <p:tav tm="100000">
                                          <p:val>
                                            <p:strVal val="#ppt_w"/>
                                          </p:val>
                                        </p:tav>
                                      </p:tavLst>
                                    </p:anim>
                                    <p:anim calcmode="lin" valueType="num">
                                      <p:cBhvr>
                                        <p:cTn id="122" dur="1000" fill="hold"/>
                                        <p:tgtEl>
                                          <p:spTgt spid="25"/>
                                        </p:tgtEl>
                                        <p:attrNameLst>
                                          <p:attrName>ppt_h</p:attrName>
                                        </p:attrNameLst>
                                      </p:cBhvr>
                                      <p:tavLst>
                                        <p:tav tm="0">
                                          <p:val>
                                            <p:fltVal val="0"/>
                                          </p:val>
                                        </p:tav>
                                        <p:tav tm="100000">
                                          <p:val>
                                            <p:strVal val="#ppt_h"/>
                                          </p:val>
                                        </p:tav>
                                      </p:tavLst>
                                    </p:anim>
                                    <p:anim calcmode="lin" valueType="num">
                                      <p:cBhvr>
                                        <p:cTn id="123" dur="1000" fill="hold"/>
                                        <p:tgtEl>
                                          <p:spTgt spid="25"/>
                                        </p:tgtEl>
                                        <p:attrNameLst>
                                          <p:attrName>style.rotation</p:attrName>
                                        </p:attrNameLst>
                                      </p:cBhvr>
                                      <p:tavLst>
                                        <p:tav tm="0">
                                          <p:val>
                                            <p:fltVal val="90"/>
                                          </p:val>
                                        </p:tav>
                                        <p:tav tm="100000">
                                          <p:val>
                                            <p:fltVal val="0"/>
                                          </p:val>
                                        </p:tav>
                                      </p:tavLst>
                                    </p:anim>
                                    <p:animEffect transition="in" filter="fade">
                                      <p:cBhvr>
                                        <p:cTn id="124" dur="1000"/>
                                        <p:tgtEl>
                                          <p:spTgt spid="25"/>
                                        </p:tgtEl>
                                      </p:cBhvr>
                                    </p:animEffect>
                                  </p:childTnLst>
                                </p:cTn>
                              </p:par>
                              <p:par>
                                <p:cTn id="125" presetID="31" presetClass="entr" presetSubtype="0" fill="hold" grpId="0" nodeType="withEffect">
                                  <p:stCondLst>
                                    <p:cond delay="0"/>
                                  </p:stCondLst>
                                  <p:childTnLst>
                                    <p:set>
                                      <p:cBhvr>
                                        <p:cTn id="126" dur="1" fill="hold">
                                          <p:stCondLst>
                                            <p:cond delay="0"/>
                                          </p:stCondLst>
                                        </p:cTn>
                                        <p:tgtEl>
                                          <p:spTgt spid="26"/>
                                        </p:tgtEl>
                                        <p:attrNameLst>
                                          <p:attrName>style.visibility</p:attrName>
                                        </p:attrNameLst>
                                      </p:cBhvr>
                                      <p:to>
                                        <p:strVal val="visible"/>
                                      </p:to>
                                    </p:set>
                                    <p:anim calcmode="lin" valueType="num">
                                      <p:cBhvr>
                                        <p:cTn id="127" dur="1000" fill="hold"/>
                                        <p:tgtEl>
                                          <p:spTgt spid="26"/>
                                        </p:tgtEl>
                                        <p:attrNameLst>
                                          <p:attrName>ppt_w</p:attrName>
                                        </p:attrNameLst>
                                      </p:cBhvr>
                                      <p:tavLst>
                                        <p:tav tm="0">
                                          <p:val>
                                            <p:fltVal val="0"/>
                                          </p:val>
                                        </p:tav>
                                        <p:tav tm="100000">
                                          <p:val>
                                            <p:strVal val="#ppt_w"/>
                                          </p:val>
                                        </p:tav>
                                      </p:tavLst>
                                    </p:anim>
                                    <p:anim calcmode="lin" valueType="num">
                                      <p:cBhvr>
                                        <p:cTn id="128" dur="1000" fill="hold"/>
                                        <p:tgtEl>
                                          <p:spTgt spid="26"/>
                                        </p:tgtEl>
                                        <p:attrNameLst>
                                          <p:attrName>ppt_h</p:attrName>
                                        </p:attrNameLst>
                                      </p:cBhvr>
                                      <p:tavLst>
                                        <p:tav tm="0">
                                          <p:val>
                                            <p:fltVal val="0"/>
                                          </p:val>
                                        </p:tav>
                                        <p:tav tm="100000">
                                          <p:val>
                                            <p:strVal val="#ppt_h"/>
                                          </p:val>
                                        </p:tav>
                                      </p:tavLst>
                                    </p:anim>
                                    <p:anim calcmode="lin" valueType="num">
                                      <p:cBhvr>
                                        <p:cTn id="129" dur="1000" fill="hold"/>
                                        <p:tgtEl>
                                          <p:spTgt spid="26"/>
                                        </p:tgtEl>
                                        <p:attrNameLst>
                                          <p:attrName>style.rotation</p:attrName>
                                        </p:attrNameLst>
                                      </p:cBhvr>
                                      <p:tavLst>
                                        <p:tav tm="0">
                                          <p:val>
                                            <p:fltVal val="90"/>
                                          </p:val>
                                        </p:tav>
                                        <p:tav tm="100000">
                                          <p:val>
                                            <p:fltVal val="0"/>
                                          </p:val>
                                        </p:tav>
                                      </p:tavLst>
                                    </p:anim>
                                    <p:animEffect transition="in" filter="fade">
                                      <p:cBhvr>
                                        <p:cTn id="130" dur="1000"/>
                                        <p:tgtEl>
                                          <p:spTgt spid="26"/>
                                        </p:tgtEl>
                                      </p:cBhvr>
                                    </p:animEffect>
                                  </p:childTnLst>
                                </p:cTn>
                              </p:par>
                            </p:childTnLst>
                          </p:cTn>
                        </p:par>
                      </p:childTnLst>
                    </p:cTn>
                  </p:par>
                  <p:par>
                    <p:cTn id="131" fill="hold">
                      <p:stCondLst>
                        <p:cond delay="indefinite"/>
                      </p:stCondLst>
                      <p:childTnLst>
                        <p:par>
                          <p:cTn id="132" fill="hold">
                            <p:stCondLst>
                              <p:cond delay="0"/>
                            </p:stCondLst>
                            <p:childTnLst>
                              <p:par>
                                <p:cTn id="133" presetID="31" presetClass="entr" presetSubtype="0" fill="hold" nodeType="clickEffect">
                                  <p:stCondLst>
                                    <p:cond delay="0"/>
                                  </p:stCondLst>
                                  <p:childTnLst>
                                    <p:set>
                                      <p:cBhvr>
                                        <p:cTn id="134" dur="1" fill="hold">
                                          <p:stCondLst>
                                            <p:cond delay="0"/>
                                          </p:stCondLst>
                                        </p:cTn>
                                        <p:tgtEl>
                                          <p:spTgt spid="27"/>
                                        </p:tgtEl>
                                        <p:attrNameLst>
                                          <p:attrName>style.visibility</p:attrName>
                                        </p:attrNameLst>
                                      </p:cBhvr>
                                      <p:to>
                                        <p:strVal val="visible"/>
                                      </p:to>
                                    </p:set>
                                    <p:anim calcmode="lin" valueType="num">
                                      <p:cBhvr>
                                        <p:cTn id="135" dur="1000" fill="hold"/>
                                        <p:tgtEl>
                                          <p:spTgt spid="27"/>
                                        </p:tgtEl>
                                        <p:attrNameLst>
                                          <p:attrName>ppt_w</p:attrName>
                                        </p:attrNameLst>
                                      </p:cBhvr>
                                      <p:tavLst>
                                        <p:tav tm="0">
                                          <p:val>
                                            <p:fltVal val="0"/>
                                          </p:val>
                                        </p:tav>
                                        <p:tav tm="100000">
                                          <p:val>
                                            <p:strVal val="#ppt_w"/>
                                          </p:val>
                                        </p:tav>
                                      </p:tavLst>
                                    </p:anim>
                                    <p:anim calcmode="lin" valueType="num">
                                      <p:cBhvr>
                                        <p:cTn id="136" dur="1000" fill="hold"/>
                                        <p:tgtEl>
                                          <p:spTgt spid="27"/>
                                        </p:tgtEl>
                                        <p:attrNameLst>
                                          <p:attrName>ppt_h</p:attrName>
                                        </p:attrNameLst>
                                      </p:cBhvr>
                                      <p:tavLst>
                                        <p:tav tm="0">
                                          <p:val>
                                            <p:fltVal val="0"/>
                                          </p:val>
                                        </p:tav>
                                        <p:tav tm="100000">
                                          <p:val>
                                            <p:strVal val="#ppt_h"/>
                                          </p:val>
                                        </p:tav>
                                      </p:tavLst>
                                    </p:anim>
                                    <p:anim calcmode="lin" valueType="num">
                                      <p:cBhvr>
                                        <p:cTn id="137" dur="1000" fill="hold"/>
                                        <p:tgtEl>
                                          <p:spTgt spid="27"/>
                                        </p:tgtEl>
                                        <p:attrNameLst>
                                          <p:attrName>style.rotation</p:attrName>
                                        </p:attrNameLst>
                                      </p:cBhvr>
                                      <p:tavLst>
                                        <p:tav tm="0">
                                          <p:val>
                                            <p:fltVal val="90"/>
                                          </p:val>
                                        </p:tav>
                                        <p:tav tm="100000">
                                          <p:val>
                                            <p:fltVal val="0"/>
                                          </p:val>
                                        </p:tav>
                                      </p:tavLst>
                                    </p:anim>
                                    <p:animEffect transition="in" filter="fade">
                                      <p:cBhvr>
                                        <p:cTn id="138" dur="1000"/>
                                        <p:tgtEl>
                                          <p:spTgt spid="27"/>
                                        </p:tgtEl>
                                      </p:cBhvr>
                                    </p:animEffect>
                                  </p:childTnLst>
                                </p:cTn>
                              </p:par>
                              <p:par>
                                <p:cTn id="139" presetID="31" presetClass="entr" presetSubtype="0" fill="hold" grpId="0" nodeType="withEffect">
                                  <p:stCondLst>
                                    <p:cond delay="0"/>
                                  </p:stCondLst>
                                  <p:childTnLst>
                                    <p:set>
                                      <p:cBhvr>
                                        <p:cTn id="140" dur="1" fill="hold">
                                          <p:stCondLst>
                                            <p:cond delay="0"/>
                                          </p:stCondLst>
                                        </p:cTn>
                                        <p:tgtEl>
                                          <p:spTgt spid="28"/>
                                        </p:tgtEl>
                                        <p:attrNameLst>
                                          <p:attrName>style.visibility</p:attrName>
                                        </p:attrNameLst>
                                      </p:cBhvr>
                                      <p:to>
                                        <p:strVal val="visible"/>
                                      </p:to>
                                    </p:set>
                                    <p:anim calcmode="lin" valueType="num">
                                      <p:cBhvr>
                                        <p:cTn id="141" dur="1000" fill="hold"/>
                                        <p:tgtEl>
                                          <p:spTgt spid="28"/>
                                        </p:tgtEl>
                                        <p:attrNameLst>
                                          <p:attrName>ppt_w</p:attrName>
                                        </p:attrNameLst>
                                      </p:cBhvr>
                                      <p:tavLst>
                                        <p:tav tm="0">
                                          <p:val>
                                            <p:fltVal val="0"/>
                                          </p:val>
                                        </p:tav>
                                        <p:tav tm="100000">
                                          <p:val>
                                            <p:strVal val="#ppt_w"/>
                                          </p:val>
                                        </p:tav>
                                      </p:tavLst>
                                    </p:anim>
                                    <p:anim calcmode="lin" valueType="num">
                                      <p:cBhvr>
                                        <p:cTn id="142" dur="1000" fill="hold"/>
                                        <p:tgtEl>
                                          <p:spTgt spid="28"/>
                                        </p:tgtEl>
                                        <p:attrNameLst>
                                          <p:attrName>ppt_h</p:attrName>
                                        </p:attrNameLst>
                                      </p:cBhvr>
                                      <p:tavLst>
                                        <p:tav tm="0">
                                          <p:val>
                                            <p:fltVal val="0"/>
                                          </p:val>
                                        </p:tav>
                                        <p:tav tm="100000">
                                          <p:val>
                                            <p:strVal val="#ppt_h"/>
                                          </p:val>
                                        </p:tav>
                                      </p:tavLst>
                                    </p:anim>
                                    <p:anim calcmode="lin" valueType="num">
                                      <p:cBhvr>
                                        <p:cTn id="143" dur="1000" fill="hold"/>
                                        <p:tgtEl>
                                          <p:spTgt spid="28"/>
                                        </p:tgtEl>
                                        <p:attrNameLst>
                                          <p:attrName>style.rotation</p:attrName>
                                        </p:attrNameLst>
                                      </p:cBhvr>
                                      <p:tavLst>
                                        <p:tav tm="0">
                                          <p:val>
                                            <p:fltVal val="90"/>
                                          </p:val>
                                        </p:tav>
                                        <p:tav tm="100000">
                                          <p:val>
                                            <p:fltVal val="0"/>
                                          </p:val>
                                        </p:tav>
                                      </p:tavLst>
                                    </p:anim>
                                    <p:animEffect transition="in" filter="fade">
                                      <p:cBhvr>
                                        <p:cTn id="144" dur="1000"/>
                                        <p:tgtEl>
                                          <p:spTgt spid="28"/>
                                        </p:tgtEl>
                                      </p:cBhvr>
                                    </p:animEffect>
                                  </p:childTnLst>
                                </p:cTn>
                              </p:par>
                              <p:par>
                                <p:cTn id="145" presetID="31" presetClass="entr" presetSubtype="0" fill="hold" grpId="0" nodeType="withEffect">
                                  <p:stCondLst>
                                    <p:cond delay="0"/>
                                  </p:stCondLst>
                                  <p:childTnLst>
                                    <p:set>
                                      <p:cBhvr>
                                        <p:cTn id="146" dur="1" fill="hold">
                                          <p:stCondLst>
                                            <p:cond delay="0"/>
                                          </p:stCondLst>
                                        </p:cTn>
                                        <p:tgtEl>
                                          <p:spTgt spid="29"/>
                                        </p:tgtEl>
                                        <p:attrNameLst>
                                          <p:attrName>style.visibility</p:attrName>
                                        </p:attrNameLst>
                                      </p:cBhvr>
                                      <p:to>
                                        <p:strVal val="visible"/>
                                      </p:to>
                                    </p:set>
                                    <p:anim calcmode="lin" valueType="num">
                                      <p:cBhvr>
                                        <p:cTn id="147" dur="1000" fill="hold"/>
                                        <p:tgtEl>
                                          <p:spTgt spid="29"/>
                                        </p:tgtEl>
                                        <p:attrNameLst>
                                          <p:attrName>ppt_w</p:attrName>
                                        </p:attrNameLst>
                                      </p:cBhvr>
                                      <p:tavLst>
                                        <p:tav tm="0">
                                          <p:val>
                                            <p:fltVal val="0"/>
                                          </p:val>
                                        </p:tav>
                                        <p:tav tm="100000">
                                          <p:val>
                                            <p:strVal val="#ppt_w"/>
                                          </p:val>
                                        </p:tav>
                                      </p:tavLst>
                                    </p:anim>
                                    <p:anim calcmode="lin" valueType="num">
                                      <p:cBhvr>
                                        <p:cTn id="148" dur="1000" fill="hold"/>
                                        <p:tgtEl>
                                          <p:spTgt spid="29"/>
                                        </p:tgtEl>
                                        <p:attrNameLst>
                                          <p:attrName>ppt_h</p:attrName>
                                        </p:attrNameLst>
                                      </p:cBhvr>
                                      <p:tavLst>
                                        <p:tav tm="0">
                                          <p:val>
                                            <p:fltVal val="0"/>
                                          </p:val>
                                        </p:tav>
                                        <p:tav tm="100000">
                                          <p:val>
                                            <p:strVal val="#ppt_h"/>
                                          </p:val>
                                        </p:tav>
                                      </p:tavLst>
                                    </p:anim>
                                    <p:anim calcmode="lin" valueType="num">
                                      <p:cBhvr>
                                        <p:cTn id="149" dur="1000" fill="hold"/>
                                        <p:tgtEl>
                                          <p:spTgt spid="29"/>
                                        </p:tgtEl>
                                        <p:attrNameLst>
                                          <p:attrName>style.rotation</p:attrName>
                                        </p:attrNameLst>
                                      </p:cBhvr>
                                      <p:tavLst>
                                        <p:tav tm="0">
                                          <p:val>
                                            <p:fltVal val="90"/>
                                          </p:val>
                                        </p:tav>
                                        <p:tav tm="100000">
                                          <p:val>
                                            <p:fltVal val="0"/>
                                          </p:val>
                                        </p:tav>
                                      </p:tavLst>
                                    </p:anim>
                                    <p:animEffect transition="in" filter="fade">
                                      <p:cBhvr>
                                        <p:cTn id="150" dur="1000"/>
                                        <p:tgtEl>
                                          <p:spTgt spid="29"/>
                                        </p:tgtEl>
                                      </p:cBhvr>
                                    </p:animEffect>
                                  </p:childTnLst>
                                </p:cTn>
                              </p:par>
                            </p:childTnLst>
                          </p:cTn>
                        </p:par>
                      </p:childTnLst>
                    </p:cTn>
                  </p:par>
                  <p:par>
                    <p:cTn id="151" fill="hold">
                      <p:stCondLst>
                        <p:cond delay="indefinite"/>
                      </p:stCondLst>
                      <p:childTnLst>
                        <p:par>
                          <p:cTn id="152" fill="hold">
                            <p:stCondLst>
                              <p:cond delay="0"/>
                            </p:stCondLst>
                            <p:childTnLst>
                              <p:par>
                                <p:cTn id="153" presetID="42" presetClass="entr" presetSubtype="0" fill="hold" nodeType="clickEffect">
                                  <p:stCondLst>
                                    <p:cond delay="0"/>
                                  </p:stCondLst>
                                  <p:childTnLst>
                                    <p:set>
                                      <p:cBhvr>
                                        <p:cTn id="154" dur="1" fill="hold">
                                          <p:stCondLst>
                                            <p:cond delay="0"/>
                                          </p:stCondLst>
                                        </p:cTn>
                                        <p:tgtEl>
                                          <p:spTgt spid="30"/>
                                        </p:tgtEl>
                                        <p:attrNameLst>
                                          <p:attrName>style.visibility</p:attrName>
                                        </p:attrNameLst>
                                      </p:cBhvr>
                                      <p:to>
                                        <p:strVal val="visible"/>
                                      </p:to>
                                    </p:set>
                                    <p:animEffect transition="in" filter="fade">
                                      <p:cBhvr>
                                        <p:cTn id="155" dur="1000"/>
                                        <p:tgtEl>
                                          <p:spTgt spid="30"/>
                                        </p:tgtEl>
                                      </p:cBhvr>
                                    </p:animEffect>
                                    <p:anim calcmode="lin" valueType="num">
                                      <p:cBhvr>
                                        <p:cTn id="156" dur="1000" fill="hold"/>
                                        <p:tgtEl>
                                          <p:spTgt spid="30"/>
                                        </p:tgtEl>
                                        <p:attrNameLst>
                                          <p:attrName>ppt_x</p:attrName>
                                        </p:attrNameLst>
                                      </p:cBhvr>
                                      <p:tavLst>
                                        <p:tav tm="0">
                                          <p:val>
                                            <p:strVal val="#ppt_x"/>
                                          </p:val>
                                        </p:tav>
                                        <p:tav tm="100000">
                                          <p:val>
                                            <p:strVal val="#ppt_x"/>
                                          </p:val>
                                        </p:tav>
                                      </p:tavLst>
                                    </p:anim>
                                    <p:anim calcmode="lin" valueType="num">
                                      <p:cBhvr>
                                        <p:cTn id="157" dur="1000" fill="hold"/>
                                        <p:tgtEl>
                                          <p:spTgt spid="30"/>
                                        </p:tgtEl>
                                        <p:attrNameLst>
                                          <p:attrName>ppt_y</p:attrName>
                                        </p:attrNameLst>
                                      </p:cBhvr>
                                      <p:tavLst>
                                        <p:tav tm="0">
                                          <p:val>
                                            <p:strVal val="#ppt_y+.1"/>
                                          </p:val>
                                        </p:tav>
                                        <p:tav tm="100000">
                                          <p:val>
                                            <p:strVal val="#ppt_y"/>
                                          </p:val>
                                        </p:tav>
                                      </p:tavLst>
                                    </p:anim>
                                  </p:childTnLst>
                                </p:cTn>
                              </p:par>
                              <p:par>
                                <p:cTn id="158" presetID="42" presetClass="entr" presetSubtype="0" fill="hold" grpId="0" nodeType="withEffect">
                                  <p:stCondLst>
                                    <p:cond delay="0"/>
                                  </p:stCondLst>
                                  <p:childTnLst>
                                    <p:set>
                                      <p:cBhvr>
                                        <p:cTn id="159" dur="1" fill="hold">
                                          <p:stCondLst>
                                            <p:cond delay="0"/>
                                          </p:stCondLst>
                                        </p:cTn>
                                        <p:tgtEl>
                                          <p:spTgt spid="31"/>
                                        </p:tgtEl>
                                        <p:attrNameLst>
                                          <p:attrName>style.visibility</p:attrName>
                                        </p:attrNameLst>
                                      </p:cBhvr>
                                      <p:to>
                                        <p:strVal val="visible"/>
                                      </p:to>
                                    </p:set>
                                    <p:animEffect transition="in" filter="fade">
                                      <p:cBhvr>
                                        <p:cTn id="160" dur="1000"/>
                                        <p:tgtEl>
                                          <p:spTgt spid="31"/>
                                        </p:tgtEl>
                                      </p:cBhvr>
                                    </p:animEffect>
                                    <p:anim calcmode="lin" valueType="num">
                                      <p:cBhvr>
                                        <p:cTn id="161" dur="1000" fill="hold"/>
                                        <p:tgtEl>
                                          <p:spTgt spid="31"/>
                                        </p:tgtEl>
                                        <p:attrNameLst>
                                          <p:attrName>ppt_x</p:attrName>
                                        </p:attrNameLst>
                                      </p:cBhvr>
                                      <p:tavLst>
                                        <p:tav tm="0">
                                          <p:val>
                                            <p:strVal val="#ppt_x"/>
                                          </p:val>
                                        </p:tav>
                                        <p:tav tm="100000">
                                          <p:val>
                                            <p:strVal val="#ppt_x"/>
                                          </p:val>
                                        </p:tav>
                                      </p:tavLst>
                                    </p:anim>
                                    <p:anim calcmode="lin" valueType="num">
                                      <p:cBhvr>
                                        <p:cTn id="162" dur="1000" fill="hold"/>
                                        <p:tgtEl>
                                          <p:spTgt spid="31"/>
                                        </p:tgtEl>
                                        <p:attrNameLst>
                                          <p:attrName>ppt_y</p:attrName>
                                        </p:attrNameLst>
                                      </p:cBhvr>
                                      <p:tavLst>
                                        <p:tav tm="0">
                                          <p:val>
                                            <p:strVal val="#ppt_y+.1"/>
                                          </p:val>
                                        </p:tav>
                                        <p:tav tm="100000">
                                          <p:val>
                                            <p:strVal val="#ppt_y"/>
                                          </p:val>
                                        </p:tav>
                                      </p:tavLst>
                                    </p:anim>
                                  </p:childTnLst>
                                </p:cTn>
                              </p:par>
                              <p:par>
                                <p:cTn id="163" presetID="42" presetClass="entr" presetSubtype="0" fill="hold" grpId="0" nodeType="withEffect">
                                  <p:stCondLst>
                                    <p:cond delay="0"/>
                                  </p:stCondLst>
                                  <p:childTnLst>
                                    <p:set>
                                      <p:cBhvr>
                                        <p:cTn id="164" dur="1" fill="hold">
                                          <p:stCondLst>
                                            <p:cond delay="0"/>
                                          </p:stCondLst>
                                        </p:cTn>
                                        <p:tgtEl>
                                          <p:spTgt spid="32"/>
                                        </p:tgtEl>
                                        <p:attrNameLst>
                                          <p:attrName>style.visibility</p:attrName>
                                        </p:attrNameLst>
                                      </p:cBhvr>
                                      <p:to>
                                        <p:strVal val="visible"/>
                                      </p:to>
                                    </p:set>
                                    <p:animEffect transition="in" filter="fade">
                                      <p:cBhvr>
                                        <p:cTn id="165" dur="1000"/>
                                        <p:tgtEl>
                                          <p:spTgt spid="32"/>
                                        </p:tgtEl>
                                      </p:cBhvr>
                                    </p:animEffect>
                                    <p:anim calcmode="lin" valueType="num">
                                      <p:cBhvr>
                                        <p:cTn id="166" dur="1000" fill="hold"/>
                                        <p:tgtEl>
                                          <p:spTgt spid="32"/>
                                        </p:tgtEl>
                                        <p:attrNameLst>
                                          <p:attrName>ppt_x</p:attrName>
                                        </p:attrNameLst>
                                      </p:cBhvr>
                                      <p:tavLst>
                                        <p:tav tm="0">
                                          <p:val>
                                            <p:strVal val="#ppt_x"/>
                                          </p:val>
                                        </p:tav>
                                        <p:tav tm="100000">
                                          <p:val>
                                            <p:strVal val="#ppt_x"/>
                                          </p:val>
                                        </p:tav>
                                      </p:tavLst>
                                    </p:anim>
                                    <p:anim calcmode="lin" valueType="num">
                                      <p:cBhvr>
                                        <p:cTn id="167"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P spid="22" grpId="0" animBg="1"/>
      <p:bldP spid="23" grpId="0" animBg="1"/>
      <p:bldP spid="25" grpId="0" animBg="1"/>
      <p:bldP spid="26" grpId="0" animBg="1"/>
      <p:bldP spid="28" grpId="0" animBg="1"/>
      <p:bldP spid="29" grpId="0" animBg="1"/>
      <p:bldP spid="31" grpId="0" animBg="1"/>
      <p:bldP spid="3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47472"/>
            <a:ext cx="11277295" cy="658368"/>
          </a:xfrm>
          <a:prstGeom prst="rect">
            <a:avLst/>
          </a:prstGeom>
          <a:noFill/>
          <a:ln/>
        </p:spPr>
        <p:txBody>
          <a:bodyPr wrap="square" lIns="0" tIns="0" rIns="0" bIns="0" rtlCol="0" anchor="ctr"/>
          <a:lstStyle/>
          <a:p>
            <a:pPr marL="0" indent="0" algn="l">
              <a:buNone/>
            </a:pPr>
            <a:r>
              <a:rPr lang="en-US" sz="3200" b="1" dirty="0">
                <a:solidFill>
                  <a:srgbClr val="2C5F2D"/>
                </a:solidFill>
                <a:latin typeface="Cambria" pitchFamily="34" charset="0"/>
                <a:ea typeface="Cambria" pitchFamily="34" charset="-122"/>
                <a:cs typeface="Cambria" pitchFamily="34" charset="-120"/>
              </a:rPr>
              <a:t>Understanding the Dataset</a:t>
            </a:r>
            <a:endParaRPr lang="en-US" sz="3200" dirty="0"/>
          </a:p>
        </p:txBody>
      </p:sp>
      <p:sp>
        <p:nvSpPr>
          <p:cNvPr id="3" name="Text 1"/>
          <p:cNvSpPr/>
          <p:nvPr/>
        </p:nvSpPr>
        <p:spPr>
          <a:xfrm>
            <a:off x="457200" y="6547104"/>
            <a:ext cx="7315200" cy="256032"/>
          </a:xfrm>
          <a:prstGeom prst="rect">
            <a:avLst/>
          </a:prstGeom>
          <a:noFill/>
          <a:ln/>
        </p:spPr>
        <p:txBody>
          <a:bodyPr wrap="square" rtlCol="0" anchor="ctr"/>
          <a:lstStyle/>
          <a:p>
            <a:r>
              <a:rPr lang="en-US" sz="850" dirty="0">
                <a:solidFill>
                  <a:srgbClr val="5B6B5C"/>
                </a:solidFill>
                <a:latin typeface="Calibri" pitchFamily="34" charset="0"/>
                <a:ea typeface="Calibri" pitchFamily="34" charset="-122"/>
                <a:cs typeface="Calibri" pitchFamily="34" charset="-120"/>
              </a:rPr>
              <a:t>Analysis of </a:t>
            </a:r>
            <a:r>
              <a:rPr lang="en-US" sz="850" dirty="0">
                <a:solidFill>
                  <a:srgbClr val="5B6B5C"/>
                </a:solidFill>
                <a:ea typeface="Cambria" panose="02040503050406030204" pitchFamily="18" charset="0"/>
                <a:cs typeface="Calibri"/>
                <a:sym typeface="Calibri"/>
              </a:rPr>
              <a:t>Analysis of Soil and Environmental Parameters Across Different Crops</a:t>
            </a:r>
            <a:r>
              <a:rPr lang="en-US" sz="850" dirty="0">
                <a:solidFill>
                  <a:srgbClr val="5B6B5C"/>
                </a:solidFill>
                <a:ea typeface="Calibri" pitchFamily="34" charset="-122"/>
                <a:cs typeface="Calibri" pitchFamily="34" charset="-120"/>
              </a:rPr>
              <a:t>  </a:t>
            </a:r>
            <a:r>
              <a:rPr lang="en-US" sz="850" dirty="0">
                <a:solidFill>
                  <a:srgbClr val="5B6B5C"/>
                </a:solidFill>
                <a:latin typeface="Calibri" pitchFamily="34" charset="0"/>
                <a:ea typeface="Calibri" pitchFamily="34" charset="-122"/>
                <a:cs typeface="Calibri" pitchFamily="34" charset="-120"/>
              </a:rPr>
              <a:t>|  Exploratory Data Analysis</a:t>
            </a:r>
            <a:endParaRPr lang="en-US" sz="850" dirty="0"/>
          </a:p>
        </p:txBody>
      </p:sp>
      <p:sp>
        <p:nvSpPr>
          <p:cNvPr id="4" name="Text 2"/>
          <p:cNvSpPr/>
          <p:nvPr/>
        </p:nvSpPr>
        <p:spPr>
          <a:xfrm>
            <a:off x="11185855" y="6547104"/>
            <a:ext cx="548640" cy="256032"/>
          </a:xfrm>
          <a:prstGeom prst="rect">
            <a:avLst/>
          </a:prstGeom>
          <a:noFill/>
          <a:ln/>
        </p:spPr>
        <p:txBody>
          <a:bodyPr wrap="square" rtlCol="0" anchor="ctr"/>
          <a:lstStyle/>
          <a:p>
            <a:pPr marL="0" indent="0" algn="r">
              <a:buNone/>
            </a:pPr>
            <a:r>
              <a:rPr lang="en-US" sz="900" dirty="0">
                <a:solidFill>
                  <a:srgbClr val="5B6B5C"/>
                </a:solidFill>
                <a:latin typeface="Calibri" pitchFamily="34" charset="0"/>
                <a:ea typeface="Calibri" pitchFamily="34" charset="-122"/>
                <a:cs typeface="Calibri" pitchFamily="34" charset="-120"/>
              </a:rPr>
              <a:t>4</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866505304"/>
              </p:ext>
            </p:extLst>
          </p:nvPr>
        </p:nvGraphicFramePr>
        <p:xfrm>
          <a:off x="548640" y="1201778"/>
          <a:ext cx="10911535" cy="4330341"/>
        </p:xfrm>
        <a:graphic>
          <a:graphicData uri="http://schemas.openxmlformats.org/drawingml/2006/table">
            <a:tbl>
              <a:tblPr/>
              <a:tblGrid>
                <a:gridCol w="1636907">
                  <a:extLst>
                    <a:ext uri="{9D8B030D-6E8A-4147-A177-3AD203B41FA5}">
                      <a16:colId xmlns:a16="http://schemas.microsoft.com/office/drawing/2014/main" val="20000"/>
                    </a:ext>
                  </a:extLst>
                </a:gridCol>
                <a:gridCol w="2492618">
                  <a:extLst>
                    <a:ext uri="{9D8B030D-6E8A-4147-A177-3AD203B41FA5}">
                      <a16:colId xmlns:a16="http://schemas.microsoft.com/office/drawing/2014/main" val="20001"/>
                    </a:ext>
                  </a:extLst>
                </a:gridCol>
                <a:gridCol w="1572908">
                  <a:extLst>
                    <a:ext uri="{9D8B030D-6E8A-4147-A177-3AD203B41FA5}">
                      <a16:colId xmlns:a16="http://schemas.microsoft.com/office/drawing/2014/main" val="20002"/>
                    </a:ext>
                  </a:extLst>
                </a:gridCol>
                <a:gridCol w="5209102">
                  <a:extLst>
                    <a:ext uri="{9D8B030D-6E8A-4147-A177-3AD203B41FA5}">
                      <a16:colId xmlns:a16="http://schemas.microsoft.com/office/drawing/2014/main" val="20003"/>
                    </a:ext>
                  </a:extLst>
                </a:gridCol>
              </a:tblGrid>
              <a:tr h="481149">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Column</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2C5F2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2C5F2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2C5F2D"/>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Description</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481149">
                <a:tc>
                  <a:txBody>
                    <a:bodyPr/>
                    <a:lstStyle/>
                    <a:p>
                      <a:pPr marL="0" indent="0">
                        <a:buNone/>
                      </a:pPr>
                      <a:r>
                        <a:rPr lang="en-US" sz="1400" b="1" dirty="0">
                          <a:solidFill>
                            <a:srgbClr val="232D24"/>
                          </a:solidFill>
                          <a:latin typeface="Courier New" pitchFamily="34" charset="0"/>
                          <a:ea typeface="Courier New" pitchFamily="34" charset="-122"/>
                          <a:cs typeface="Courier New" pitchFamily="34" charset="-120"/>
                        </a:rPr>
                        <a:t>N</a:t>
                      </a:r>
                      <a:endParaRPr lang="en-US" sz="1400" b="1" dirty="0">
                        <a:latin typeface="Courier New" charset="0"/>
                        <a:ea typeface="Courier New" charset="0"/>
                        <a:cs typeface="Courier New"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FFFFF"/>
                    </a:solidFill>
                  </a:tcPr>
                </a:tc>
                <a:tc>
                  <a:txBody>
                    <a:bodyPr/>
                    <a:lstStyle/>
                    <a:p>
                      <a:pPr marL="0" indent="0">
                        <a:buNone/>
                      </a:pPr>
                      <a:r>
                        <a:rPr lang="en-US" sz="1400" dirty="0">
                          <a:solidFill>
                            <a:srgbClr val="232D24"/>
                          </a:solidFill>
                          <a:latin typeface="Calibri" pitchFamily="34" charset="0"/>
                          <a:ea typeface="Calibri" pitchFamily="34" charset="-122"/>
                          <a:cs typeface="Calibri" pitchFamily="34" charset="-120"/>
                        </a:rPr>
                        <a:t>Numerical (int)</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FFFFF"/>
                    </a:solidFill>
                  </a:tcPr>
                </a:tc>
                <a:tc>
                  <a:txBody>
                    <a:bodyPr/>
                    <a:lstStyle/>
                    <a:p>
                      <a:pPr marL="0" indent="0">
                        <a:buNone/>
                      </a:pPr>
                      <a:r>
                        <a:rPr lang="en-US" sz="1400" b="1" dirty="0">
                          <a:solidFill>
                            <a:srgbClr val="2C5F2D"/>
                          </a:solidFill>
                          <a:latin typeface="Calibri" pitchFamily="34" charset="0"/>
                          <a:ea typeface="Calibri" pitchFamily="34" charset="-122"/>
                          <a:cs typeface="Calibri" pitchFamily="34" charset="-120"/>
                        </a:rPr>
                        <a:t>Feature</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FFFFF"/>
                    </a:solidFill>
                  </a:tcPr>
                </a:tc>
                <a:tc>
                  <a:txBody>
                    <a:bodyPr/>
                    <a:lstStyle/>
                    <a:p>
                      <a:pPr marL="0" indent="0">
                        <a:buNone/>
                      </a:pPr>
                      <a:r>
                        <a:rPr lang="en-US" sz="1400" dirty="0">
                          <a:solidFill>
                            <a:srgbClr val="232D24"/>
                          </a:solidFill>
                          <a:latin typeface="Calibri" pitchFamily="34" charset="0"/>
                          <a:ea typeface="Calibri" pitchFamily="34" charset="-122"/>
                          <a:cs typeface="Calibri" pitchFamily="34" charset="-120"/>
                        </a:rPr>
                        <a:t>It Represents Nitrogen content in soil (kg/ha)</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1149">
                <a:tc>
                  <a:txBody>
                    <a:bodyPr/>
                    <a:lstStyle/>
                    <a:p>
                      <a:pPr marL="0" indent="0">
                        <a:buNone/>
                      </a:pPr>
                      <a:r>
                        <a:rPr lang="en-US" sz="1400" b="1" dirty="0">
                          <a:solidFill>
                            <a:srgbClr val="232D24"/>
                          </a:solidFill>
                          <a:latin typeface="Courier New" pitchFamily="34" charset="0"/>
                          <a:ea typeface="Courier New" pitchFamily="34" charset="-122"/>
                          <a:cs typeface="Courier New" pitchFamily="34" charset="-120"/>
                        </a:rPr>
                        <a:t>P</a:t>
                      </a:r>
                      <a:endParaRPr lang="en-US" sz="1400" b="1" dirty="0">
                        <a:latin typeface="Courier New" charset="0"/>
                        <a:ea typeface="Courier New" charset="0"/>
                        <a:cs typeface="Courier New"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2F5F0"/>
                    </a:solidFill>
                  </a:tcPr>
                </a:tc>
                <a:tc>
                  <a:txBody>
                    <a:bodyPr/>
                    <a:lstStyle/>
                    <a:p>
                      <a:pPr marL="0" indent="0">
                        <a:buNone/>
                      </a:pPr>
                      <a:r>
                        <a:rPr lang="en-US" sz="1400" dirty="0">
                          <a:solidFill>
                            <a:srgbClr val="232D24"/>
                          </a:solidFill>
                          <a:latin typeface="Calibri" pitchFamily="34" charset="0"/>
                          <a:ea typeface="Calibri" pitchFamily="34" charset="-122"/>
                          <a:cs typeface="Calibri" pitchFamily="34" charset="-120"/>
                        </a:rPr>
                        <a:t>Numerical (int)</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2F5F0"/>
                    </a:solidFill>
                  </a:tcPr>
                </a:tc>
                <a:tc>
                  <a:txBody>
                    <a:bodyPr/>
                    <a:lstStyle/>
                    <a:p>
                      <a:pPr marL="0" indent="0">
                        <a:buNone/>
                      </a:pPr>
                      <a:r>
                        <a:rPr lang="en-US" sz="1400" b="1" dirty="0">
                          <a:solidFill>
                            <a:srgbClr val="2C5F2D"/>
                          </a:solidFill>
                          <a:latin typeface="Calibri" pitchFamily="34" charset="0"/>
                          <a:ea typeface="Calibri" pitchFamily="34" charset="-122"/>
                          <a:cs typeface="Calibri" pitchFamily="34" charset="-120"/>
                        </a:rPr>
                        <a:t>Feature</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2F5F0"/>
                    </a:solidFill>
                  </a:tcPr>
                </a:tc>
                <a:tc>
                  <a:txBody>
                    <a:bodyPr/>
                    <a:lstStyle/>
                    <a:p>
                      <a:pPr marL="0" indent="0">
                        <a:buNone/>
                      </a:pPr>
                      <a:r>
                        <a:rPr lang="en-US" sz="1400" dirty="0">
                          <a:solidFill>
                            <a:srgbClr val="232D24"/>
                          </a:solidFill>
                          <a:latin typeface="Calibri" pitchFamily="34" charset="0"/>
                          <a:ea typeface="Calibri" pitchFamily="34" charset="-122"/>
                          <a:cs typeface="Calibri" pitchFamily="34" charset="-120"/>
                        </a:rPr>
                        <a:t>It Represents Phosphorus content in soil (kg/ha)</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2F5F0"/>
                    </a:solidFill>
                  </a:tcPr>
                </a:tc>
                <a:extLst>
                  <a:ext uri="{0D108BD9-81ED-4DB2-BD59-A6C34878D82A}">
                    <a16:rowId xmlns:a16="http://schemas.microsoft.com/office/drawing/2014/main" val="10002"/>
                  </a:ext>
                </a:extLst>
              </a:tr>
              <a:tr h="481149">
                <a:tc>
                  <a:txBody>
                    <a:bodyPr/>
                    <a:lstStyle/>
                    <a:p>
                      <a:pPr marL="0" indent="0">
                        <a:buNone/>
                      </a:pPr>
                      <a:r>
                        <a:rPr lang="en-US" sz="1400" b="1" dirty="0">
                          <a:solidFill>
                            <a:srgbClr val="232D24"/>
                          </a:solidFill>
                          <a:latin typeface="Courier New" pitchFamily="34" charset="0"/>
                          <a:ea typeface="Courier New" pitchFamily="34" charset="-122"/>
                          <a:cs typeface="Courier New" pitchFamily="34" charset="-120"/>
                        </a:rPr>
                        <a:t>K</a:t>
                      </a:r>
                      <a:endParaRPr lang="en-US" sz="1400" b="1" dirty="0">
                        <a:latin typeface="Courier New" charset="0"/>
                        <a:ea typeface="Courier New" charset="0"/>
                        <a:cs typeface="Courier New"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FFFFF"/>
                    </a:solidFill>
                  </a:tcPr>
                </a:tc>
                <a:tc>
                  <a:txBody>
                    <a:bodyPr/>
                    <a:lstStyle/>
                    <a:p>
                      <a:pPr marL="0" indent="0">
                        <a:buNone/>
                      </a:pPr>
                      <a:r>
                        <a:rPr lang="en-US" sz="1400" dirty="0">
                          <a:solidFill>
                            <a:srgbClr val="232D24"/>
                          </a:solidFill>
                          <a:latin typeface="Calibri" pitchFamily="34" charset="0"/>
                          <a:ea typeface="Calibri" pitchFamily="34" charset="-122"/>
                          <a:cs typeface="Calibri" pitchFamily="34" charset="-120"/>
                        </a:rPr>
                        <a:t>Numerical (int)</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FFFFF"/>
                    </a:solidFill>
                  </a:tcPr>
                </a:tc>
                <a:tc>
                  <a:txBody>
                    <a:bodyPr/>
                    <a:lstStyle/>
                    <a:p>
                      <a:pPr marL="0" indent="0">
                        <a:buNone/>
                      </a:pPr>
                      <a:r>
                        <a:rPr lang="en-US" sz="1400" b="1" dirty="0">
                          <a:solidFill>
                            <a:srgbClr val="2C5F2D"/>
                          </a:solidFill>
                          <a:latin typeface="Calibri" pitchFamily="34" charset="0"/>
                          <a:ea typeface="Calibri" pitchFamily="34" charset="-122"/>
                          <a:cs typeface="Calibri" pitchFamily="34" charset="-120"/>
                        </a:rPr>
                        <a:t>Feature</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FFFFF"/>
                    </a:solidFill>
                  </a:tcPr>
                </a:tc>
                <a:tc>
                  <a:txBody>
                    <a:bodyPr/>
                    <a:lstStyle/>
                    <a:p>
                      <a:pPr marL="0" indent="0">
                        <a:buNone/>
                      </a:pPr>
                      <a:r>
                        <a:rPr lang="en-US" sz="1400" dirty="0">
                          <a:solidFill>
                            <a:srgbClr val="232D24"/>
                          </a:solidFill>
                          <a:latin typeface="Calibri" pitchFamily="34" charset="0"/>
                          <a:ea typeface="Calibri" pitchFamily="34" charset="-122"/>
                          <a:cs typeface="Calibri" pitchFamily="34" charset="-120"/>
                        </a:rPr>
                        <a:t>It Represents Potassium content in soil (kg/ha)</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81149">
                <a:tc>
                  <a:txBody>
                    <a:bodyPr/>
                    <a:lstStyle/>
                    <a:p>
                      <a:pPr marL="0" indent="0">
                        <a:buNone/>
                      </a:pPr>
                      <a:r>
                        <a:rPr lang="en-US" sz="1400" b="1" dirty="0">
                          <a:solidFill>
                            <a:srgbClr val="232D24"/>
                          </a:solidFill>
                          <a:latin typeface="Courier New" pitchFamily="34" charset="0"/>
                          <a:ea typeface="Courier New" pitchFamily="34" charset="-122"/>
                          <a:cs typeface="Courier New" pitchFamily="34" charset="-120"/>
                        </a:rPr>
                        <a:t>Temperature</a:t>
                      </a:r>
                      <a:endParaRPr lang="en-US" sz="1400" b="1" dirty="0">
                        <a:latin typeface="Courier New" charset="0"/>
                        <a:ea typeface="Courier New" charset="0"/>
                        <a:cs typeface="Courier New"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2F5F0"/>
                    </a:solidFill>
                  </a:tcPr>
                </a:tc>
                <a:tc>
                  <a:txBody>
                    <a:bodyPr/>
                    <a:lstStyle/>
                    <a:p>
                      <a:pPr marL="0" indent="0">
                        <a:buNone/>
                      </a:pPr>
                      <a:r>
                        <a:rPr lang="en-US" sz="1400" dirty="0">
                          <a:solidFill>
                            <a:srgbClr val="232D24"/>
                          </a:solidFill>
                          <a:latin typeface="Calibri" pitchFamily="34" charset="0"/>
                          <a:ea typeface="Calibri" pitchFamily="34" charset="-122"/>
                          <a:cs typeface="Calibri" pitchFamily="34" charset="-120"/>
                        </a:rPr>
                        <a:t>Numerical (float)</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2F5F0"/>
                    </a:solidFill>
                  </a:tcPr>
                </a:tc>
                <a:tc>
                  <a:txBody>
                    <a:bodyPr/>
                    <a:lstStyle/>
                    <a:p>
                      <a:pPr marL="0" indent="0">
                        <a:buNone/>
                      </a:pPr>
                      <a:r>
                        <a:rPr lang="en-US" sz="1400" b="1" dirty="0">
                          <a:solidFill>
                            <a:srgbClr val="2C5F2D"/>
                          </a:solidFill>
                          <a:latin typeface="Calibri" pitchFamily="34" charset="0"/>
                          <a:ea typeface="Calibri" pitchFamily="34" charset="-122"/>
                          <a:cs typeface="Calibri" pitchFamily="34" charset="-120"/>
                        </a:rPr>
                        <a:t>Feature</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2F5F0"/>
                    </a:solidFill>
                  </a:tcPr>
                </a:tc>
                <a:tc>
                  <a:txBody>
                    <a:bodyPr/>
                    <a:lstStyle/>
                    <a:p>
                      <a:pPr marL="0" indent="0">
                        <a:buNone/>
                      </a:pPr>
                      <a:r>
                        <a:rPr lang="en-US" sz="1400" dirty="0">
                          <a:solidFill>
                            <a:srgbClr val="232D24"/>
                          </a:solidFill>
                          <a:latin typeface="Calibri" pitchFamily="34" charset="0"/>
                          <a:ea typeface="Calibri" pitchFamily="34" charset="-122"/>
                          <a:cs typeface="Calibri" pitchFamily="34" charset="-120"/>
                        </a:rPr>
                        <a:t>It Represents Ambient temperature (°C) of the Area</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2F5F0"/>
                    </a:solidFill>
                  </a:tcPr>
                </a:tc>
                <a:extLst>
                  <a:ext uri="{0D108BD9-81ED-4DB2-BD59-A6C34878D82A}">
                    <a16:rowId xmlns:a16="http://schemas.microsoft.com/office/drawing/2014/main" val="10004"/>
                  </a:ext>
                </a:extLst>
              </a:tr>
              <a:tr h="481149">
                <a:tc>
                  <a:txBody>
                    <a:bodyPr/>
                    <a:lstStyle/>
                    <a:p>
                      <a:pPr marL="0" indent="0">
                        <a:buNone/>
                      </a:pPr>
                      <a:r>
                        <a:rPr lang="en-US" sz="1400" b="1" dirty="0">
                          <a:solidFill>
                            <a:srgbClr val="232D24"/>
                          </a:solidFill>
                          <a:latin typeface="Courier New" pitchFamily="34" charset="0"/>
                          <a:ea typeface="Courier New" pitchFamily="34" charset="-122"/>
                          <a:cs typeface="Courier New" pitchFamily="34" charset="-120"/>
                        </a:rPr>
                        <a:t>Humidity</a:t>
                      </a:r>
                      <a:endParaRPr lang="en-US" sz="1400" b="1" dirty="0">
                        <a:latin typeface="Courier New" charset="0"/>
                        <a:ea typeface="Courier New" charset="0"/>
                        <a:cs typeface="Courier New"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FFFFF"/>
                    </a:solidFill>
                  </a:tcPr>
                </a:tc>
                <a:tc>
                  <a:txBody>
                    <a:bodyPr/>
                    <a:lstStyle/>
                    <a:p>
                      <a:pPr marL="0" indent="0">
                        <a:buNone/>
                      </a:pPr>
                      <a:r>
                        <a:rPr lang="en-US" sz="1400" dirty="0">
                          <a:solidFill>
                            <a:srgbClr val="232D24"/>
                          </a:solidFill>
                          <a:latin typeface="Calibri" pitchFamily="34" charset="0"/>
                          <a:ea typeface="Calibri" pitchFamily="34" charset="-122"/>
                          <a:cs typeface="Calibri" pitchFamily="34" charset="-120"/>
                        </a:rPr>
                        <a:t>Numerical (float)</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FFFFF"/>
                    </a:solidFill>
                  </a:tcPr>
                </a:tc>
                <a:tc>
                  <a:txBody>
                    <a:bodyPr/>
                    <a:lstStyle/>
                    <a:p>
                      <a:pPr marL="0" indent="0">
                        <a:buNone/>
                      </a:pPr>
                      <a:r>
                        <a:rPr lang="en-US" sz="1400" b="1" dirty="0">
                          <a:solidFill>
                            <a:srgbClr val="2C5F2D"/>
                          </a:solidFill>
                          <a:latin typeface="Calibri" pitchFamily="34" charset="0"/>
                          <a:ea typeface="Calibri" pitchFamily="34" charset="-122"/>
                          <a:cs typeface="Calibri" pitchFamily="34" charset="-120"/>
                        </a:rPr>
                        <a:t>Feature</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FFFFF"/>
                    </a:solidFill>
                  </a:tcPr>
                </a:tc>
                <a:tc>
                  <a:txBody>
                    <a:bodyPr/>
                    <a:lstStyle/>
                    <a:p>
                      <a:pPr marL="0" indent="0">
                        <a:buNone/>
                      </a:pPr>
                      <a:r>
                        <a:rPr lang="en-US" sz="1400" dirty="0">
                          <a:solidFill>
                            <a:srgbClr val="232D24"/>
                          </a:solidFill>
                          <a:latin typeface="Calibri" pitchFamily="34" charset="0"/>
                          <a:ea typeface="Calibri" pitchFamily="34" charset="-122"/>
                          <a:cs typeface="Calibri" pitchFamily="34" charset="-120"/>
                        </a:rPr>
                        <a:t>It Represents Relative humidity (%) of the Area</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81149">
                <a:tc>
                  <a:txBody>
                    <a:bodyPr/>
                    <a:lstStyle/>
                    <a:p>
                      <a:pPr marL="0" indent="0">
                        <a:buNone/>
                      </a:pPr>
                      <a:r>
                        <a:rPr lang="en-US" sz="1400" b="1" dirty="0">
                          <a:solidFill>
                            <a:srgbClr val="232D24"/>
                          </a:solidFill>
                          <a:latin typeface="Courier New" pitchFamily="34" charset="0"/>
                          <a:ea typeface="Courier New" pitchFamily="34" charset="-122"/>
                          <a:cs typeface="Courier New" pitchFamily="34" charset="-120"/>
                        </a:rPr>
                        <a:t>pH</a:t>
                      </a:r>
                      <a:endParaRPr lang="en-US" sz="1400" b="1" dirty="0">
                        <a:latin typeface="Courier New" charset="0"/>
                        <a:ea typeface="Courier New" charset="0"/>
                        <a:cs typeface="Courier New"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2F5F0"/>
                    </a:solidFill>
                  </a:tcPr>
                </a:tc>
                <a:tc>
                  <a:txBody>
                    <a:bodyPr/>
                    <a:lstStyle/>
                    <a:p>
                      <a:pPr marL="0" indent="0">
                        <a:buNone/>
                      </a:pPr>
                      <a:r>
                        <a:rPr lang="en-US" sz="1400" dirty="0">
                          <a:solidFill>
                            <a:srgbClr val="232D24"/>
                          </a:solidFill>
                          <a:latin typeface="Calibri" pitchFamily="34" charset="0"/>
                          <a:ea typeface="Calibri" pitchFamily="34" charset="-122"/>
                          <a:cs typeface="Calibri" pitchFamily="34" charset="-120"/>
                        </a:rPr>
                        <a:t>Numerical (float)</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2F5F0"/>
                    </a:solidFill>
                  </a:tcPr>
                </a:tc>
                <a:tc>
                  <a:txBody>
                    <a:bodyPr/>
                    <a:lstStyle/>
                    <a:p>
                      <a:pPr marL="0" indent="0">
                        <a:buNone/>
                      </a:pPr>
                      <a:r>
                        <a:rPr lang="en-US" sz="1400" b="1" dirty="0">
                          <a:solidFill>
                            <a:srgbClr val="2C5F2D"/>
                          </a:solidFill>
                          <a:latin typeface="Calibri" pitchFamily="34" charset="0"/>
                          <a:ea typeface="Calibri" pitchFamily="34" charset="-122"/>
                          <a:cs typeface="Calibri" pitchFamily="34" charset="-120"/>
                        </a:rPr>
                        <a:t>Feature</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2F5F0"/>
                    </a:solidFill>
                  </a:tcPr>
                </a:tc>
                <a:tc>
                  <a:txBody>
                    <a:bodyPr/>
                    <a:lstStyle/>
                    <a:p>
                      <a:pPr marL="0" indent="0">
                        <a:buNone/>
                      </a:pPr>
                      <a:r>
                        <a:rPr lang="en-US" sz="1400" dirty="0">
                          <a:solidFill>
                            <a:srgbClr val="232D24"/>
                          </a:solidFill>
                          <a:latin typeface="Calibri" pitchFamily="34" charset="0"/>
                          <a:ea typeface="Calibri" pitchFamily="34" charset="-122"/>
                          <a:cs typeface="Calibri" pitchFamily="34" charset="-120"/>
                        </a:rPr>
                        <a:t>It Represents Soil pH value</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2F5F0"/>
                    </a:solidFill>
                  </a:tcPr>
                </a:tc>
                <a:extLst>
                  <a:ext uri="{0D108BD9-81ED-4DB2-BD59-A6C34878D82A}">
                    <a16:rowId xmlns:a16="http://schemas.microsoft.com/office/drawing/2014/main" val="10006"/>
                  </a:ext>
                </a:extLst>
              </a:tr>
              <a:tr h="481149">
                <a:tc>
                  <a:txBody>
                    <a:bodyPr/>
                    <a:lstStyle/>
                    <a:p>
                      <a:pPr marL="0" indent="0">
                        <a:buNone/>
                      </a:pPr>
                      <a:r>
                        <a:rPr lang="en-US" sz="1400" b="1" dirty="0">
                          <a:solidFill>
                            <a:srgbClr val="232D24"/>
                          </a:solidFill>
                          <a:latin typeface="Courier New" pitchFamily="34" charset="0"/>
                          <a:ea typeface="Courier New" pitchFamily="34" charset="-122"/>
                          <a:cs typeface="Courier New" pitchFamily="34" charset="-120"/>
                        </a:rPr>
                        <a:t>Rainfall</a:t>
                      </a:r>
                      <a:endParaRPr lang="en-US" sz="1400" b="1" dirty="0">
                        <a:latin typeface="Courier New" charset="0"/>
                        <a:ea typeface="Courier New" charset="0"/>
                        <a:cs typeface="Courier New"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FFFFF"/>
                    </a:solidFill>
                  </a:tcPr>
                </a:tc>
                <a:tc>
                  <a:txBody>
                    <a:bodyPr/>
                    <a:lstStyle/>
                    <a:p>
                      <a:pPr marL="0" indent="0">
                        <a:buNone/>
                      </a:pPr>
                      <a:r>
                        <a:rPr lang="en-US" sz="1400" dirty="0">
                          <a:solidFill>
                            <a:srgbClr val="232D24"/>
                          </a:solidFill>
                          <a:latin typeface="Calibri" pitchFamily="34" charset="0"/>
                          <a:ea typeface="Calibri" pitchFamily="34" charset="-122"/>
                          <a:cs typeface="Calibri" pitchFamily="34" charset="-120"/>
                        </a:rPr>
                        <a:t>Numerical (float)</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FFFFF"/>
                    </a:solidFill>
                  </a:tcPr>
                </a:tc>
                <a:tc>
                  <a:txBody>
                    <a:bodyPr/>
                    <a:lstStyle/>
                    <a:p>
                      <a:pPr marL="0" indent="0">
                        <a:buNone/>
                      </a:pPr>
                      <a:r>
                        <a:rPr lang="en-US" sz="1400" b="1" dirty="0">
                          <a:solidFill>
                            <a:srgbClr val="2C5F2D"/>
                          </a:solidFill>
                          <a:latin typeface="Calibri" pitchFamily="34" charset="0"/>
                          <a:ea typeface="Calibri" pitchFamily="34" charset="-122"/>
                          <a:cs typeface="Calibri" pitchFamily="34" charset="-120"/>
                        </a:rPr>
                        <a:t>Feature</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FFFFF"/>
                    </a:solidFill>
                  </a:tcPr>
                </a:tc>
                <a:tc>
                  <a:txBody>
                    <a:bodyPr/>
                    <a:lstStyle/>
                    <a:p>
                      <a:pPr marL="0" indent="0">
                        <a:buNone/>
                      </a:pPr>
                      <a:r>
                        <a:rPr lang="en-US" sz="1400" dirty="0">
                          <a:solidFill>
                            <a:srgbClr val="232D24"/>
                          </a:solidFill>
                          <a:latin typeface="Calibri" pitchFamily="34" charset="0"/>
                          <a:ea typeface="Calibri" pitchFamily="34" charset="-122"/>
                          <a:cs typeface="Calibri" pitchFamily="34" charset="-120"/>
                        </a:rPr>
                        <a:t>It Represents Rainfall (mm) of a specific area</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81149">
                <a:tc>
                  <a:txBody>
                    <a:bodyPr/>
                    <a:lstStyle/>
                    <a:p>
                      <a:pPr marL="0" indent="0">
                        <a:buNone/>
                      </a:pPr>
                      <a:r>
                        <a:rPr lang="en-US" sz="1400" b="1" dirty="0">
                          <a:solidFill>
                            <a:srgbClr val="232D24"/>
                          </a:solidFill>
                          <a:latin typeface="Courier New" pitchFamily="34" charset="0"/>
                          <a:ea typeface="Courier New" pitchFamily="34" charset="-122"/>
                          <a:cs typeface="Courier New" pitchFamily="34" charset="-120"/>
                        </a:rPr>
                        <a:t>Label</a:t>
                      </a:r>
                      <a:endParaRPr lang="en-US" sz="1400" b="1" dirty="0">
                        <a:latin typeface="Courier New" charset="0"/>
                        <a:ea typeface="Courier New" charset="0"/>
                        <a:cs typeface="Courier New"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2F5F0"/>
                    </a:solidFill>
                  </a:tcPr>
                </a:tc>
                <a:tc>
                  <a:txBody>
                    <a:bodyPr/>
                    <a:lstStyle/>
                    <a:p>
                      <a:pPr marL="0" indent="0">
                        <a:buNone/>
                      </a:pPr>
                      <a:r>
                        <a:rPr lang="en-US" sz="1400" dirty="0">
                          <a:solidFill>
                            <a:srgbClr val="232D24"/>
                          </a:solidFill>
                          <a:latin typeface="Calibri" pitchFamily="34" charset="0"/>
                          <a:ea typeface="Calibri" pitchFamily="34" charset="-122"/>
                          <a:cs typeface="Calibri" pitchFamily="34" charset="-120"/>
                        </a:rPr>
                        <a:t>Categorical (string)</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2F5F0"/>
                    </a:solidFill>
                  </a:tcPr>
                </a:tc>
                <a:tc>
                  <a:txBody>
                    <a:bodyPr/>
                    <a:lstStyle/>
                    <a:p>
                      <a:pPr marL="0" indent="0">
                        <a:buNone/>
                      </a:pPr>
                      <a:r>
                        <a:rPr lang="en-US" sz="1400" b="1" dirty="0">
                          <a:solidFill>
                            <a:srgbClr val="B85042"/>
                          </a:solidFill>
                          <a:latin typeface="Calibri" pitchFamily="34" charset="0"/>
                          <a:ea typeface="Calibri" pitchFamily="34" charset="-122"/>
                          <a:cs typeface="Calibri" pitchFamily="34" charset="-120"/>
                        </a:rPr>
                        <a:t>Target</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2F5F0"/>
                    </a:solidFill>
                  </a:tcPr>
                </a:tc>
                <a:tc>
                  <a:txBody>
                    <a:bodyPr/>
                    <a:lstStyle/>
                    <a:p>
                      <a:pPr marL="0" indent="0">
                        <a:buNone/>
                      </a:pPr>
                      <a:r>
                        <a:rPr lang="en-US" sz="1400" dirty="0">
                          <a:solidFill>
                            <a:srgbClr val="232D24"/>
                          </a:solidFill>
                          <a:latin typeface="Calibri" pitchFamily="34" charset="0"/>
                          <a:ea typeface="Calibri" pitchFamily="34" charset="-122"/>
                          <a:cs typeface="Calibri" pitchFamily="34" charset="-120"/>
                        </a:rPr>
                        <a:t>It Represents Recommended crop category (22 classes / Crops)</a:t>
                      </a:r>
                      <a:endParaRPr lang="en-US" sz="1400" dirty="0">
                        <a:latin typeface="Calibri" charset="0"/>
                        <a:ea typeface="Calibri" charset="0"/>
                        <a:cs typeface="Calibri" charset="0"/>
                      </a:endParaRPr>
                    </a:p>
                  </a:txBody>
                  <a:tcPr anchor="ctr">
                    <a:lnL w="9525" cap="flat" cmpd="sng" algn="ctr">
                      <a:solidFill>
                        <a:srgbClr val="DDE3DA"/>
                      </a:solidFill>
                      <a:prstDash val="solid"/>
                      <a:round/>
                      <a:headEnd type="none" w="med" len="med"/>
                      <a:tailEnd type="none" w="med" len="med"/>
                    </a:lnL>
                    <a:lnR w="9525" cap="flat" cmpd="sng" algn="ctr">
                      <a:solidFill>
                        <a:srgbClr val="DDE3DA"/>
                      </a:solidFill>
                      <a:prstDash val="solid"/>
                      <a:round/>
                      <a:headEnd type="none" w="med" len="med"/>
                      <a:tailEnd type="none" w="med" len="med"/>
                    </a:lnR>
                    <a:lnT w="9525" cap="flat" cmpd="sng" algn="ctr">
                      <a:solidFill>
                        <a:srgbClr val="DDE3DA"/>
                      </a:solidFill>
                      <a:prstDash val="solid"/>
                      <a:round/>
                      <a:headEnd type="none" w="med" len="med"/>
                      <a:tailEnd type="none" w="med" len="med"/>
                    </a:lnT>
                    <a:lnB w="9525" cap="flat" cmpd="sng" algn="ctr">
                      <a:solidFill>
                        <a:srgbClr val="DDE3DA"/>
                      </a:solidFill>
                      <a:prstDash val="solid"/>
                      <a:round/>
                      <a:headEnd type="none" w="med" len="med"/>
                      <a:tailEnd type="none" w="med" len="med"/>
                    </a:lnB>
                    <a:solidFill>
                      <a:srgbClr val="F2F5F0"/>
                    </a:solidFill>
                  </a:tcPr>
                </a:tc>
                <a:extLst>
                  <a:ext uri="{0D108BD9-81ED-4DB2-BD59-A6C34878D82A}">
                    <a16:rowId xmlns:a16="http://schemas.microsoft.com/office/drawing/2014/main" val="10008"/>
                  </a:ext>
                </a:extLst>
              </a:tr>
            </a:tbl>
          </a:graphicData>
        </a:graphic>
      </p:graphicFrame>
      <p:sp>
        <p:nvSpPr>
          <p:cNvPr id="5" name="Text 3"/>
          <p:cNvSpPr/>
          <p:nvPr/>
        </p:nvSpPr>
        <p:spPr>
          <a:xfrm>
            <a:off x="457200" y="5532120"/>
            <a:ext cx="11277295" cy="640080"/>
          </a:xfrm>
          <a:prstGeom prst="rect">
            <a:avLst/>
          </a:prstGeom>
          <a:noFill/>
          <a:ln/>
        </p:spPr>
        <p:txBody>
          <a:bodyPr wrap="square" rtlCol="0" anchor="ctr"/>
          <a:lstStyle/>
          <a:p>
            <a:pPr marL="0" indent="0">
              <a:lnSpc>
                <a:spcPct val="120000"/>
              </a:lnSpc>
              <a:buNone/>
            </a:pPr>
            <a:r>
              <a:rPr lang="en-US" sz="1200" i="1" dirty="0">
                <a:solidFill>
                  <a:srgbClr val="5B6B5C"/>
                </a:solidFill>
                <a:latin typeface="Calibri" pitchFamily="34" charset="0"/>
                <a:ea typeface="Calibri" pitchFamily="34" charset="-122"/>
                <a:cs typeface="Calibri" pitchFamily="34" charset="-120"/>
              </a:rPr>
              <a:t>"label" represents the crop that is agronomically suited to the corresponding combination of soil nutrients and environmental conditions in each row — it is the categorical target variable around which the bivariate and multivariate analysis is organized.</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47472"/>
            <a:ext cx="11277295" cy="658368"/>
          </a:xfrm>
          <a:prstGeom prst="rect">
            <a:avLst/>
          </a:prstGeom>
          <a:noFill/>
          <a:ln/>
        </p:spPr>
        <p:txBody>
          <a:bodyPr wrap="square" lIns="0" tIns="0" rIns="0" bIns="0" rtlCol="0" anchor="ctr"/>
          <a:lstStyle/>
          <a:p>
            <a:pPr marL="0" indent="0" algn="l">
              <a:buNone/>
            </a:pPr>
            <a:r>
              <a:rPr lang="en-US" sz="3200" b="1" dirty="0">
                <a:solidFill>
                  <a:srgbClr val="2C5F2D"/>
                </a:solidFill>
                <a:latin typeface="Cambria" pitchFamily="34" charset="0"/>
                <a:ea typeface="Cambria" pitchFamily="34" charset="-122"/>
                <a:cs typeface="Cambria" pitchFamily="34" charset="-120"/>
              </a:rPr>
              <a:t>Data Cleaning &amp; Preparation</a:t>
            </a:r>
            <a:endParaRPr lang="en-US" sz="3200" dirty="0"/>
          </a:p>
        </p:txBody>
      </p:sp>
      <p:sp>
        <p:nvSpPr>
          <p:cNvPr id="3" name="Text 1"/>
          <p:cNvSpPr/>
          <p:nvPr/>
        </p:nvSpPr>
        <p:spPr>
          <a:xfrm>
            <a:off x="457200" y="6547104"/>
            <a:ext cx="7315200" cy="256032"/>
          </a:xfrm>
          <a:prstGeom prst="rect">
            <a:avLst/>
          </a:prstGeom>
          <a:noFill/>
          <a:ln/>
        </p:spPr>
        <p:txBody>
          <a:bodyPr wrap="square" rtlCol="0" anchor="ctr"/>
          <a:lstStyle/>
          <a:p>
            <a:r>
              <a:rPr lang="en-US" sz="850" dirty="0">
                <a:solidFill>
                  <a:srgbClr val="5B6B5C"/>
                </a:solidFill>
                <a:latin typeface="Calibri" pitchFamily="34" charset="0"/>
                <a:ea typeface="Calibri" pitchFamily="34" charset="-122"/>
                <a:cs typeface="Calibri" pitchFamily="34" charset="-120"/>
              </a:rPr>
              <a:t>Analysis of </a:t>
            </a:r>
            <a:r>
              <a:rPr lang="en-US" sz="850" dirty="0">
                <a:solidFill>
                  <a:srgbClr val="5B6B5C"/>
                </a:solidFill>
                <a:ea typeface="Cambria" panose="02040503050406030204" pitchFamily="18" charset="0"/>
                <a:cs typeface="Calibri"/>
                <a:sym typeface="Calibri"/>
              </a:rPr>
              <a:t>Analysis of Soil and Environmental Parameters Across Different Crops</a:t>
            </a:r>
            <a:r>
              <a:rPr lang="en-US" sz="850" dirty="0">
                <a:solidFill>
                  <a:srgbClr val="5B6B5C"/>
                </a:solidFill>
                <a:ea typeface="Calibri" pitchFamily="34" charset="-122"/>
                <a:cs typeface="Calibri" pitchFamily="34" charset="-120"/>
              </a:rPr>
              <a:t>  </a:t>
            </a:r>
            <a:r>
              <a:rPr lang="en-US" sz="850" dirty="0">
                <a:solidFill>
                  <a:srgbClr val="5B6B5C"/>
                </a:solidFill>
                <a:latin typeface="Calibri" pitchFamily="34" charset="0"/>
                <a:ea typeface="Calibri" pitchFamily="34" charset="-122"/>
                <a:cs typeface="Calibri" pitchFamily="34" charset="-120"/>
              </a:rPr>
              <a:t>|  Exploratory Data Analysis</a:t>
            </a:r>
            <a:endParaRPr lang="en-US" sz="850" dirty="0"/>
          </a:p>
        </p:txBody>
      </p:sp>
      <p:sp>
        <p:nvSpPr>
          <p:cNvPr id="4" name="Text 2"/>
          <p:cNvSpPr/>
          <p:nvPr/>
        </p:nvSpPr>
        <p:spPr>
          <a:xfrm>
            <a:off x="11185855" y="6547104"/>
            <a:ext cx="548640" cy="256032"/>
          </a:xfrm>
          <a:prstGeom prst="rect">
            <a:avLst/>
          </a:prstGeom>
          <a:noFill/>
          <a:ln/>
        </p:spPr>
        <p:txBody>
          <a:bodyPr wrap="square" rtlCol="0" anchor="ctr"/>
          <a:lstStyle/>
          <a:p>
            <a:pPr marL="0" indent="0" algn="r">
              <a:buNone/>
            </a:pPr>
            <a:r>
              <a:rPr lang="en-US" sz="900" dirty="0">
                <a:solidFill>
                  <a:srgbClr val="5B6B5C"/>
                </a:solidFill>
                <a:latin typeface="Calibri" pitchFamily="34" charset="0"/>
                <a:ea typeface="Calibri" pitchFamily="34" charset="-122"/>
                <a:cs typeface="Calibri" pitchFamily="34" charset="-120"/>
              </a:rPr>
              <a:t>5</a:t>
            </a:r>
            <a:endParaRPr lang="en-US" sz="900" dirty="0"/>
          </a:p>
        </p:txBody>
      </p:sp>
      <p:sp>
        <p:nvSpPr>
          <p:cNvPr id="5" name="Shape 3"/>
          <p:cNvSpPr/>
          <p:nvPr/>
        </p:nvSpPr>
        <p:spPr>
          <a:xfrm>
            <a:off x="457200" y="1569938"/>
            <a:ext cx="237744" cy="237744"/>
          </a:xfrm>
          <a:prstGeom prst="ellipse">
            <a:avLst/>
          </a:prstGeom>
          <a:solidFill>
            <a:srgbClr val="7FA25C"/>
          </a:solidFill>
          <a:ln/>
        </p:spPr>
      </p:sp>
      <p:sp>
        <p:nvSpPr>
          <p:cNvPr id="6" name="Text 4"/>
          <p:cNvSpPr/>
          <p:nvPr/>
        </p:nvSpPr>
        <p:spPr>
          <a:xfrm>
            <a:off x="446619" y="1552882"/>
            <a:ext cx="237744"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7" name="Text 5"/>
          <p:cNvSpPr/>
          <p:nvPr/>
        </p:nvSpPr>
        <p:spPr>
          <a:xfrm>
            <a:off x="807721" y="1462387"/>
            <a:ext cx="5120640" cy="256032"/>
          </a:xfrm>
          <a:prstGeom prst="rect">
            <a:avLst/>
          </a:prstGeom>
          <a:noFill/>
          <a:ln/>
        </p:spPr>
        <p:txBody>
          <a:bodyPr wrap="square" rtlCol="0" anchor="ctr"/>
          <a:lstStyle/>
          <a:p>
            <a:pPr marL="0" indent="0">
              <a:buNone/>
            </a:pPr>
            <a:r>
              <a:rPr lang="en-US" sz="1600" b="1" dirty="0">
                <a:solidFill>
                  <a:srgbClr val="2C5F2D"/>
                </a:solidFill>
                <a:latin typeface="Cambria" panose="02040503050406030204" pitchFamily="18" charset="0"/>
                <a:ea typeface="Cambria" panose="02040503050406030204" pitchFamily="18" charset="0"/>
                <a:cs typeface="Calibri" pitchFamily="34" charset="-120"/>
              </a:rPr>
              <a:t>Shape verified</a:t>
            </a:r>
            <a:endParaRPr lang="en-US" sz="1600" dirty="0">
              <a:latin typeface="Cambria" panose="02040503050406030204" pitchFamily="18" charset="0"/>
              <a:ea typeface="Cambria" panose="02040503050406030204" pitchFamily="18" charset="0"/>
            </a:endParaRPr>
          </a:p>
        </p:txBody>
      </p:sp>
      <p:sp>
        <p:nvSpPr>
          <p:cNvPr id="8" name="Text 6"/>
          <p:cNvSpPr/>
          <p:nvPr/>
        </p:nvSpPr>
        <p:spPr>
          <a:xfrm>
            <a:off x="822960" y="1712867"/>
            <a:ext cx="5120640" cy="329184"/>
          </a:xfrm>
          <a:prstGeom prst="rect">
            <a:avLst/>
          </a:prstGeom>
          <a:noFill/>
          <a:ln/>
        </p:spPr>
        <p:txBody>
          <a:bodyPr wrap="square" rtlCol="0" anchor="ctr"/>
          <a:lstStyle/>
          <a:p>
            <a:pPr marL="0" indent="0">
              <a:lnSpc>
                <a:spcPct val="105000"/>
              </a:lnSpc>
              <a:buNone/>
            </a:pPr>
            <a:r>
              <a:rPr lang="en-US" sz="1400" dirty="0">
                <a:solidFill>
                  <a:srgbClr val="5B6B5C"/>
                </a:solidFill>
                <a:latin typeface="Calibri" pitchFamily="34" charset="0"/>
                <a:ea typeface="Calibri" pitchFamily="34" charset="-122"/>
                <a:cs typeface="Calibri" pitchFamily="34" charset="-120"/>
              </a:rPr>
              <a:t>2,200 rows × 8 columns confirmed with df.shape</a:t>
            </a:r>
            <a:endParaRPr lang="en-US" sz="1400" dirty="0"/>
          </a:p>
        </p:txBody>
      </p:sp>
      <p:sp>
        <p:nvSpPr>
          <p:cNvPr id="9" name="Shape 7"/>
          <p:cNvSpPr/>
          <p:nvPr/>
        </p:nvSpPr>
        <p:spPr>
          <a:xfrm>
            <a:off x="466649" y="2721810"/>
            <a:ext cx="242098" cy="246888"/>
          </a:xfrm>
          <a:prstGeom prst="ellipse">
            <a:avLst/>
          </a:prstGeom>
          <a:solidFill>
            <a:srgbClr val="7FA25C"/>
          </a:solidFill>
          <a:ln/>
        </p:spPr>
      </p:sp>
      <p:sp>
        <p:nvSpPr>
          <p:cNvPr id="10" name="Text 8"/>
          <p:cNvSpPr/>
          <p:nvPr/>
        </p:nvSpPr>
        <p:spPr>
          <a:xfrm>
            <a:off x="457200" y="2748181"/>
            <a:ext cx="237744" cy="21031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1" name="Text 9"/>
          <p:cNvSpPr/>
          <p:nvPr/>
        </p:nvSpPr>
        <p:spPr>
          <a:xfrm>
            <a:off x="807721" y="2694187"/>
            <a:ext cx="5120640" cy="256032"/>
          </a:xfrm>
          <a:prstGeom prst="rect">
            <a:avLst/>
          </a:prstGeom>
          <a:noFill/>
          <a:ln/>
        </p:spPr>
        <p:txBody>
          <a:bodyPr wrap="square" rtlCol="0" anchor="ctr"/>
          <a:lstStyle/>
          <a:p>
            <a:pPr marL="0" indent="0">
              <a:buNone/>
            </a:pPr>
            <a:r>
              <a:rPr lang="en-US" sz="1600" b="1" dirty="0">
                <a:solidFill>
                  <a:srgbClr val="2C5F2D"/>
                </a:solidFill>
                <a:latin typeface="Cambria" panose="02040503050406030204" pitchFamily="18" charset="0"/>
                <a:ea typeface="Cambria" panose="02040503050406030204" pitchFamily="18" charset="0"/>
                <a:cs typeface="Calibri" pitchFamily="34" charset="-120"/>
              </a:rPr>
              <a:t>Column names checked</a:t>
            </a:r>
            <a:endParaRPr lang="en-US" sz="1600" dirty="0">
              <a:latin typeface="Cambria" panose="02040503050406030204" pitchFamily="18" charset="0"/>
              <a:ea typeface="Cambria" panose="02040503050406030204" pitchFamily="18" charset="0"/>
            </a:endParaRPr>
          </a:p>
        </p:txBody>
      </p:sp>
      <p:sp>
        <p:nvSpPr>
          <p:cNvPr id="12" name="Text 10"/>
          <p:cNvSpPr/>
          <p:nvPr/>
        </p:nvSpPr>
        <p:spPr>
          <a:xfrm>
            <a:off x="822960" y="2977748"/>
            <a:ext cx="5120640" cy="329184"/>
          </a:xfrm>
          <a:prstGeom prst="rect">
            <a:avLst/>
          </a:prstGeom>
          <a:noFill/>
          <a:ln/>
        </p:spPr>
        <p:txBody>
          <a:bodyPr wrap="square" rtlCol="0" anchor="ctr"/>
          <a:lstStyle/>
          <a:p>
            <a:pPr marL="0" indent="0">
              <a:lnSpc>
                <a:spcPct val="105000"/>
              </a:lnSpc>
              <a:buNone/>
            </a:pPr>
            <a:r>
              <a:rPr lang="en-US" sz="1400" dirty="0">
                <a:solidFill>
                  <a:srgbClr val="5B6B5C"/>
                </a:solidFill>
                <a:latin typeface="Calibri" pitchFamily="34" charset="0"/>
                <a:ea typeface="Calibri" pitchFamily="34" charset="-122"/>
                <a:cs typeface="Calibri" pitchFamily="34" charset="-120"/>
              </a:rPr>
              <a:t>N, P, K, temperature, humidity, ph, rainfall, label</a:t>
            </a:r>
            <a:endParaRPr lang="en-US" sz="1400" dirty="0"/>
          </a:p>
        </p:txBody>
      </p:sp>
      <p:sp>
        <p:nvSpPr>
          <p:cNvPr id="13" name="Shape 11"/>
          <p:cNvSpPr/>
          <p:nvPr/>
        </p:nvSpPr>
        <p:spPr>
          <a:xfrm>
            <a:off x="471003" y="3927256"/>
            <a:ext cx="237744" cy="237744"/>
          </a:xfrm>
          <a:prstGeom prst="ellipse">
            <a:avLst/>
          </a:prstGeom>
          <a:solidFill>
            <a:srgbClr val="7FA25C"/>
          </a:solidFill>
          <a:ln/>
        </p:spPr>
      </p:sp>
      <p:sp>
        <p:nvSpPr>
          <p:cNvPr id="14" name="Text 12"/>
          <p:cNvSpPr/>
          <p:nvPr/>
        </p:nvSpPr>
        <p:spPr>
          <a:xfrm>
            <a:off x="461554" y="3924610"/>
            <a:ext cx="237744" cy="23774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5" name="Text 13"/>
          <p:cNvSpPr/>
          <p:nvPr/>
        </p:nvSpPr>
        <p:spPr>
          <a:xfrm>
            <a:off x="822960" y="3909438"/>
            <a:ext cx="5120640" cy="256032"/>
          </a:xfrm>
          <a:prstGeom prst="rect">
            <a:avLst/>
          </a:prstGeom>
          <a:noFill/>
          <a:ln/>
        </p:spPr>
        <p:txBody>
          <a:bodyPr wrap="square" rtlCol="0" anchor="ctr"/>
          <a:lstStyle/>
          <a:p>
            <a:pPr marL="0" indent="0">
              <a:buNone/>
            </a:pPr>
            <a:r>
              <a:rPr lang="en-US" sz="1600" b="1" dirty="0">
                <a:solidFill>
                  <a:srgbClr val="2C5F2D"/>
                </a:solidFill>
                <a:latin typeface="Cambria" panose="02040503050406030204" pitchFamily="18" charset="0"/>
                <a:ea typeface="Cambria" panose="02040503050406030204" pitchFamily="18" charset="0"/>
                <a:cs typeface="Calibri" pitchFamily="34" charset="-120"/>
              </a:rPr>
              <a:t>Standardized to lowercase</a:t>
            </a:r>
            <a:endParaRPr lang="en-US" sz="1600" dirty="0">
              <a:latin typeface="Cambria" panose="02040503050406030204" pitchFamily="18" charset="0"/>
              <a:ea typeface="Cambria" panose="02040503050406030204" pitchFamily="18" charset="0"/>
            </a:endParaRPr>
          </a:p>
        </p:txBody>
      </p:sp>
      <p:sp>
        <p:nvSpPr>
          <p:cNvPr id="16" name="Text 14"/>
          <p:cNvSpPr/>
          <p:nvPr/>
        </p:nvSpPr>
        <p:spPr>
          <a:xfrm>
            <a:off x="807721" y="4352360"/>
            <a:ext cx="5120640" cy="329184"/>
          </a:xfrm>
          <a:prstGeom prst="rect">
            <a:avLst/>
          </a:prstGeom>
          <a:noFill/>
          <a:ln/>
        </p:spPr>
        <p:txBody>
          <a:bodyPr wrap="square" rtlCol="0" anchor="ctr"/>
          <a:lstStyle/>
          <a:p>
            <a:pPr marL="0" indent="0">
              <a:lnSpc>
                <a:spcPct val="105000"/>
              </a:lnSpc>
              <a:buNone/>
            </a:pPr>
            <a:r>
              <a:rPr lang="en-US" sz="1400" dirty="0">
                <a:solidFill>
                  <a:srgbClr val="5B6B5C"/>
                </a:solidFill>
                <a:latin typeface="Calibri" pitchFamily="34" charset="0"/>
                <a:ea typeface="Calibri" pitchFamily="34" charset="-122"/>
                <a:cs typeface="Calibri" pitchFamily="34" charset="-120"/>
              </a:rPr>
              <a:t>n, p, k, temperature, humidity, ph, rainfall, label — N/P/K kept in chart labels as standard nutrient symbols</a:t>
            </a:r>
            <a:endParaRPr lang="en-US" sz="1400" dirty="0"/>
          </a:p>
        </p:txBody>
      </p:sp>
      <p:sp>
        <p:nvSpPr>
          <p:cNvPr id="17" name="Shape 15"/>
          <p:cNvSpPr/>
          <p:nvPr/>
        </p:nvSpPr>
        <p:spPr>
          <a:xfrm>
            <a:off x="471003" y="5097780"/>
            <a:ext cx="237744" cy="237744"/>
          </a:xfrm>
          <a:prstGeom prst="ellipse">
            <a:avLst/>
          </a:prstGeom>
          <a:solidFill>
            <a:srgbClr val="7FA25C"/>
          </a:solidFill>
          <a:ln/>
        </p:spPr>
      </p:sp>
      <p:sp>
        <p:nvSpPr>
          <p:cNvPr id="18" name="Text 16"/>
          <p:cNvSpPr/>
          <p:nvPr/>
        </p:nvSpPr>
        <p:spPr>
          <a:xfrm>
            <a:off x="471003" y="5094950"/>
            <a:ext cx="237744" cy="23774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9" name="Text 17"/>
          <p:cNvSpPr/>
          <p:nvPr/>
        </p:nvSpPr>
        <p:spPr>
          <a:xfrm>
            <a:off x="807721" y="4983296"/>
            <a:ext cx="5120640" cy="256032"/>
          </a:xfrm>
          <a:prstGeom prst="rect">
            <a:avLst/>
          </a:prstGeom>
          <a:noFill/>
          <a:ln/>
        </p:spPr>
        <p:txBody>
          <a:bodyPr wrap="square" rtlCol="0" anchor="ctr"/>
          <a:lstStyle/>
          <a:p>
            <a:pPr marL="0" indent="0">
              <a:buNone/>
            </a:pPr>
            <a:r>
              <a:rPr lang="en-US" sz="1600" b="1" dirty="0">
                <a:solidFill>
                  <a:srgbClr val="2C5F2D"/>
                </a:solidFill>
                <a:latin typeface="Cambria" panose="02040503050406030204" pitchFamily="18" charset="0"/>
                <a:ea typeface="Cambria" panose="02040503050406030204" pitchFamily="18" charset="0"/>
                <a:cs typeface="Calibri" pitchFamily="34" charset="-120"/>
              </a:rPr>
              <a:t>Data types verified</a:t>
            </a:r>
            <a:endParaRPr lang="en-US" sz="1600" dirty="0">
              <a:latin typeface="Cambria" panose="02040503050406030204" pitchFamily="18" charset="0"/>
              <a:ea typeface="Cambria" panose="02040503050406030204" pitchFamily="18" charset="0"/>
            </a:endParaRPr>
          </a:p>
        </p:txBody>
      </p:sp>
      <p:sp>
        <p:nvSpPr>
          <p:cNvPr id="20" name="Text 18"/>
          <p:cNvSpPr/>
          <p:nvPr/>
        </p:nvSpPr>
        <p:spPr>
          <a:xfrm>
            <a:off x="822960" y="5291001"/>
            <a:ext cx="5120640" cy="329184"/>
          </a:xfrm>
          <a:prstGeom prst="rect">
            <a:avLst/>
          </a:prstGeom>
          <a:noFill/>
          <a:ln/>
        </p:spPr>
        <p:txBody>
          <a:bodyPr wrap="square" rtlCol="0" anchor="ctr"/>
          <a:lstStyle/>
          <a:p>
            <a:pPr marL="0" indent="0">
              <a:lnSpc>
                <a:spcPct val="105000"/>
              </a:lnSpc>
              <a:buNone/>
            </a:pPr>
            <a:r>
              <a:rPr lang="en-US" sz="1400" dirty="0">
                <a:solidFill>
                  <a:srgbClr val="5B6B5C"/>
                </a:solidFill>
                <a:latin typeface="Calibri" pitchFamily="34" charset="0"/>
                <a:ea typeface="Calibri" pitchFamily="34" charset="-122"/>
                <a:cs typeface="Calibri" pitchFamily="34" charset="-120"/>
              </a:rPr>
              <a:t>3 integer columns, 4 float columns, 1 categorical column</a:t>
            </a:r>
            <a:endParaRPr lang="en-US" sz="1400" dirty="0"/>
          </a:p>
        </p:txBody>
      </p:sp>
      <p:sp>
        <p:nvSpPr>
          <p:cNvPr id="21" name="Shape 19"/>
          <p:cNvSpPr/>
          <p:nvPr/>
        </p:nvSpPr>
        <p:spPr>
          <a:xfrm>
            <a:off x="6612636" y="1438765"/>
            <a:ext cx="237744" cy="237744"/>
          </a:xfrm>
          <a:prstGeom prst="ellipse">
            <a:avLst/>
          </a:prstGeom>
          <a:solidFill>
            <a:srgbClr val="7FA25C"/>
          </a:solidFill>
          <a:ln/>
        </p:spPr>
      </p:sp>
      <p:sp>
        <p:nvSpPr>
          <p:cNvPr id="22" name="Text 20"/>
          <p:cNvSpPr/>
          <p:nvPr/>
        </p:nvSpPr>
        <p:spPr>
          <a:xfrm>
            <a:off x="6597135" y="1437345"/>
            <a:ext cx="237744" cy="23774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3" name="Text 21"/>
          <p:cNvSpPr/>
          <p:nvPr/>
        </p:nvSpPr>
        <p:spPr>
          <a:xfrm>
            <a:off x="6979920" y="1393991"/>
            <a:ext cx="5120640" cy="256032"/>
          </a:xfrm>
          <a:prstGeom prst="rect">
            <a:avLst/>
          </a:prstGeom>
          <a:noFill/>
          <a:ln/>
        </p:spPr>
        <p:txBody>
          <a:bodyPr wrap="square" rtlCol="0" anchor="ctr"/>
          <a:lstStyle/>
          <a:p>
            <a:pPr marL="0" indent="0">
              <a:buNone/>
            </a:pPr>
            <a:r>
              <a:rPr lang="en-US" sz="1600" b="1" dirty="0">
                <a:solidFill>
                  <a:srgbClr val="2C5F2D"/>
                </a:solidFill>
                <a:latin typeface="Cambria" panose="02040503050406030204" pitchFamily="18" charset="0"/>
                <a:ea typeface="Cambria" panose="02040503050406030204" pitchFamily="18" charset="0"/>
                <a:cs typeface="Calibri" pitchFamily="34" charset="-120"/>
              </a:rPr>
              <a:t>Missing values checked</a:t>
            </a:r>
            <a:endParaRPr lang="en-US" sz="1600" dirty="0">
              <a:latin typeface="Cambria" panose="02040503050406030204" pitchFamily="18" charset="0"/>
              <a:ea typeface="Cambria" panose="02040503050406030204" pitchFamily="18" charset="0"/>
            </a:endParaRPr>
          </a:p>
        </p:txBody>
      </p:sp>
      <p:sp>
        <p:nvSpPr>
          <p:cNvPr id="24" name="Text 22"/>
          <p:cNvSpPr/>
          <p:nvPr/>
        </p:nvSpPr>
        <p:spPr>
          <a:xfrm>
            <a:off x="6979920" y="1643090"/>
            <a:ext cx="5120640" cy="329184"/>
          </a:xfrm>
          <a:prstGeom prst="rect">
            <a:avLst/>
          </a:prstGeom>
          <a:noFill/>
          <a:ln/>
        </p:spPr>
        <p:txBody>
          <a:bodyPr wrap="square" rtlCol="0" anchor="ctr"/>
          <a:lstStyle/>
          <a:p>
            <a:pPr marL="0" indent="0">
              <a:lnSpc>
                <a:spcPct val="105000"/>
              </a:lnSpc>
              <a:buNone/>
            </a:pPr>
            <a:r>
              <a:rPr lang="en-US" sz="1400" dirty="0">
                <a:solidFill>
                  <a:srgbClr val="5B6B5C"/>
                </a:solidFill>
                <a:latin typeface="Calibri" pitchFamily="34" charset="0"/>
                <a:ea typeface="Calibri" pitchFamily="34" charset="-122"/>
                <a:cs typeface="Calibri" pitchFamily="34" charset="-120"/>
              </a:rPr>
              <a:t>0 missing values found — no imputation required</a:t>
            </a:r>
            <a:endParaRPr lang="en-US" sz="1400" dirty="0"/>
          </a:p>
        </p:txBody>
      </p:sp>
      <p:sp>
        <p:nvSpPr>
          <p:cNvPr id="25" name="Shape 23"/>
          <p:cNvSpPr/>
          <p:nvPr/>
        </p:nvSpPr>
        <p:spPr>
          <a:xfrm>
            <a:off x="6612636" y="2699521"/>
            <a:ext cx="237744" cy="237744"/>
          </a:xfrm>
          <a:prstGeom prst="ellipse">
            <a:avLst/>
          </a:prstGeom>
          <a:solidFill>
            <a:srgbClr val="7FA25C"/>
          </a:solidFill>
          <a:ln/>
        </p:spPr>
      </p:sp>
      <p:sp>
        <p:nvSpPr>
          <p:cNvPr id="26" name="Text 24"/>
          <p:cNvSpPr/>
          <p:nvPr/>
        </p:nvSpPr>
        <p:spPr>
          <a:xfrm>
            <a:off x="6612636" y="2688787"/>
            <a:ext cx="237744" cy="23774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7" name="Text 25"/>
          <p:cNvSpPr/>
          <p:nvPr/>
        </p:nvSpPr>
        <p:spPr>
          <a:xfrm>
            <a:off x="6979920" y="2662538"/>
            <a:ext cx="5120640" cy="256032"/>
          </a:xfrm>
          <a:prstGeom prst="rect">
            <a:avLst/>
          </a:prstGeom>
          <a:noFill/>
          <a:ln/>
        </p:spPr>
        <p:txBody>
          <a:bodyPr wrap="square" rtlCol="0" anchor="ctr"/>
          <a:lstStyle/>
          <a:p>
            <a:pPr marL="0" indent="0">
              <a:buNone/>
            </a:pPr>
            <a:r>
              <a:rPr lang="en-US" sz="1600" b="1" dirty="0">
                <a:solidFill>
                  <a:srgbClr val="2C5F2D"/>
                </a:solidFill>
                <a:latin typeface="Cambria" panose="02040503050406030204" pitchFamily="18" charset="0"/>
                <a:ea typeface="Cambria" panose="02040503050406030204" pitchFamily="18" charset="0"/>
                <a:cs typeface="Calibri" pitchFamily="34" charset="-120"/>
              </a:rPr>
              <a:t>Duplicates checked</a:t>
            </a:r>
            <a:endParaRPr lang="en-US" sz="1600" dirty="0">
              <a:latin typeface="Cambria" panose="02040503050406030204" pitchFamily="18" charset="0"/>
              <a:ea typeface="Cambria" panose="02040503050406030204" pitchFamily="18" charset="0"/>
            </a:endParaRPr>
          </a:p>
        </p:txBody>
      </p:sp>
      <p:sp>
        <p:nvSpPr>
          <p:cNvPr id="28" name="Text 26"/>
          <p:cNvSpPr/>
          <p:nvPr/>
        </p:nvSpPr>
        <p:spPr>
          <a:xfrm>
            <a:off x="6979920" y="2983614"/>
            <a:ext cx="5120640" cy="329184"/>
          </a:xfrm>
          <a:prstGeom prst="rect">
            <a:avLst/>
          </a:prstGeom>
          <a:noFill/>
          <a:ln/>
        </p:spPr>
        <p:txBody>
          <a:bodyPr wrap="square" rtlCol="0" anchor="ctr"/>
          <a:lstStyle/>
          <a:p>
            <a:pPr marL="0" indent="0">
              <a:lnSpc>
                <a:spcPct val="105000"/>
              </a:lnSpc>
              <a:buNone/>
            </a:pPr>
            <a:r>
              <a:rPr lang="en-US" sz="1400" dirty="0">
                <a:solidFill>
                  <a:srgbClr val="5B6B5C"/>
                </a:solidFill>
                <a:latin typeface="Calibri" pitchFamily="34" charset="0"/>
                <a:ea typeface="Calibri" pitchFamily="34" charset="-122"/>
                <a:cs typeface="Calibri" pitchFamily="34" charset="-120"/>
              </a:rPr>
              <a:t>0 duplicate rows found — no rows removed</a:t>
            </a:r>
            <a:endParaRPr lang="en-US" sz="1400" dirty="0"/>
          </a:p>
        </p:txBody>
      </p:sp>
      <p:sp>
        <p:nvSpPr>
          <p:cNvPr id="29" name="Shape 27"/>
          <p:cNvSpPr/>
          <p:nvPr/>
        </p:nvSpPr>
        <p:spPr>
          <a:xfrm>
            <a:off x="6597135" y="3979692"/>
            <a:ext cx="237744" cy="237744"/>
          </a:xfrm>
          <a:prstGeom prst="ellipse">
            <a:avLst/>
          </a:prstGeom>
          <a:solidFill>
            <a:srgbClr val="7FA25C"/>
          </a:solidFill>
          <a:ln/>
        </p:spPr>
      </p:sp>
      <p:sp>
        <p:nvSpPr>
          <p:cNvPr id="30" name="Text 28"/>
          <p:cNvSpPr/>
          <p:nvPr/>
        </p:nvSpPr>
        <p:spPr>
          <a:xfrm>
            <a:off x="6597135" y="3991514"/>
            <a:ext cx="237744" cy="23774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31" name="Text 29"/>
          <p:cNvSpPr/>
          <p:nvPr/>
        </p:nvSpPr>
        <p:spPr>
          <a:xfrm>
            <a:off x="6979920" y="3909438"/>
            <a:ext cx="5120640" cy="256032"/>
          </a:xfrm>
          <a:prstGeom prst="rect">
            <a:avLst/>
          </a:prstGeom>
          <a:noFill/>
          <a:ln/>
        </p:spPr>
        <p:txBody>
          <a:bodyPr wrap="square" rtlCol="0" anchor="ctr"/>
          <a:lstStyle/>
          <a:p>
            <a:pPr marL="0" indent="0">
              <a:buNone/>
            </a:pPr>
            <a:r>
              <a:rPr lang="en-US" sz="1600" b="1" dirty="0">
                <a:solidFill>
                  <a:srgbClr val="2C5F2D"/>
                </a:solidFill>
                <a:latin typeface="Cambria" panose="02040503050406030204" pitchFamily="18" charset="0"/>
                <a:ea typeface="Cambria" panose="02040503050406030204" pitchFamily="18" charset="0"/>
                <a:cs typeface="Calibri" pitchFamily="34" charset="-120"/>
              </a:rPr>
              <a:t>Outliers analyzed (IQR method)</a:t>
            </a:r>
            <a:endParaRPr lang="en-US" sz="1600" dirty="0">
              <a:latin typeface="Cambria" panose="02040503050406030204" pitchFamily="18" charset="0"/>
              <a:ea typeface="Cambria" panose="02040503050406030204" pitchFamily="18" charset="0"/>
            </a:endParaRPr>
          </a:p>
        </p:txBody>
      </p:sp>
      <p:sp>
        <p:nvSpPr>
          <p:cNvPr id="32" name="Text 30"/>
          <p:cNvSpPr/>
          <p:nvPr/>
        </p:nvSpPr>
        <p:spPr>
          <a:xfrm>
            <a:off x="6979920" y="4275004"/>
            <a:ext cx="5120640" cy="329184"/>
          </a:xfrm>
          <a:prstGeom prst="rect">
            <a:avLst/>
          </a:prstGeom>
          <a:noFill/>
          <a:ln/>
        </p:spPr>
        <p:txBody>
          <a:bodyPr wrap="square" rtlCol="0" anchor="ctr"/>
          <a:lstStyle/>
          <a:p>
            <a:pPr marL="0" indent="0">
              <a:lnSpc>
                <a:spcPct val="105000"/>
              </a:lnSpc>
              <a:buNone/>
            </a:pPr>
            <a:r>
              <a:rPr lang="en-US" sz="1400" dirty="0">
                <a:solidFill>
                  <a:srgbClr val="5B6B5C"/>
                </a:solidFill>
                <a:latin typeface="Calibri" pitchFamily="34" charset="0"/>
                <a:ea typeface="Calibri" pitchFamily="34" charset="-122"/>
                <a:cs typeface="Calibri" pitchFamily="34" charset="-120"/>
              </a:rPr>
              <a:t>Notable in P, K, rainfall, temperature — see chart</a:t>
            </a:r>
            <a:endParaRPr lang="en-US" sz="1400" dirty="0"/>
          </a:p>
        </p:txBody>
      </p:sp>
      <p:sp>
        <p:nvSpPr>
          <p:cNvPr id="33" name="Shape 31"/>
          <p:cNvSpPr/>
          <p:nvPr/>
        </p:nvSpPr>
        <p:spPr>
          <a:xfrm>
            <a:off x="6597135" y="5057918"/>
            <a:ext cx="237744" cy="237744"/>
          </a:xfrm>
          <a:prstGeom prst="ellipse">
            <a:avLst/>
          </a:prstGeom>
          <a:solidFill>
            <a:srgbClr val="7FA25C"/>
          </a:solidFill>
          <a:ln/>
        </p:spPr>
      </p:sp>
      <p:sp>
        <p:nvSpPr>
          <p:cNvPr id="34" name="Text 32"/>
          <p:cNvSpPr/>
          <p:nvPr/>
        </p:nvSpPr>
        <p:spPr>
          <a:xfrm>
            <a:off x="6597135" y="5057918"/>
            <a:ext cx="237744" cy="23774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35" name="Text 33"/>
          <p:cNvSpPr/>
          <p:nvPr/>
        </p:nvSpPr>
        <p:spPr>
          <a:xfrm>
            <a:off x="6979920" y="4985752"/>
            <a:ext cx="5120640" cy="256032"/>
          </a:xfrm>
          <a:prstGeom prst="rect">
            <a:avLst/>
          </a:prstGeom>
          <a:noFill/>
          <a:ln/>
        </p:spPr>
        <p:txBody>
          <a:bodyPr wrap="square" rtlCol="0" anchor="ctr"/>
          <a:lstStyle/>
          <a:p>
            <a:pPr marL="0" indent="0">
              <a:buNone/>
            </a:pPr>
            <a:r>
              <a:rPr lang="en-US" sz="1600" b="1" dirty="0">
                <a:solidFill>
                  <a:srgbClr val="2C5F2D"/>
                </a:solidFill>
                <a:latin typeface="Cambria" panose="02040503050406030204" pitchFamily="18" charset="0"/>
                <a:ea typeface="Cambria" panose="02040503050406030204" pitchFamily="18" charset="0"/>
                <a:cs typeface="Calibri" pitchFamily="34" charset="-120"/>
              </a:rPr>
              <a:t>Class balance checked</a:t>
            </a:r>
            <a:endParaRPr lang="en-US" sz="1600" dirty="0">
              <a:latin typeface="Cambria" panose="02040503050406030204" pitchFamily="18" charset="0"/>
              <a:ea typeface="Cambria" panose="02040503050406030204" pitchFamily="18" charset="0"/>
            </a:endParaRPr>
          </a:p>
        </p:txBody>
      </p:sp>
      <p:sp>
        <p:nvSpPr>
          <p:cNvPr id="36" name="Text 34"/>
          <p:cNvSpPr/>
          <p:nvPr/>
        </p:nvSpPr>
        <p:spPr>
          <a:xfrm>
            <a:off x="6979920" y="5293907"/>
            <a:ext cx="5120640" cy="329184"/>
          </a:xfrm>
          <a:prstGeom prst="rect">
            <a:avLst/>
          </a:prstGeom>
          <a:noFill/>
          <a:ln/>
        </p:spPr>
        <p:txBody>
          <a:bodyPr wrap="square" rtlCol="0" anchor="ctr"/>
          <a:lstStyle/>
          <a:p>
            <a:pPr marL="0" indent="0">
              <a:lnSpc>
                <a:spcPct val="105000"/>
              </a:lnSpc>
              <a:buNone/>
            </a:pPr>
            <a:r>
              <a:rPr lang="en-US" sz="1400" dirty="0">
                <a:solidFill>
                  <a:srgbClr val="5B6B5C"/>
                </a:solidFill>
                <a:latin typeface="Calibri" pitchFamily="34" charset="0"/>
                <a:ea typeface="Calibri" pitchFamily="34" charset="-122"/>
                <a:cs typeface="Calibri" pitchFamily="34" charset="-120"/>
              </a:rPr>
              <a:t>Perfectly balanced — 100 records per crop (22 classes)</a:t>
            </a:r>
            <a:endParaRPr lang="en-US" sz="14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EB488B1-02AD-9899-9A2D-CBFBC84A6E97}"/>
              </a:ext>
            </a:extLst>
          </p:cNvPr>
          <p:cNvSpPr/>
          <p:nvPr/>
        </p:nvSpPr>
        <p:spPr>
          <a:xfrm>
            <a:off x="8725989" y="6183086"/>
            <a:ext cx="3291840" cy="6749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Image 0" descr="charts/outlier_boxplots.png">
            <a:extLst>
              <a:ext uri="{FF2B5EF4-FFF2-40B4-BE49-F238E27FC236}">
                <a16:creationId xmlns:a16="http://schemas.microsoft.com/office/drawing/2014/main" id="{EF802031-2F1B-CACB-832F-A7008F230CE7}"/>
              </a:ext>
            </a:extLst>
          </p:cNvPr>
          <p:cNvPicPr>
            <a:picLocks noChangeAspect="1"/>
          </p:cNvPicPr>
          <p:nvPr/>
        </p:nvPicPr>
        <p:blipFill>
          <a:blip r:embed="rId2"/>
          <a:stretch>
            <a:fillRect/>
          </a:stretch>
        </p:blipFill>
        <p:spPr>
          <a:xfrm>
            <a:off x="3906664" y="812419"/>
            <a:ext cx="7693154" cy="277749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Shape 35">
            <a:extLst>
              <a:ext uri="{FF2B5EF4-FFF2-40B4-BE49-F238E27FC236}">
                <a16:creationId xmlns:a16="http://schemas.microsoft.com/office/drawing/2014/main" id="{53B00B47-BBEE-8D83-09F0-9775523A77E3}"/>
              </a:ext>
            </a:extLst>
          </p:cNvPr>
          <p:cNvSpPr/>
          <p:nvPr/>
        </p:nvSpPr>
        <p:spPr>
          <a:xfrm>
            <a:off x="513806" y="3741456"/>
            <a:ext cx="11086012" cy="2827920"/>
          </a:xfrm>
          <a:prstGeom prst="roundRect">
            <a:avLst>
              <a:gd name="adj" fmla="val 2182"/>
            </a:avLst>
          </a:prstGeom>
          <a:solidFill>
            <a:srgbClr val="F2F5F0"/>
          </a:solidFill>
          <a:ln>
            <a:solidFill>
              <a:schemeClr val="accent6">
                <a:lumMod val="75000"/>
              </a:schemeClr>
            </a:solidFill>
          </a:ln>
        </p:spPr>
      </p:sp>
      <p:sp>
        <p:nvSpPr>
          <p:cNvPr id="8" name="TextBox 7">
            <a:extLst>
              <a:ext uri="{FF2B5EF4-FFF2-40B4-BE49-F238E27FC236}">
                <a16:creationId xmlns:a16="http://schemas.microsoft.com/office/drawing/2014/main" id="{28F54A4C-EF5C-46AF-C20F-531C1C88327A}"/>
              </a:ext>
            </a:extLst>
          </p:cNvPr>
          <p:cNvSpPr txBox="1"/>
          <p:nvPr/>
        </p:nvSpPr>
        <p:spPr>
          <a:xfrm>
            <a:off x="775062" y="3674340"/>
            <a:ext cx="10563500" cy="2772106"/>
          </a:xfrm>
          <a:prstGeom prst="rect">
            <a:avLst/>
          </a:prstGeom>
          <a:noFill/>
        </p:spPr>
        <p:txBody>
          <a:bodyPr wrap="square">
            <a:spAutoFit/>
          </a:bodyPr>
          <a:lstStyle/>
          <a:p>
            <a:pPr marL="0" indent="0" algn="just">
              <a:lnSpc>
                <a:spcPct val="122000"/>
              </a:lnSpc>
              <a:buNone/>
            </a:pPr>
            <a:r>
              <a:rPr lang="en-US" sz="1800" b="1" dirty="0">
                <a:solidFill>
                  <a:srgbClr val="2C5F2D"/>
                </a:solidFill>
                <a:latin typeface="Calibri" pitchFamily="34" charset="0"/>
                <a:ea typeface="Calibri" pitchFamily="34" charset="-122"/>
                <a:cs typeface="Calibri" pitchFamily="34" charset="-120"/>
              </a:rPr>
              <a:t>Observation:  </a:t>
            </a:r>
            <a:r>
              <a:rPr lang="en-US" sz="1800" b="1" dirty="0">
                <a:solidFill>
                  <a:srgbClr val="232D24"/>
                </a:solidFill>
                <a:latin typeface="Calibri" pitchFamily="34" charset="0"/>
                <a:ea typeface="Calibri" pitchFamily="34" charset="-122"/>
                <a:cs typeface="Calibri" pitchFamily="34" charset="-120"/>
              </a:rPr>
              <a:t>P (6.3%)</a:t>
            </a:r>
            <a:r>
              <a:rPr lang="en-US" sz="1800" dirty="0">
                <a:solidFill>
                  <a:srgbClr val="232D24"/>
                </a:solidFill>
                <a:latin typeface="Calibri" pitchFamily="34" charset="0"/>
                <a:ea typeface="Calibri" pitchFamily="34" charset="-122"/>
                <a:cs typeface="Calibri" pitchFamily="34" charset="-120"/>
              </a:rPr>
              <a:t>, </a:t>
            </a:r>
            <a:r>
              <a:rPr lang="en-US" sz="1800" b="1" dirty="0">
                <a:solidFill>
                  <a:srgbClr val="232D24"/>
                </a:solidFill>
                <a:latin typeface="Calibri" pitchFamily="34" charset="0"/>
                <a:ea typeface="Calibri" pitchFamily="34" charset="-122"/>
                <a:cs typeface="Calibri" pitchFamily="34" charset="-120"/>
              </a:rPr>
              <a:t>K (9.1%)</a:t>
            </a:r>
            <a:r>
              <a:rPr lang="en-US" sz="1800" dirty="0">
                <a:solidFill>
                  <a:srgbClr val="232D24"/>
                </a:solidFill>
                <a:latin typeface="Calibri" pitchFamily="34" charset="0"/>
                <a:ea typeface="Calibri" pitchFamily="34" charset="-122"/>
                <a:cs typeface="Calibri" pitchFamily="34" charset="-120"/>
              </a:rPr>
              <a:t>, </a:t>
            </a:r>
            <a:r>
              <a:rPr lang="en-US" sz="1800" b="1" dirty="0">
                <a:solidFill>
                  <a:srgbClr val="232D24"/>
                </a:solidFill>
                <a:latin typeface="Calibri" pitchFamily="34" charset="0"/>
                <a:ea typeface="Calibri" pitchFamily="34" charset="-122"/>
                <a:cs typeface="Calibri" pitchFamily="34" charset="-120"/>
              </a:rPr>
              <a:t>rainfall (4.6%) </a:t>
            </a:r>
            <a:r>
              <a:rPr lang="en-US" sz="1800" dirty="0">
                <a:solidFill>
                  <a:srgbClr val="232D24"/>
                </a:solidFill>
                <a:latin typeface="Calibri" pitchFamily="34" charset="0"/>
                <a:ea typeface="Calibri" pitchFamily="34" charset="-122"/>
                <a:cs typeface="Calibri" pitchFamily="34" charset="-120"/>
              </a:rPr>
              <a:t>and </a:t>
            </a:r>
            <a:r>
              <a:rPr lang="en-US" sz="1800" b="1" dirty="0">
                <a:solidFill>
                  <a:srgbClr val="232D24"/>
                </a:solidFill>
                <a:latin typeface="Calibri" pitchFamily="34" charset="0"/>
                <a:ea typeface="Calibri" pitchFamily="34" charset="-122"/>
                <a:cs typeface="Calibri" pitchFamily="34" charset="-120"/>
              </a:rPr>
              <a:t>temperature (3.9%) </a:t>
            </a:r>
            <a:r>
              <a:rPr lang="en-US" sz="1800" dirty="0">
                <a:solidFill>
                  <a:srgbClr val="232D24"/>
                </a:solidFill>
                <a:latin typeface="Calibri" pitchFamily="34" charset="0"/>
                <a:ea typeface="Calibri" pitchFamily="34" charset="-122"/>
                <a:cs typeface="Calibri" pitchFamily="34" charset="-120"/>
              </a:rPr>
              <a:t>show values beyond the IQR whiskers.</a:t>
            </a:r>
          </a:p>
          <a:p>
            <a:pPr marL="0" indent="0" algn="just">
              <a:lnSpc>
                <a:spcPct val="122000"/>
              </a:lnSpc>
              <a:buNone/>
            </a:pPr>
            <a:r>
              <a:rPr lang="en-US" sz="1800" dirty="0">
                <a:solidFill>
                  <a:srgbClr val="232D24"/>
                </a:solidFill>
                <a:latin typeface="Calibri" pitchFamily="34" charset="0"/>
                <a:ea typeface="Calibri" pitchFamily="34" charset="-122"/>
                <a:cs typeface="Calibri" pitchFamily="34" charset="-120"/>
              </a:rPr>
              <a:t>
</a:t>
            </a:r>
            <a:r>
              <a:rPr lang="en-US" sz="1800" b="1" dirty="0">
                <a:solidFill>
                  <a:srgbClr val="2C5F2D"/>
                </a:solidFill>
                <a:latin typeface="Calibri" pitchFamily="34" charset="0"/>
                <a:ea typeface="Calibri" pitchFamily="34" charset="-122"/>
                <a:cs typeface="Calibri" pitchFamily="34" charset="-120"/>
              </a:rPr>
              <a:t>Interpretation:  </a:t>
            </a:r>
            <a:r>
              <a:rPr lang="en-US" sz="1800" dirty="0">
                <a:solidFill>
                  <a:srgbClr val="232D24"/>
                </a:solidFill>
                <a:latin typeface="Calibri" pitchFamily="34" charset="0"/>
                <a:ea typeface="Calibri" pitchFamily="34" charset="-122"/>
                <a:cs typeface="Calibri" pitchFamily="34" charset="-120"/>
              </a:rPr>
              <a:t>Nearly </a:t>
            </a:r>
            <a:r>
              <a:rPr lang="en-US" sz="1800" b="1" dirty="0">
                <a:solidFill>
                  <a:srgbClr val="232D24"/>
                </a:solidFill>
                <a:latin typeface="Calibri" pitchFamily="34" charset="0"/>
                <a:ea typeface="Calibri" pitchFamily="34" charset="-122"/>
                <a:cs typeface="Calibri" pitchFamily="34" charset="-120"/>
              </a:rPr>
              <a:t>all K outliers (200/200)</a:t>
            </a:r>
            <a:r>
              <a:rPr lang="en-US" sz="1800" dirty="0">
                <a:solidFill>
                  <a:srgbClr val="232D24"/>
                </a:solidFill>
                <a:latin typeface="Calibri" pitchFamily="34" charset="0"/>
                <a:ea typeface="Calibri" pitchFamily="34" charset="-122"/>
                <a:cs typeface="Calibri" pitchFamily="34" charset="-120"/>
              </a:rPr>
              <a:t> and </a:t>
            </a:r>
            <a:r>
              <a:rPr lang="en-US" sz="1800" b="1" dirty="0">
                <a:solidFill>
                  <a:srgbClr val="232D24"/>
                </a:solidFill>
                <a:latin typeface="Calibri" pitchFamily="34" charset="0"/>
                <a:ea typeface="Calibri" pitchFamily="34" charset="-122"/>
                <a:cs typeface="Calibri" pitchFamily="34" charset="-120"/>
              </a:rPr>
              <a:t>most P outliers </a:t>
            </a:r>
            <a:r>
              <a:rPr lang="en-US" sz="1800" dirty="0">
                <a:solidFill>
                  <a:srgbClr val="232D24"/>
                </a:solidFill>
                <a:latin typeface="Calibri" pitchFamily="34" charset="0"/>
                <a:ea typeface="Calibri" pitchFamily="34" charset="-122"/>
                <a:cs typeface="Calibri" pitchFamily="34" charset="-120"/>
              </a:rPr>
              <a:t>trace back to </a:t>
            </a:r>
            <a:r>
              <a:rPr lang="en-US" sz="1800" b="1" dirty="0">
                <a:solidFill>
                  <a:srgbClr val="232D24"/>
                </a:solidFill>
                <a:latin typeface="Calibri" pitchFamily="34" charset="0"/>
                <a:ea typeface="Calibri" pitchFamily="34" charset="-122"/>
                <a:cs typeface="Calibri" pitchFamily="34" charset="-120"/>
              </a:rPr>
              <a:t>apple</a:t>
            </a:r>
            <a:r>
              <a:rPr lang="en-US" sz="1800" dirty="0">
                <a:solidFill>
                  <a:srgbClr val="232D24"/>
                </a:solidFill>
                <a:latin typeface="Calibri" pitchFamily="34" charset="0"/>
                <a:ea typeface="Calibri" pitchFamily="34" charset="-122"/>
                <a:cs typeface="Calibri" pitchFamily="34" charset="-120"/>
              </a:rPr>
              <a:t> and </a:t>
            </a:r>
            <a:r>
              <a:rPr lang="en-US" sz="1800" b="1" dirty="0">
                <a:solidFill>
                  <a:srgbClr val="232D24"/>
                </a:solidFill>
                <a:latin typeface="Calibri" pitchFamily="34" charset="0"/>
                <a:ea typeface="Calibri" pitchFamily="34" charset="-122"/>
                <a:cs typeface="Calibri" pitchFamily="34" charset="-120"/>
              </a:rPr>
              <a:t>grapes</a:t>
            </a:r>
            <a:r>
              <a:rPr lang="en-US" sz="1800" dirty="0">
                <a:solidFill>
                  <a:srgbClr val="232D24"/>
                </a:solidFill>
                <a:latin typeface="Calibri" pitchFamily="34" charset="0"/>
                <a:ea typeface="Calibri" pitchFamily="34" charset="-122"/>
                <a:cs typeface="Calibri" pitchFamily="34" charset="-120"/>
              </a:rPr>
              <a:t>, which genuinely require far higher </a:t>
            </a:r>
            <a:r>
              <a:rPr lang="en-US" sz="1800" b="1" dirty="0">
                <a:solidFill>
                  <a:srgbClr val="232D24"/>
                </a:solidFill>
                <a:latin typeface="Calibri" pitchFamily="34" charset="0"/>
                <a:ea typeface="Calibri" pitchFamily="34" charset="-122"/>
                <a:cs typeface="Calibri" pitchFamily="34" charset="-120"/>
              </a:rPr>
              <a:t>potassium</a:t>
            </a:r>
            <a:r>
              <a:rPr lang="en-US" sz="1800" dirty="0">
                <a:solidFill>
                  <a:srgbClr val="232D24"/>
                </a:solidFill>
                <a:latin typeface="Calibri" pitchFamily="34" charset="0"/>
                <a:ea typeface="Calibri" pitchFamily="34" charset="-122"/>
                <a:cs typeface="Calibri" pitchFamily="34" charset="-120"/>
              </a:rPr>
              <a:t> and </a:t>
            </a:r>
            <a:r>
              <a:rPr lang="en-US" sz="1800" b="1" dirty="0">
                <a:solidFill>
                  <a:srgbClr val="232D24"/>
                </a:solidFill>
                <a:latin typeface="Calibri" pitchFamily="34" charset="0"/>
                <a:ea typeface="Calibri" pitchFamily="34" charset="-122"/>
                <a:cs typeface="Calibri" pitchFamily="34" charset="-120"/>
              </a:rPr>
              <a:t>phosphorus </a:t>
            </a:r>
            <a:r>
              <a:rPr lang="en-US" sz="1800" dirty="0">
                <a:solidFill>
                  <a:srgbClr val="232D24"/>
                </a:solidFill>
                <a:latin typeface="Calibri" pitchFamily="34" charset="0"/>
                <a:ea typeface="Calibri" pitchFamily="34" charset="-122"/>
                <a:cs typeface="Calibri" pitchFamily="34" charset="-120"/>
              </a:rPr>
              <a:t>than other crops. </a:t>
            </a:r>
            <a:r>
              <a:rPr lang="en-US" sz="1800" b="1" dirty="0">
                <a:solidFill>
                  <a:srgbClr val="232D24"/>
                </a:solidFill>
                <a:latin typeface="Calibri" pitchFamily="34" charset="0"/>
                <a:ea typeface="Calibri" pitchFamily="34" charset="-122"/>
                <a:cs typeface="Calibri" pitchFamily="34" charset="-120"/>
              </a:rPr>
              <a:t>Rainfall outliers </a:t>
            </a:r>
            <a:r>
              <a:rPr lang="en-US" sz="1800" dirty="0">
                <a:solidFill>
                  <a:srgbClr val="232D24"/>
                </a:solidFill>
                <a:latin typeface="Calibri" pitchFamily="34" charset="0"/>
                <a:ea typeface="Calibri" pitchFamily="34" charset="-122"/>
                <a:cs typeface="Calibri" pitchFamily="34" charset="-120"/>
              </a:rPr>
              <a:t>are concentrated in </a:t>
            </a:r>
            <a:r>
              <a:rPr lang="en-US" sz="1800" b="1" dirty="0">
                <a:solidFill>
                  <a:srgbClr val="232D24"/>
                </a:solidFill>
                <a:latin typeface="Calibri" pitchFamily="34" charset="0"/>
                <a:ea typeface="Calibri" pitchFamily="34" charset="-122"/>
                <a:cs typeface="Calibri" pitchFamily="34" charset="-120"/>
              </a:rPr>
              <a:t>rice</a:t>
            </a:r>
            <a:r>
              <a:rPr lang="en-US" sz="1800" dirty="0">
                <a:solidFill>
                  <a:srgbClr val="232D24"/>
                </a:solidFill>
                <a:latin typeface="Calibri" pitchFamily="34" charset="0"/>
                <a:ea typeface="Calibri" pitchFamily="34" charset="-122"/>
                <a:cs typeface="Calibri" pitchFamily="34" charset="-120"/>
              </a:rPr>
              <a:t>; </a:t>
            </a:r>
            <a:r>
              <a:rPr lang="en-US" sz="1800" b="1" dirty="0">
                <a:solidFill>
                  <a:srgbClr val="232D24"/>
                </a:solidFill>
                <a:latin typeface="Calibri" pitchFamily="34" charset="0"/>
                <a:ea typeface="Calibri" pitchFamily="34" charset="-122"/>
                <a:cs typeface="Calibri" pitchFamily="34" charset="-120"/>
              </a:rPr>
              <a:t>temperature outliers </a:t>
            </a:r>
            <a:r>
              <a:rPr lang="en-US" sz="1800" dirty="0">
                <a:solidFill>
                  <a:srgbClr val="232D24"/>
                </a:solidFill>
                <a:latin typeface="Calibri" pitchFamily="34" charset="0"/>
                <a:ea typeface="Calibri" pitchFamily="34" charset="-122"/>
                <a:cs typeface="Calibri" pitchFamily="34" charset="-120"/>
              </a:rPr>
              <a:t>in </a:t>
            </a:r>
            <a:r>
              <a:rPr lang="en-US" sz="1800" b="1" dirty="0">
                <a:solidFill>
                  <a:srgbClr val="232D24"/>
                </a:solidFill>
                <a:latin typeface="Calibri" pitchFamily="34" charset="0"/>
                <a:ea typeface="Calibri" pitchFamily="34" charset="-122"/>
                <a:cs typeface="Calibri" pitchFamily="34" charset="-120"/>
              </a:rPr>
              <a:t>papaya</a:t>
            </a:r>
            <a:r>
              <a:rPr lang="en-US" sz="1800" dirty="0">
                <a:solidFill>
                  <a:srgbClr val="232D24"/>
                </a:solidFill>
                <a:latin typeface="Calibri" pitchFamily="34" charset="0"/>
                <a:ea typeface="Calibri" pitchFamily="34" charset="-122"/>
                <a:cs typeface="Calibri" pitchFamily="34" charset="-120"/>
              </a:rPr>
              <a:t>, </a:t>
            </a:r>
            <a:r>
              <a:rPr lang="en-US" sz="1800" b="1" dirty="0">
                <a:solidFill>
                  <a:srgbClr val="232D24"/>
                </a:solidFill>
                <a:latin typeface="Calibri" pitchFamily="34" charset="0"/>
                <a:ea typeface="Calibri" pitchFamily="34" charset="-122"/>
                <a:cs typeface="Calibri" pitchFamily="34" charset="-120"/>
              </a:rPr>
              <a:t>grapes</a:t>
            </a:r>
            <a:r>
              <a:rPr lang="en-US" sz="1800" dirty="0">
                <a:solidFill>
                  <a:srgbClr val="232D24"/>
                </a:solidFill>
                <a:latin typeface="Calibri" pitchFamily="34" charset="0"/>
                <a:ea typeface="Calibri" pitchFamily="34" charset="-122"/>
                <a:cs typeface="Calibri" pitchFamily="34" charset="-120"/>
              </a:rPr>
              <a:t> and </a:t>
            </a:r>
            <a:r>
              <a:rPr lang="en-US" sz="1800" b="1" dirty="0">
                <a:solidFill>
                  <a:srgbClr val="232D24"/>
                </a:solidFill>
                <a:latin typeface="Calibri" pitchFamily="34" charset="0"/>
                <a:ea typeface="Calibri" pitchFamily="34" charset="-122"/>
                <a:cs typeface="Calibri" pitchFamily="34" charset="-120"/>
              </a:rPr>
              <a:t>orange</a:t>
            </a:r>
            <a:r>
              <a:rPr lang="en-US" sz="1800" dirty="0">
                <a:solidFill>
                  <a:srgbClr val="232D24"/>
                </a:solidFill>
                <a:latin typeface="Calibri" pitchFamily="34" charset="0"/>
                <a:ea typeface="Calibri" pitchFamily="34" charset="-122"/>
                <a:cs typeface="Calibri" pitchFamily="34" charset="-120"/>
              </a:rPr>
              <a:t>.</a:t>
            </a:r>
          </a:p>
          <a:p>
            <a:pPr algn="just">
              <a:lnSpc>
                <a:spcPct val="122000"/>
              </a:lnSpc>
            </a:pPr>
            <a:r>
              <a:rPr lang="en-US" sz="1800" dirty="0">
                <a:solidFill>
                  <a:srgbClr val="232D24"/>
                </a:solidFill>
                <a:latin typeface="Calibri" pitchFamily="34" charset="0"/>
                <a:ea typeface="Calibri" pitchFamily="34" charset="-122"/>
                <a:cs typeface="Calibri" pitchFamily="34" charset="-120"/>
              </a:rPr>
              <a:t>
</a:t>
            </a:r>
            <a:r>
              <a:rPr lang="en-US" sz="1800" b="1" dirty="0">
                <a:solidFill>
                  <a:srgbClr val="2C5F2D"/>
                </a:solidFill>
                <a:latin typeface="Calibri" pitchFamily="34" charset="0"/>
                <a:ea typeface="Calibri" pitchFamily="34" charset="-122"/>
                <a:cs typeface="Calibri" pitchFamily="34" charset="-120"/>
              </a:rPr>
              <a:t>Decision:  </a:t>
            </a:r>
            <a:r>
              <a:rPr lang="en-US" sz="1800" dirty="0">
                <a:solidFill>
                  <a:srgbClr val="232D24"/>
                </a:solidFill>
                <a:latin typeface="Calibri" pitchFamily="34" charset="0"/>
                <a:ea typeface="Calibri" pitchFamily="34" charset="-122"/>
                <a:cs typeface="Calibri" pitchFamily="34" charset="-120"/>
              </a:rPr>
              <a:t>All </a:t>
            </a:r>
            <a:r>
              <a:rPr lang="en-IN" dirty="0"/>
              <a:t>432</a:t>
            </a:r>
            <a:r>
              <a:rPr lang="en-US" sz="1800" dirty="0">
                <a:solidFill>
                  <a:srgbClr val="232D24"/>
                </a:solidFill>
                <a:latin typeface="Calibri" pitchFamily="34" charset="0"/>
                <a:ea typeface="Calibri" pitchFamily="34" charset="-122"/>
                <a:cs typeface="Calibri" pitchFamily="34" charset="-120"/>
              </a:rPr>
              <a:t> outliers were retained — they reflect real crop-specific agronomic variation, not data-entry errors.</a:t>
            </a:r>
            <a:endParaRPr lang="en-US" sz="1800" dirty="0"/>
          </a:p>
        </p:txBody>
      </p:sp>
      <p:sp>
        <p:nvSpPr>
          <p:cNvPr id="9" name="TextBox 8">
            <a:extLst>
              <a:ext uri="{FF2B5EF4-FFF2-40B4-BE49-F238E27FC236}">
                <a16:creationId xmlns:a16="http://schemas.microsoft.com/office/drawing/2014/main" id="{0A178F88-A153-62E2-0CB4-58BF69B62F6D}"/>
              </a:ext>
            </a:extLst>
          </p:cNvPr>
          <p:cNvSpPr txBox="1"/>
          <p:nvPr/>
        </p:nvSpPr>
        <p:spPr>
          <a:xfrm>
            <a:off x="513806" y="289200"/>
            <a:ext cx="4197532" cy="1077218"/>
          </a:xfrm>
          <a:prstGeom prst="rect">
            <a:avLst/>
          </a:prstGeom>
          <a:noFill/>
        </p:spPr>
        <p:txBody>
          <a:bodyPr wrap="square" rtlCol="0">
            <a:spAutoFit/>
          </a:bodyPr>
          <a:lstStyle/>
          <a:p>
            <a:r>
              <a:rPr lang="en-IN" sz="3200" b="1" dirty="0">
                <a:solidFill>
                  <a:srgbClr val="2C5F2D"/>
                </a:solidFill>
                <a:latin typeface="Cambria" panose="02040503050406030204" pitchFamily="18" charset="0"/>
                <a:ea typeface="Cambria" panose="02040503050406030204" pitchFamily="18" charset="0"/>
              </a:rPr>
              <a:t>Understanding Outliers</a:t>
            </a:r>
          </a:p>
        </p:txBody>
      </p:sp>
      <p:sp>
        <p:nvSpPr>
          <p:cNvPr id="11" name="TextBox 10">
            <a:extLst>
              <a:ext uri="{FF2B5EF4-FFF2-40B4-BE49-F238E27FC236}">
                <a16:creationId xmlns:a16="http://schemas.microsoft.com/office/drawing/2014/main" id="{D073B720-2B8E-E7D6-18FC-835D19C845D5}"/>
              </a:ext>
            </a:extLst>
          </p:cNvPr>
          <p:cNvSpPr txBox="1"/>
          <p:nvPr/>
        </p:nvSpPr>
        <p:spPr>
          <a:xfrm>
            <a:off x="11521440" y="6597984"/>
            <a:ext cx="670560" cy="230832"/>
          </a:xfrm>
          <a:prstGeom prst="rect">
            <a:avLst/>
          </a:prstGeom>
          <a:noFill/>
        </p:spPr>
        <p:txBody>
          <a:bodyPr wrap="square" rtlCol="0">
            <a:spAutoFit/>
          </a:bodyPr>
          <a:lstStyle/>
          <a:p>
            <a:r>
              <a:rPr lang="en-US" sz="900" dirty="0">
                <a:solidFill>
                  <a:srgbClr val="2C5F2D"/>
                </a:solidFill>
              </a:rPr>
              <a:t>6</a:t>
            </a:r>
            <a:endParaRPr lang="en-IN" sz="900" dirty="0">
              <a:solidFill>
                <a:srgbClr val="2C5F2D"/>
              </a:solidFill>
            </a:endParaRPr>
          </a:p>
        </p:txBody>
      </p:sp>
      <p:sp>
        <p:nvSpPr>
          <p:cNvPr id="2" name="Rectangle: Rounded Corners 1">
            <a:extLst>
              <a:ext uri="{FF2B5EF4-FFF2-40B4-BE49-F238E27FC236}">
                <a16:creationId xmlns:a16="http://schemas.microsoft.com/office/drawing/2014/main" id="{C7D0EDDC-FC6A-7242-C1F1-48133139E7D8}"/>
              </a:ext>
            </a:extLst>
          </p:cNvPr>
          <p:cNvSpPr/>
          <p:nvPr/>
        </p:nvSpPr>
        <p:spPr>
          <a:xfrm>
            <a:off x="592181" y="2000871"/>
            <a:ext cx="2778035" cy="1003586"/>
          </a:xfrm>
          <a:prstGeom prst="roundRect">
            <a:avLst/>
          </a:prstGeom>
          <a:solidFill>
            <a:srgbClr val="2C5F2D"/>
          </a:solidFill>
          <a:ln/>
        </p:spPr>
        <p:txBody>
          <a:bodyPr rtlCol="0" anchor="ctr"/>
          <a:lstStyle/>
          <a:p>
            <a:pPr algn="ctr"/>
            <a:r>
              <a:rPr lang="en-US" b="1" dirty="0">
                <a:solidFill>
                  <a:schemeClr val="bg1"/>
                </a:solidFill>
                <a:latin typeface="Cambria" panose="02040503050406030204" pitchFamily="18" charset="0"/>
                <a:ea typeface="Cambria" panose="02040503050406030204" pitchFamily="18" charset="0"/>
              </a:rPr>
              <a:t>Total Outliers </a:t>
            </a:r>
            <a:r>
              <a:rPr lang="en-US" dirty="0">
                <a:solidFill>
                  <a:schemeClr val="bg1"/>
                </a:solidFill>
              </a:rPr>
              <a:t>–</a:t>
            </a:r>
            <a:r>
              <a:rPr lang="en-IN" dirty="0">
                <a:solidFill>
                  <a:schemeClr val="bg1"/>
                </a:solidFill>
              </a:rPr>
              <a:t> </a:t>
            </a:r>
            <a:r>
              <a:rPr lang="en-IN" b="1" dirty="0">
                <a:solidFill>
                  <a:schemeClr val="bg1"/>
                </a:solidFill>
                <a:latin typeface="Cambria" panose="02040503050406030204" pitchFamily="18" charset="0"/>
                <a:ea typeface="Cambria" panose="02040503050406030204" pitchFamily="18" charset="0"/>
              </a:rPr>
              <a:t>432</a:t>
            </a:r>
          </a:p>
          <a:p>
            <a:pPr algn="ctr"/>
            <a:r>
              <a:rPr lang="en-IN" sz="1050" dirty="0">
                <a:solidFill>
                  <a:schemeClr val="bg2">
                    <a:lumMod val="90000"/>
                  </a:schemeClr>
                </a:solidFill>
                <a:ea typeface="Cambria" panose="02040503050406030204" pitchFamily="18" charset="0"/>
                <a:cs typeface="Calibri" pitchFamily="34" charset="-120"/>
              </a:rPr>
              <a:t>(P, K, rainfall, temperature)</a:t>
            </a:r>
            <a:r>
              <a:rPr lang="en-US" sz="1050" dirty="0">
                <a:solidFill>
                  <a:schemeClr val="bg2">
                    <a:lumMod val="90000"/>
                  </a:schemeClr>
                </a:solidFill>
                <a:ea typeface="Calibri" pitchFamily="34" charset="-122"/>
                <a:cs typeface="Calibri" pitchFamily="34" charset="-120"/>
              </a:rPr>
              <a:t> </a:t>
            </a:r>
            <a:endParaRPr lang="en-IN" sz="1050" dirty="0">
              <a:solidFill>
                <a:schemeClr val="bg2">
                  <a:lumMod val="90000"/>
                </a:schemeClr>
              </a:solidFill>
            </a:endParaRPr>
          </a:p>
        </p:txBody>
      </p:sp>
      <p:sp>
        <p:nvSpPr>
          <p:cNvPr id="6" name="TextBox 5">
            <a:extLst>
              <a:ext uri="{FF2B5EF4-FFF2-40B4-BE49-F238E27FC236}">
                <a16:creationId xmlns:a16="http://schemas.microsoft.com/office/drawing/2014/main" id="{B424EF5F-F629-AB12-821E-3EF7F0A590C2}"/>
              </a:ext>
            </a:extLst>
          </p:cNvPr>
          <p:cNvSpPr txBox="1"/>
          <p:nvPr/>
        </p:nvSpPr>
        <p:spPr>
          <a:xfrm>
            <a:off x="444137" y="6597984"/>
            <a:ext cx="5434149" cy="353943"/>
          </a:xfrm>
          <a:prstGeom prst="rect">
            <a:avLst/>
          </a:prstGeom>
          <a:noFill/>
        </p:spPr>
        <p:txBody>
          <a:bodyPr wrap="square" rtlCol="0">
            <a:spAutoFit/>
          </a:bodyPr>
          <a:lstStyle/>
          <a:p>
            <a:r>
              <a:rPr lang="en-US" sz="850" dirty="0">
                <a:solidFill>
                  <a:srgbClr val="5B6B5C"/>
                </a:solidFill>
                <a:latin typeface="Calibri" pitchFamily="34" charset="0"/>
                <a:ea typeface="Calibri" pitchFamily="34" charset="-122"/>
                <a:cs typeface="Calibri" pitchFamily="34" charset="-120"/>
              </a:rPr>
              <a:t>Analysis of </a:t>
            </a:r>
            <a:r>
              <a:rPr lang="en-US" sz="850" dirty="0">
                <a:solidFill>
                  <a:srgbClr val="5B6B5C"/>
                </a:solidFill>
                <a:ea typeface="Cambria" panose="02040503050406030204" pitchFamily="18" charset="0"/>
                <a:cs typeface="Calibri"/>
                <a:sym typeface="Calibri"/>
              </a:rPr>
              <a:t>Analysis of Soil and Environmental Parameters Across Different Crops</a:t>
            </a:r>
            <a:r>
              <a:rPr lang="en-US" sz="850" dirty="0">
                <a:solidFill>
                  <a:srgbClr val="5B6B5C"/>
                </a:solidFill>
                <a:ea typeface="Calibri" pitchFamily="34" charset="-122"/>
                <a:cs typeface="Calibri" pitchFamily="34" charset="-120"/>
              </a:rPr>
              <a:t>  </a:t>
            </a:r>
            <a:r>
              <a:rPr lang="en-US" sz="850" dirty="0">
                <a:solidFill>
                  <a:srgbClr val="5B6B5C"/>
                </a:solidFill>
                <a:latin typeface="Calibri" pitchFamily="34" charset="0"/>
                <a:ea typeface="Calibri" pitchFamily="34" charset="-122"/>
                <a:cs typeface="Calibri" pitchFamily="34" charset="-120"/>
              </a:rPr>
              <a:t>|  Exploratory Data Analysis</a:t>
            </a:r>
            <a:endParaRPr lang="en-US" sz="850" dirty="0"/>
          </a:p>
          <a:p>
            <a:endParaRPr lang="en-IN" sz="850" dirty="0"/>
          </a:p>
        </p:txBody>
      </p:sp>
    </p:spTree>
    <p:extLst>
      <p:ext uri="{BB962C8B-B14F-4D97-AF65-F5344CB8AC3E}">
        <p14:creationId xmlns:p14="http://schemas.microsoft.com/office/powerpoint/2010/main" val="1683536591"/>
      </p:ext>
    </p:extLst>
  </p:cSld>
  <p:clrMapOvr>
    <a:masterClrMapping/>
  </p:clrMapOvr>
  <p:transition spd="slow">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up)">
                                      <p:cBhvr>
                                        <p:cTn id="13" dur="500"/>
                                        <p:tgtEl>
                                          <p:spTgt spid="5"/>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up)">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1000" fill="hold"/>
                                        <p:tgtEl>
                                          <p:spTgt spid="2"/>
                                        </p:tgtEl>
                                        <p:attrNameLst>
                                          <p:attrName>ppt_w</p:attrName>
                                        </p:attrNameLst>
                                      </p:cBhvr>
                                      <p:tavLst>
                                        <p:tav tm="0">
                                          <p:val>
                                            <p:fltVal val="0"/>
                                          </p:val>
                                        </p:tav>
                                        <p:tav tm="100000">
                                          <p:val>
                                            <p:strVal val="#ppt_w"/>
                                          </p:val>
                                        </p:tav>
                                      </p:tavLst>
                                    </p:anim>
                                    <p:anim calcmode="lin" valueType="num">
                                      <p:cBhvr>
                                        <p:cTn id="22" dur="1000" fill="hold"/>
                                        <p:tgtEl>
                                          <p:spTgt spid="2"/>
                                        </p:tgtEl>
                                        <p:attrNameLst>
                                          <p:attrName>ppt_h</p:attrName>
                                        </p:attrNameLst>
                                      </p:cBhvr>
                                      <p:tavLst>
                                        <p:tav tm="0">
                                          <p:val>
                                            <p:fltVal val="0"/>
                                          </p:val>
                                        </p:tav>
                                        <p:tav tm="100000">
                                          <p:val>
                                            <p:strVal val="#ppt_h"/>
                                          </p:val>
                                        </p:tav>
                                      </p:tavLst>
                                    </p:anim>
                                    <p:anim calcmode="lin" valueType="num">
                                      <p:cBhvr>
                                        <p:cTn id="23" dur="1000" fill="hold"/>
                                        <p:tgtEl>
                                          <p:spTgt spid="2"/>
                                        </p:tgtEl>
                                        <p:attrNameLst>
                                          <p:attrName>style.rotation</p:attrName>
                                        </p:attrNameLst>
                                      </p:cBhvr>
                                      <p:tavLst>
                                        <p:tav tm="0">
                                          <p:val>
                                            <p:fltVal val="90"/>
                                          </p:val>
                                        </p:tav>
                                        <p:tav tm="100000">
                                          <p:val>
                                            <p:fltVal val="0"/>
                                          </p:val>
                                        </p:tav>
                                      </p:tavLst>
                                    </p:anim>
                                    <p:animEffect transition="in" filter="fade">
                                      <p:cBhvr>
                                        <p:cTn id="2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472936D8-6EAC-AE5B-D5EA-7583788930CC}"/>
              </a:ext>
            </a:extLst>
          </p:cNvPr>
          <p:cNvSpPr/>
          <p:nvPr/>
        </p:nvSpPr>
        <p:spPr>
          <a:xfrm>
            <a:off x="422209" y="5520722"/>
            <a:ext cx="11277295" cy="906204"/>
          </a:xfrm>
          <a:prstGeom prst="roundRect">
            <a:avLst/>
          </a:prstGeom>
          <a:solidFill>
            <a:srgbClr val="F2F5F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 name="Text 0"/>
          <p:cNvSpPr/>
          <p:nvPr/>
        </p:nvSpPr>
        <p:spPr>
          <a:xfrm>
            <a:off x="493574" y="316198"/>
            <a:ext cx="11277295" cy="658368"/>
          </a:xfrm>
          <a:prstGeom prst="rect">
            <a:avLst/>
          </a:prstGeom>
          <a:noFill/>
          <a:ln/>
        </p:spPr>
        <p:txBody>
          <a:bodyPr wrap="square" lIns="0" tIns="0" rIns="0" bIns="0" rtlCol="0" anchor="ctr"/>
          <a:lstStyle/>
          <a:p>
            <a:pPr marL="0" indent="0" algn="l">
              <a:buNone/>
            </a:pPr>
            <a:r>
              <a:rPr lang="en-US" sz="3200" b="1" dirty="0">
                <a:solidFill>
                  <a:srgbClr val="2C5F2D"/>
                </a:solidFill>
                <a:latin typeface="Cambria" pitchFamily="34" charset="0"/>
                <a:ea typeface="Cambria" pitchFamily="34" charset="-122"/>
                <a:cs typeface="Cambria" pitchFamily="34" charset="-120"/>
              </a:rPr>
              <a:t>Univariate Analysis</a:t>
            </a:r>
            <a:endParaRPr lang="en-US" sz="3200" dirty="0"/>
          </a:p>
        </p:txBody>
      </p:sp>
      <p:sp>
        <p:nvSpPr>
          <p:cNvPr id="3" name="Text 1"/>
          <p:cNvSpPr/>
          <p:nvPr/>
        </p:nvSpPr>
        <p:spPr>
          <a:xfrm>
            <a:off x="457200" y="6547104"/>
            <a:ext cx="7315200" cy="256032"/>
          </a:xfrm>
          <a:prstGeom prst="rect">
            <a:avLst/>
          </a:prstGeom>
          <a:noFill/>
          <a:ln/>
        </p:spPr>
        <p:txBody>
          <a:bodyPr wrap="square" rtlCol="0" anchor="ctr"/>
          <a:lstStyle/>
          <a:p>
            <a:r>
              <a:rPr lang="en-US" sz="850" dirty="0">
                <a:solidFill>
                  <a:srgbClr val="5B6B5C"/>
                </a:solidFill>
                <a:latin typeface="Calibri" pitchFamily="34" charset="0"/>
                <a:ea typeface="Calibri" pitchFamily="34" charset="-122"/>
                <a:cs typeface="Calibri" pitchFamily="34" charset="-120"/>
              </a:rPr>
              <a:t>Analysis of </a:t>
            </a:r>
            <a:r>
              <a:rPr lang="en-US" sz="850" dirty="0">
                <a:solidFill>
                  <a:srgbClr val="5B6B5C"/>
                </a:solidFill>
                <a:ea typeface="Cambria" panose="02040503050406030204" pitchFamily="18" charset="0"/>
                <a:cs typeface="Calibri"/>
                <a:sym typeface="Calibri"/>
              </a:rPr>
              <a:t>Analysis of Soil and Environmental Parameters Across Different Crops</a:t>
            </a:r>
            <a:r>
              <a:rPr lang="en-US" sz="850" dirty="0">
                <a:solidFill>
                  <a:srgbClr val="5B6B5C"/>
                </a:solidFill>
                <a:ea typeface="Calibri" pitchFamily="34" charset="-122"/>
                <a:cs typeface="Calibri" pitchFamily="34" charset="-120"/>
              </a:rPr>
              <a:t>  </a:t>
            </a:r>
            <a:r>
              <a:rPr lang="en-US" sz="850" dirty="0">
                <a:solidFill>
                  <a:srgbClr val="5B6B5C"/>
                </a:solidFill>
                <a:latin typeface="Calibri" pitchFamily="34" charset="0"/>
                <a:ea typeface="Calibri" pitchFamily="34" charset="-122"/>
                <a:cs typeface="Calibri" pitchFamily="34" charset="-120"/>
              </a:rPr>
              <a:t>|  Exploratory Data Analysis</a:t>
            </a:r>
            <a:endParaRPr lang="en-US" sz="850" dirty="0"/>
          </a:p>
        </p:txBody>
      </p:sp>
      <p:sp>
        <p:nvSpPr>
          <p:cNvPr id="4" name="Text 2"/>
          <p:cNvSpPr/>
          <p:nvPr/>
        </p:nvSpPr>
        <p:spPr>
          <a:xfrm>
            <a:off x="11185855" y="6558425"/>
            <a:ext cx="548640" cy="256032"/>
          </a:xfrm>
          <a:prstGeom prst="rect">
            <a:avLst/>
          </a:prstGeom>
          <a:noFill/>
          <a:ln/>
        </p:spPr>
        <p:txBody>
          <a:bodyPr wrap="square" rtlCol="0" anchor="ctr"/>
          <a:lstStyle/>
          <a:p>
            <a:pPr marL="0" indent="0" algn="r">
              <a:buNone/>
            </a:pPr>
            <a:r>
              <a:rPr lang="en-US" sz="900" dirty="0">
                <a:solidFill>
                  <a:srgbClr val="5B6B5C"/>
                </a:solidFill>
                <a:latin typeface="Calibri" pitchFamily="34" charset="0"/>
                <a:ea typeface="Calibri" pitchFamily="34" charset="-122"/>
                <a:cs typeface="Calibri" pitchFamily="34" charset="-120"/>
              </a:rPr>
              <a:t>7</a:t>
            </a:r>
            <a:endParaRPr lang="en-US" sz="900" dirty="0"/>
          </a:p>
        </p:txBody>
      </p:sp>
      <p:pic>
        <p:nvPicPr>
          <p:cNvPr id="5" name="Image 0" descr="charts/hist_grid.png"/>
          <p:cNvPicPr>
            <a:picLocks noChangeAspect="1"/>
          </p:cNvPicPr>
          <p:nvPr/>
        </p:nvPicPr>
        <p:blipFill>
          <a:blip r:embed="rId3"/>
          <a:stretch>
            <a:fillRect/>
          </a:stretch>
        </p:blipFill>
        <p:spPr>
          <a:xfrm>
            <a:off x="1078588" y="974566"/>
            <a:ext cx="10107265" cy="429447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 3"/>
          <p:cNvSpPr/>
          <p:nvPr/>
        </p:nvSpPr>
        <p:spPr>
          <a:xfrm>
            <a:off x="422209" y="5520722"/>
            <a:ext cx="11277295" cy="658368"/>
          </a:xfrm>
          <a:prstGeom prst="rect">
            <a:avLst/>
          </a:prstGeom>
          <a:noFill/>
          <a:ln/>
        </p:spPr>
        <p:txBody>
          <a:bodyPr wrap="square" rtlCol="0" anchor="t"/>
          <a:lstStyle/>
          <a:p>
            <a:pPr marL="0" indent="0" algn="just">
              <a:lnSpc>
                <a:spcPct val="122000"/>
              </a:lnSpc>
              <a:buNone/>
            </a:pPr>
            <a:r>
              <a:rPr lang="en-US" sz="1400" b="1" dirty="0">
                <a:solidFill>
                  <a:srgbClr val="2C5F2D"/>
                </a:solidFill>
                <a:latin typeface="Calibri" pitchFamily="34" charset="0"/>
                <a:ea typeface="Calibri" pitchFamily="34" charset="-122"/>
                <a:cs typeface="Calibri" pitchFamily="34" charset="-120"/>
              </a:rPr>
              <a:t>Distribution shape:  </a:t>
            </a:r>
            <a:r>
              <a:rPr lang="en-US" sz="1400" dirty="0">
                <a:solidFill>
                  <a:srgbClr val="232D24"/>
                </a:solidFill>
                <a:latin typeface="Calibri" pitchFamily="34" charset="0"/>
                <a:ea typeface="Calibri" pitchFamily="34" charset="-122"/>
                <a:cs typeface="Calibri" pitchFamily="34" charset="-120"/>
              </a:rPr>
              <a:t>N, P and rainfall are right-skewed with a secondary cluster at high values; K is sharply right-skewed with an isolated high cluster near 200 (the apple/grapes group); temperature and pH are roughly bell-shaped; humidity is left-skewed, concentrated above 80%.  </a:t>
            </a:r>
            <a:r>
              <a:rPr lang="en-US" sz="1400" b="1" dirty="0">
                <a:solidFill>
                  <a:srgbClr val="2C5F2D"/>
                </a:solidFill>
                <a:latin typeface="Calibri" pitchFamily="34" charset="0"/>
                <a:ea typeface="Calibri" pitchFamily="34" charset="-122"/>
                <a:cs typeface="Calibri" pitchFamily="34" charset="-120"/>
              </a:rPr>
              <a:t>Target class:  </a:t>
            </a:r>
            <a:r>
              <a:rPr lang="en-US" sz="1400" dirty="0">
                <a:solidFill>
                  <a:srgbClr val="232D24"/>
                </a:solidFill>
                <a:latin typeface="Calibri" pitchFamily="34" charset="0"/>
                <a:ea typeface="Calibri" pitchFamily="34" charset="-122"/>
                <a:cs typeface="Calibri" pitchFamily="34" charset="-120"/>
              </a:rPr>
              <a:t>All 22 crops have exactly 100 records each — the target variable is perfectly balanced (see checklist, previous slide).</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FB1C7C9B-3B41-6B12-09D9-312D71C4A5FF}"/>
              </a:ext>
            </a:extLst>
          </p:cNvPr>
          <p:cNvSpPr/>
          <p:nvPr/>
        </p:nvSpPr>
        <p:spPr>
          <a:xfrm>
            <a:off x="6218404" y="5253882"/>
            <a:ext cx="5739102" cy="1056785"/>
          </a:xfrm>
          <a:prstGeom prst="roundRect">
            <a:avLst/>
          </a:prstGeom>
          <a:solidFill>
            <a:srgbClr val="F2F5F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02A1CB36-63FF-EBBB-ED19-48124CDA7179}"/>
              </a:ext>
            </a:extLst>
          </p:cNvPr>
          <p:cNvSpPr/>
          <p:nvPr/>
        </p:nvSpPr>
        <p:spPr>
          <a:xfrm>
            <a:off x="457200" y="4663440"/>
            <a:ext cx="5394960" cy="1275806"/>
          </a:xfrm>
          <a:prstGeom prst="roundRect">
            <a:avLst/>
          </a:prstGeom>
          <a:solidFill>
            <a:srgbClr val="F2F5F0"/>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457200" y="347472"/>
            <a:ext cx="11277295" cy="658368"/>
          </a:xfrm>
          <a:prstGeom prst="rect">
            <a:avLst/>
          </a:prstGeom>
          <a:noFill/>
          <a:ln/>
        </p:spPr>
        <p:txBody>
          <a:bodyPr wrap="square" lIns="0" tIns="0" rIns="0" bIns="0" rtlCol="0" anchor="ctr"/>
          <a:lstStyle/>
          <a:p>
            <a:pPr marL="0" indent="0" algn="l">
              <a:buNone/>
            </a:pPr>
            <a:r>
              <a:rPr lang="en-US" sz="3200" b="1" dirty="0">
                <a:solidFill>
                  <a:srgbClr val="2C5F2D"/>
                </a:solidFill>
                <a:latin typeface="Cambria" pitchFamily="34" charset="0"/>
                <a:ea typeface="Cambria" pitchFamily="34" charset="-122"/>
                <a:cs typeface="Cambria" pitchFamily="34" charset="-120"/>
              </a:rPr>
              <a:t>Bivariate Analysis</a:t>
            </a:r>
            <a:endParaRPr lang="en-US" sz="3200" dirty="0"/>
          </a:p>
        </p:txBody>
      </p:sp>
      <p:sp>
        <p:nvSpPr>
          <p:cNvPr id="3" name="Text 1"/>
          <p:cNvSpPr/>
          <p:nvPr/>
        </p:nvSpPr>
        <p:spPr>
          <a:xfrm>
            <a:off x="457200" y="6547104"/>
            <a:ext cx="7315200" cy="256032"/>
          </a:xfrm>
          <a:prstGeom prst="rect">
            <a:avLst/>
          </a:prstGeom>
          <a:noFill/>
          <a:ln/>
        </p:spPr>
        <p:txBody>
          <a:bodyPr wrap="square" rtlCol="0" anchor="ctr"/>
          <a:lstStyle/>
          <a:p>
            <a:r>
              <a:rPr lang="en-US" sz="850" dirty="0">
                <a:solidFill>
                  <a:srgbClr val="5B6B5C"/>
                </a:solidFill>
                <a:latin typeface="Calibri" pitchFamily="34" charset="0"/>
                <a:ea typeface="Calibri" pitchFamily="34" charset="-122"/>
                <a:cs typeface="Calibri" pitchFamily="34" charset="-120"/>
              </a:rPr>
              <a:t>Analysis of </a:t>
            </a:r>
            <a:r>
              <a:rPr lang="en-US" sz="850" dirty="0">
                <a:solidFill>
                  <a:srgbClr val="5B6B5C"/>
                </a:solidFill>
                <a:ea typeface="Cambria" panose="02040503050406030204" pitchFamily="18" charset="0"/>
                <a:cs typeface="Calibri"/>
                <a:sym typeface="Calibri"/>
              </a:rPr>
              <a:t>Analysis of Soil and Environmental Parameters Across Different Crops</a:t>
            </a:r>
            <a:r>
              <a:rPr lang="en-US" sz="850" dirty="0">
                <a:solidFill>
                  <a:srgbClr val="5B6B5C"/>
                </a:solidFill>
                <a:ea typeface="Calibri" pitchFamily="34" charset="-122"/>
                <a:cs typeface="Calibri" pitchFamily="34" charset="-120"/>
              </a:rPr>
              <a:t>  </a:t>
            </a:r>
            <a:r>
              <a:rPr lang="en-US" sz="850" dirty="0">
                <a:solidFill>
                  <a:srgbClr val="5B6B5C"/>
                </a:solidFill>
                <a:latin typeface="Calibri" pitchFamily="34" charset="0"/>
                <a:ea typeface="Calibri" pitchFamily="34" charset="-122"/>
                <a:cs typeface="Calibri" pitchFamily="34" charset="-120"/>
              </a:rPr>
              <a:t>|  Exploratory Data Analysis</a:t>
            </a:r>
            <a:endParaRPr lang="en-US" sz="850" dirty="0"/>
          </a:p>
        </p:txBody>
      </p:sp>
      <p:pic>
        <p:nvPicPr>
          <p:cNvPr id="5" name="Image 0" descr="charts/scatter_p_k.png"/>
          <p:cNvPicPr>
            <a:picLocks noChangeAspect="1"/>
          </p:cNvPicPr>
          <p:nvPr/>
        </p:nvPicPr>
        <p:blipFill>
          <a:blip r:embed="rId3"/>
          <a:stretch>
            <a:fillRect/>
          </a:stretch>
        </p:blipFill>
        <p:spPr>
          <a:xfrm>
            <a:off x="1223553" y="1078991"/>
            <a:ext cx="4125015" cy="335367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 3"/>
          <p:cNvSpPr/>
          <p:nvPr/>
        </p:nvSpPr>
        <p:spPr>
          <a:xfrm>
            <a:off x="457200" y="4736592"/>
            <a:ext cx="5394960" cy="1737360"/>
          </a:xfrm>
          <a:prstGeom prst="rect">
            <a:avLst/>
          </a:prstGeom>
          <a:noFill/>
          <a:ln/>
        </p:spPr>
        <p:txBody>
          <a:bodyPr wrap="square" rtlCol="0" anchor="t"/>
          <a:lstStyle/>
          <a:p>
            <a:pPr marL="0" indent="0" algn="just">
              <a:lnSpc>
                <a:spcPct val="124000"/>
              </a:lnSpc>
              <a:buNone/>
            </a:pPr>
            <a:r>
              <a:rPr lang="en-US" sz="1400" b="1" dirty="0">
                <a:solidFill>
                  <a:srgbClr val="2C5F2D"/>
                </a:solidFill>
                <a:latin typeface="Calibri" pitchFamily="34" charset="0"/>
                <a:ea typeface="Calibri" pitchFamily="34" charset="-122"/>
                <a:cs typeface="Calibri" pitchFamily="34" charset="-120"/>
              </a:rPr>
              <a:t>Phosphorus vs Potassium:  </a:t>
            </a:r>
            <a:r>
              <a:rPr lang="en-US" sz="1400" dirty="0">
                <a:solidFill>
                  <a:srgbClr val="232D24"/>
                </a:solidFill>
                <a:latin typeface="Calibri" pitchFamily="34" charset="0"/>
                <a:ea typeface="Calibri" pitchFamily="34" charset="-122"/>
                <a:cs typeface="Calibri" pitchFamily="34" charset="-120"/>
              </a:rPr>
              <a:t>The strongest numeric relationship in the dataset (r = 0.74). A scatter plot was chosen because it directly shows the shape of a numeric-numeric relationship. Apple and grapes form a completely separate high-P, high-K cluster from the other 20 crops.</a:t>
            </a:r>
            <a:endParaRPr lang="en-US" sz="1400" dirty="0"/>
          </a:p>
        </p:txBody>
      </p:sp>
      <p:pic>
        <p:nvPicPr>
          <p:cNvPr id="7" name="Image 1" descr="charts/box_humidity_crop.png"/>
          <p:cNvPicPr>
            <a:picLocks noChangeAspect="1"/>
          </p:cNvPicPr>
          <p:nvPr/>
        </p:nvPicPr>
        <p:blipFill>
          <a:blip r:embed="rId4"/>
          <a:stretch>
            <a:fillRect/>
          </a:stretch>
        </p:blipFill>
        <p:spPr>
          <a:xfrm>
            <a:off x="7069075" y="393192"/>
            <a:ext cx="4191107" cy="462425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 4"/>
          <p:cNvSpPr/>
          <p:nvPr/>
        </p:nvSpPr>
        <p:spPr>
          <a:xfrm>
            <a:off x="6339842" y="5220136"/>
            <a:ext cx="5571309" cy="685800"/>
          </a:xfrm>
          <a:prstGeom prst="rect">
            <a:avLst/>
          </a:prstGeom>
          <a:noFill/>
          <a:ln/>
        </p:spPr>
        <p:txBody>
          <a:bodyPr wrap="square" rtlCol="0" anchor="t"/>
          <a:lstStyle/>
          <a:p>
            <a:pPr marL="0" indent="0" algn="just">
              <a:lnSpc>
                <a:spcPct val="118000"/>
              </a:lnSpc>
              <a:buNone/>
            </a:pPr>
            <a:r>
              <a:rPr lang="en-US" sz="1400" b="1" dirty="0">
                <a:solidFill>
                  <a:srgbClr val="2C5F2D"/>
                </a:solidFill>
                <a:latin typeface="Calibri" pitchFamily="34" charset="0"/>
                <a:ea typeface="Calibri" pitchFamily="34" charset="-122"/>
                <a:cs typeface="Calibri" pitchFamily="34" charset="-120"/>
              </a:rPr>
              <a:t>Humidity by crop:  </a:t>
            </a:r>
            <a:r>
              <a:rPr lang="en-US" sz="1400" dirty="0">
                <a:solidFill>
                  <a:srgbClr val="232D24"/>
                </a:solidFill>
                <a:latin typeface="Calibri" pitchFamily="34" charset="0"/>
                <a:ea typeface="Calibri" pitchFamily="34" charset="-122"/>
                <a:cs typeface="Calibri" pitchFamily="34" charset="-120"/>
              </a:rPr>
              <a:t>Coconut and papaya cluster above 90% humidity, while chickpea and kidney beans sit below 22% — a clean categorical-numeric split. (Temperature vs humidity, r ≈ 0.21, was also examined but is weaker and not shown here.)</a:t>
            </a:r>
            <a:endParaRPr lang="en-US" sz="1400" dirty="0"/>
          </a:p>
        </p:txBody>
      </p:sp>
      <p:sp>
        <p:nvSpPr>
          <p:cNvPr id="11" name="TextBox 10">
            <a:extLst>
              <a:ext uri="{FF2B5EF4-FFF2-40B4-BE49-F238E27FC236}">
                <a16:creationId xmlns:a16="http://schemas.microsoft.com/office/drawing/2014/main" id="{24CB97F0-19D2-A688-4D31-F08B26AAFDF4}"/>
              </a:ext>
            </a:extLst>
          </p:cNvPr>
          <p:cNvSpPr txBox="1"/>
          <p:nvPr/>
        </p:nvSpPr>
        <p:spPr>
          <a:xfrm>
            <a:off x="11468883" y="6547104"/>
            <a:ext cx="531223" cy="215444"/>
          </a:xfrm>
          <a:prstGeom prst="rect">
            <a:avLst/>
          </a:prstGeom>
          <a:noFill/>
        </p:spPr>
        <p:txBody>
          <a:bodyPr wrap="square" rtlCol="0">
            <a:spAutoFit/>
          </a:bodyPr>
          <a:lstStyle/>
          <a:p>
            <a:r>
              <a:rPr lang="en-US" sz="800" dirty="0">
                <a:solidFill>
                  <a:srgbClr val="5B6B5C"/>
                </a:solidFill>
              </a:rPr>
              <a:t>8</a:t>
            </a:r>
            <a:endParaRPr lang="en-IN" sz="800" dirty="0">
              <a:solidFill>
                <a:srgbClr val="5B6B5C"/>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1+#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47472"/>
            <a:ext cx="11277295" cy="658368"/>
          </a:xfrm>
          <a:prstGeom prst="rect">
            <a:avLst/>
          </a:prstGeom>
          <a:noFill/>
          <a:ln/>
        </p:spPr>
        <p:txBody>
          <a:bodyPr wrap="square" lIns="0" tIns="0" rIns="0" bIns="0" rtlCol="0" anchor="ctr"/>
          <a:lstStyle/>
          <a:p>
            <a:pPr marL="0" indent="0" algn="l">
              <a:buNone/>
            </a:pPr>
            <a:r>
              <a:rPr lang="en-US" sz="3200" b="1" dirty="0">
                <a:solidFill>
                  <a:srgbClr val="2C5F2D"/>
                </a:solidFill>
                <a:latin typeface="Cambria" pitchFamily="34" charset="0"/>
                <a:ea typeface="Cambria" pitchFamily="34" charset="-122"/>
                <a:cs typeface="Cambria" pitchFamily="34" charset="-120"/>
              </a:rPr>
              <a:t>Multivariate Analysis</a:t>
            </a:r>
            <a:endParaRPr lang="en-US" sz="3200" dirty="0"/>
          </a:p>
        </p:txBody>
      </p:sp>
      <p:sp>
        <p:nvSpPr>
          <p:cNvPr id="3" name="Text 1"/>
          <p:cNvSpPr/>
          <p:nvPr/>
        </p:nvSpPr>
        <p:spPr>
          <a:xfrm>
            <a:off x="457200" y="6547104"/>
            <a:ext cx="7315200" cy="256032"/>
          </a:xfrm>
          <a:prstGeom prst="rect">
            <a:avLst/>
          </a:prstGeom>
          <a:noFill/>
          <a:ln/>
        </p:spPr>
        <p:txBody>
          <a:bodyPr wrap="square" rtlCol="0" anchor="ctr"/>
          <a:lstStyle/>
          <a:p>
            <a:r>
              <a:rPr lang="en-US" sz="850" dirty="0">
                <a:solidFill>
                  <a:srgbClr val="5B6B5C"/>
                </a:solidFill>
                <a:latin typeface="Calibri" pitchFamily="34" charset="0"/>
                <a:ea typeface="Calibri" pitchFamily="34" charset="-122"/>
                <a:cs typeface="Calibri" pitchFamily="34" charset="-120"/>
              </a:rPr>
              <a:t>Analysis of </a:t>
            </a:r>
            <a:r>
              <a:rPr lang="en-US" sz="850" dirty="0">
                <a:solidFill>
                  <a:srgbClr val="5B6B5C"/>
                </a:solidFill>
                <a:ea typeface="Cambria" panose="02040503050406030204" pitchFamily="18" charset="0"/>
                <a:cs typeface="Calibri"/>
                <a:sym typeface="Calibri"/>
              </a:rPr>
              <a:t>Analysis of Soil and Environmental Parameters Across Different Crops</a:t>
            </a:r>
            <a:r>
              <a:rPr lang="en-US" sz="850" dirty="0">
                <a:solidFill>
                  <a:srgbClr val="5B6B5C"/>
                </a:solidFill>
                <a:ea typeface="Calibri" pitchFamily="34" charset="-122"/>
                <a:cs typeface="Calibri" pitchFamily="34" charset="-120"/>
              </a:rPr>
              <a:t>  </a:t>
            </a:r>
            <a:r>
              <a:rPr lang="en-US" sz="850" dirty="0">
                <a:solidFill>
                  <a:srgbClr val="5B6B5C"/>
                </a:solidFill>
                <a:latin typeface="Calibri" pitchFamily="34" charset="0"/>
                <a:ea typeface="Calibri" pitchFamily="34" charset="-122"/>
                <a:cs typeface="Calibri" pitchFamily="34" charset="-120"/>
              </a:rPr>
              <a:t>|  Exploratory Data Analysis</a:t>
            </a:r>
            <a:endParaRPr lang="en-US" sz="850" dirty="0"/>
          </a:p>
        </p:txBody>
      </p:sp>
      <p:sp>
        <p:nvSpPr>
          <p:cNvPr id="4" name="Text 2"/>
          <p:cNvSpPr/>
          <p:nvPr/>
        </p:nvSpPr>
        <p:spPr>
          <a:xfrm>
            <a:off x="11185855" y="6547104"/>
            <a:ext cx="548640" cy="256032"/>
          </a:xfrm>
          <a:prstGeom prst="rect">
            <a:avLst/>
          </a:prstGeom>
          <a:noFill/>
          <a:ln/>
        </p:spPr>
        <p:txBody>
          <a:bodyPr wrap="square" rtlCol="0" anchor="ctr"/>
          <a:lstStyle/>
          <a:p>
            <a:pPr marL="0" indent="0" algn="r">
              <a:buNone/>
            </a:pPr>
            <a:r>
              <a:rPr lang="en-US" sz="900" dirty="0">
                <a:solidFill>
                  <a:srgbClr val="5B6B5C"/>
                </a:solidFill>
                <a:latin typeface="Calibri" pitchFamily="34" charset="0"/>
                <a:ea typeface="Calibri" pitchFamily="34" charset="-122"/>
                <a:cs typeface="Calibri" pitchFamily="34" charset="-120"/>
              </a:rPr>
              <a:t>9</a:t>
            </a:r>
            <a:endParaRPr lang="en-US" sz="900" dirty="0"/>
          </a:p>
        </p:txBody>
      </p:sp>
      <p:pic>
        <p:nvPicPr>
          <p:cNvPr id="6" name="Image 1" descr="charts/pairplot_sample.png"/>
          <p:cNvPicPr>
            <a:picLocks noChangeAspect="1"/>
          </p:cNvPicPr>
          <p:nvPr/>
        </p:nvPicPr>
        <p:blipFill>
          <a:blip r:embed="rId3"/>
          <a:stretch>
            <a:fillRect/>
          </a:stretch>
        </p:blipFill>
        <p:spPr>
          <a:xfrm>
            <a:off x="6383793" y="821255"/>
            <a:ext cx="5268276" cy="495252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Shape 3"/>
          <p:cNvSpPr/>
          <p:nvPr/>
        </p:nvSpPr>
        <p:spPr>
          <a:xfrm>
            <a:off x="613802" y="2246335"/>
            <a:ext cx="5334000" cy="2328433"/>
          </a:xfrm>
          <a:prstGeom prst="roundRect">
            <a:avLst>
              <a:gd name="adj" fmla="val 7059"/>
            </a:avLst>
          </a:prstGeom>
          <a:solidFill>
            <a:srgbClr val="F2F5F0"/>
          </a:solidFill>
          <a:ln>
            <a:solidFill>
              <a:schemeClr val="accent6">
                <a:lumMod val="75000"/>
              </a:schemeClr>
            </a:solidFill>
          </a:ln>
        </p:spPr>
      </p:sp>
      <p:sp>
        <p:nvSpPr>
          <p:cNvPr id="8" name="Text 4"/>
          <p:cNvSpPr/>
          <p:nvPr/>
        </p:nvSpPr>
        <p:spPr>
          <a:xfrm>
            <a:off x="1103861" y="2390966"/>
            <a:ext cx="4493217" cy="1813105"/>
          </a:xfrm>
          <a:prstGeom prst="rect">
            <a:avLst/>
          </a:prstGeom>
          <a:noFill/>
          <a:ln>
            <a:noFill/>
          </a:ln>
        </p:spPr>
        <p:txBody>
          <a:bodyPr wrap="square" rtlCol="0" anchor="ctr"/>
          <a:lstStyle/>
          <a:p>
            <a:pPr marL="0" indent="0">
              <a:lnSpc>
                <a:spcPct val="120000"/>
              </a:lnSpc>
              <a:buNone/>
            </a:pPr>
            <a:r>
              <a:rPr lang="en-US" sz="1400" b="1" dirty="0">
                <a:solidFill>
                  <a:srgbClr val="2C5F2D"/>
                </a:solidFill>
                <a:latin typeface="Calibri" pitchFamily="34" charset="0"/>
                <a:ea typeface="Calibri" pitchFamily="34" charset="-122"/>
                <a:cs typeface="Calibri" pitchFamily="34" charset="-120"/>
              </a:rPr>
              <a:t>P-K is the only strong relationship (r = 0.74); all other pairs are weak (|r| &lt; 0.25).  </a:t>
            </a:r>
            <a:r>
              <a:rPr lang="en-US" sz="1400" dirty="0">
                <a:solidFill>
                  <a:srgbClr val="232D24"/>
                </a:solidFill>
                <a:latin typeface="Calibri" pitchFamily="34" charset="0"/>
                <a:ea typeface="Calibri" pitchFamily="34" charset="-122"/>
                <a:cs typeface="Calibri" pitchFamily="34" charset="-120"/>
              </a:rPr>
              <a:t>Pairplot uses a random sample of 400 of the 2,200 records for visual clarity; patterns are consistent with the full dataset.  </a:t>
            </a:r>
            <a:r>
              <a:rPr lang="en-US" sz="1400" b="1" i="1" dirty="0">
                <a:solidFill>
                  <a:srgbClr val="B85042"/>
                </a:solidFill>
                <a:latin typeface="Calibri" pitchFamily="34" charset="0"/>
                <a:ea typeface="Calibri" pitchFamily="34" charset="-122"/>
                <a:cs typeface="Calibri" pitchFamily="34" charset="-120"/>
              </a:rPr>
              <a:t>Correlation indicates association, not causation.</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926D69-D15B-939E-BAE3-17029F88FDE7}"/>
              </a:ext>
            </a:extLst>
          </p:cNvPr>
          <p:cNvSpPr/>
          <p:nvPr/>
        </p:nvSpPr>
        <p:spPr>
          <a:xfrm>
            <a:off x="8630194" y="5878286"/>
            <a:ext cx="3561806" cy="9797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Image 0" descr="charts/heatmap_corr.png">
            <a:extLst>
              <a:ext uri="{FF2B5EF4-FFF2-40B4-BE49-F238E27FC236}">
                <a16:creationId xmlns:a16="http://schemas.microsoft.com/office/drawing/2014/main" id="{74B5127B-1B80-C82C-7F41-A7DB85FC5105}"/>
              </a:ext>
            </a:extLst>
          </p:cNvPr>
          <p:cNvPicPr>
            <a:picLocks noChangeAspect="1"/>
          </p:cNvPicPr>
          <p:nvPr/>
        </p:nvPicPr>
        <p:blipFill>
          <a:blip r:embed="rId2"/>
          <a:stretch>
            <a:fillRect/>
          </a:stretch>
        </p:blipFill>
        <p:spPr>
          <a:xfrm>
            <a:off x="6640243" y="1030721"/>
            <a:ext cx="4929096" cy="46211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TextBox 4">
            <a:extLst>
              <a:ext uri="{FF2B5EF4-FFF2-40B4-BE49-F238E27FC236}">
                <a16:creationId xmlns:a16="http://schemas.microsoft.com/office/drawing/2014/main" id="{402FAABF-0FE5-2BFC-E14B-C311E92DC490}"/>
              </a:ext>
            </a:extLst>
          </p:cNvPr>
          <p:cNvSpPr txBox="1"/>
          <p:nvPr/>
        </p:nvSpPr>
        <p:spPr>
          <a:xfrm>
            <a:off x="374468" y="366033"/>
            <a:ext cx="4659086" cy="1077218"/>
          </a:xfrm>
          <a:prstGeom prst="rect">
            <a:avLst/>
          </a:prstGeom>
          <a:noFill/>
        </p:spPr>
        <p:txBody>
          <a:bodyPr wrap="square" rtlCol="0">
            <a:spAutoFit/>
          </a:bodyPr>
          <a:lstStyle/>
          <a:p>
            <a:r>
              <a:rPr lang="en-US" sz="3200" b="1" dirty="0">
                <a:solidFill>
                  <a:srgbClr val="2C5F2D"/>
                </a:solidFill>
                <a:latin typeface="Cambria" pitchFamily="34" charset="0"/>
                <a:ea typeface="Cambria" pitchFamily="34" charset="-122"/>
                <a:cs typeface="Cambria" pitchFamily="34" charset="-120"/>
              </a:rPr>
              <a:t>Multivariate Analysis</a:t>
            </a:r>
            <a:endParaRPr lang="en-US" sz="3200" dirty="0"/>
          </a:p>
          <a:p>
            <a:endParaRPr lang="en-IN" sz="3200" dirty="0"/>
          </a:p>
        </p:txBody>
      </p:sp>
      <p:sp>
        <p:nvSpPr>
          <p:cNvPr id="7" name="Rectangle: Rounded Corners 6">
            <a:extLst>
              <a:ext uri="{FF2B5EF4-FFF2-40B4-BE49-F238E27FC236}">
                <a16:creationId xmlns:a16="http://schemas.microsoft.com/office/drawing/2014/main" id="{59A94A80-CB81-4AD5-5317-5BC38A56343C}"/>
              </a:ext>
            </a:extLst>
          </p:cNvPr>
          <p:cNvSpPr/>
          <p:nvPr/>
        </p:nvSpPr>
        <p:spPr>
          <a:xfrm>
            <a:off x="374468" y="1678577"/>
            <a:ext cx="5841276" cy="3267892"/>
          </a:xfrm>
          <a:prstGeom prst="roundRect">
            <a:avLst>
              <a:gd name="adj" fmla="val 6008"/>
            </a:avLst>
          </a:prstGeom>
          <a:solidFill>
            <a:srgbClr val="F2F5F0"/>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2604AFDB-5200-800F-5570-BC2BEFB58351}"/>
              </a:ext>
            </a:extLst>
          </p:cNvPr>
          <p:cNvSpPr txBox="1"/>
          <p:nvPr/>
        </p:nvSpPr>
        <p:spPr>
          <a:xfrm>
            <a:off x="622661" y="2110184"/>
            <a:ext cx="5490755" cy="2462213"/>
          </a:xfrm>
          <a:prstGeom prst="rect">
            <a:avLst/>
          </a:prstGeom>
          <a:noFill/>
        </p:spPr>
        <p:txBody>
          <a:bodyPr wrap="square" rtlCol="0">
            <a:spAutoFit/>
          </a:bodyPr>
          <a:lstStyle/>
          <a:p>
            <a:r>
              <a:rPr lang="en-US" sz="1400" b="1" dirty="0">
                <a:solidFill>
                  <a:srgbClr val="2C5F2D"/>
                </a:solidFill>
              </a:rPr>
              <a:t>Strongest Soil Links: </a:t>
            </a:r>
            <a:r>
              <a:rPr lang="en-US" sz="1400" dirty="0"/>
              <a:t>Phosphorus (P) and Potassium (K) have a strong positive correlation of </a:t>
            </a:r>
            <a:r>
              <a:rPr lang="en-US" sz="1400" b="1" dirty="0"/>
              <a:t>0.74</a:t>
            </a:r>
            <a:r>
              <a:rPr lang="en-US" sz="1400" dirty="0"/>
              <a:t>. If a soil sample is high in one, it is highly likely to be high in the other.</a:t>
            </a:r>
          </a:p>
          <a:p>
            <a:endParaRPr lang="en-US" sz="1400" dirty="0"/>
          </a:p>
          <a:p>
            <a:r>
              <a:rPr lang="en-US" sz="1400" b="1" dirty="0">
                <a:solidFill>
                  <a:srgbClr val="2C5F2D"/>
                </a:solidFill>
              </a:rPr>
              <a:t>Weakest Soil Links</a:t>
            </a:r>
            <a:r>
              <a:rPr lang="en-US" sz="1400" dirty="0"/>
              <a:t>: Nitrogen (N) has very little linear relationship with P (-0.23) or K (-0.14).</a:t>
            </a:r>
          </a:p>
          <a:p>
            <a:endParaRPr lang="en-US" sz="1400" dirty="0"/>
          </a:p>
          <a:p>
            <a:r>
              <a:rPr lang="en-US" sz="1400" b="1" dirty="0">
                <a:solidFill>
                  <a:srgbClr val="2C5F2D"/>
                </a:solidFill>
              </a:rPr>
              <a:t>Weather &amp; Environment</a:t>
            </a:r>
            <a:r>
              <a:rPr lang="en-US" sz="1400" dirty="0"/>
              <a:t>: Climate variables like Temperature, Humidity, and Rainfall show almost zero correlation with soil nutrients (all values are close to 0). This means the environmental factors in this dataset do not linearly predict nutrient levels.</a:t>
            </a:r>
          </a:p>
        </p:txBody>
      </p:sp>
      <p:sp>
        <p:nvSpPr>
          <p:cNvPr id="9" name="TextBox 8">
            <a:extLst>
              <a:ext uri="{FF2B5EF4-FFF2-40B4-BE49-F238E27FC236}">
                <a16:creationId xmlns:a16="http://schemas.microsoft.com/office/drawing/2014/main" id="{B84EABA2-3956-3A5C-ADAE-16B86F8769B3}"/>
              </a:ext>
            </a:extLst>
          </p:cNvPr>
          <p:cNvSpPr txBox="1"/>
          <p:nvPr/>
        </p:nvSpPr>
        <p:spPr>
          <a:xfrm>
            <a:off x="11447418" y="6548142"/>
            <a:ext cx="583474" cy="230832"/>
          </a:xfrm>
          <a:prstGeom prst="rect">
            <a:avLst/>
          </a:prstGeom>
          <a:noFill/>
        </p:spPr>
        <p:txBody>
          <a:bodyPr wrap="square" rtlCol="0">
            <a:spAutoFit/>
          </a:bodyPr>
          <a:lstStyle/>
          <a:p>
            <a:r>
              <a:rPr lang="en-US" sz="900" dirty="0">
                <a:solidFill>
                  <a:srgbClr val="2C5F2D"/>
                </a:solidFill>
              </a:rPr>
              <a:t>10</a:t>
            </a:r>
            <a:endParaRPr lang="en-IN" sz="900" dirty="0">
              <a:solidFill>
                <a:srgbClr val="2C5F2D"/>
              </a:solidFill>
            </a:endParaRPr>
          </a:p>
        </p:txBody>
      </p:sp>
      <p:sp>
        <p:nvSpPr>
          <p:cNvPr id="6" name="TextBox 5">
            <a:extLst>
              <a:ext uri="{FF2B5EF4-FFF2-40B4-BE49-F238E27FC236}">
                <a16:creationId xmlns:a16="http://schemas.microsoft.com/office/drawing/2014/main" id="{C35486BF-D90F-22B3-B0DD-3BE9D0BB2639}"/>
              </a:ext>
            </a:extLst>
          </p:cNvPr>
          <p:cNvSpPr txBox="1"/>
          <p:nvPr/>
        </p:nvSpPr>
        <p:spPr>
          <a:xfrm>
            <a:off x="364669" y="6605849"/>
            <a:ext cx="6006738" cy="346249"/>
          </a:xfrm>
          <a:prstGeom prst="rect">
            <a:avLst/>
          </a:prstGeom>
          <a:noFill/>
        </p:spPr>
        <p:txBody>
          <a:bodyPr wrap="square" rtlCol="0">
            <a:spAutoFit/>
          </a:bodyPr>
          <a:lstStyle/>
          <a:p>
            <a:r>
              <a:rPr lang="en-US" sz="800" dirty="0">
                <a:solidFill>
                  <a:srgbClr val="5B6B5C"/>
                </a:solidFill>
                <a:latin typeface="Calibri" pitchFamily="34" charset="0"/>
                <a:ea typeface="Calibri" pitchFamily="34" charset="-122"/>
                <a:cs typeface="Calibri" pitchFamily="34" charset="-120"/>
              </a:rPr>
              <a:t>Analysis of </a:t>
            </a:r>
            <a:r>
              <a:rPr lang="en-US" sz="800" dirty="0">
                <a:solidFill>
                  <a:srgbClr val="5B6B5C"/>
                </a:solidFill>
                <a:ea typeface="Cambria" panose="02040503050406030204" pitchFamily="18" charset="0"/>
                <a:cs typeface="Calibri"/>
                <a:sym typeface="Calibri"/>
              </a:rPr>
              <a:t>Analysis of Soil and Environmental Parameters Across Different Crops</a:t>
            </a:r>
            <a:r>
              <a:rPr lang="en-US" sz="800" dirty="0">
                <a:solidFill>
                  <a:srgbClr val="5B6B5C"/>
                </a:solidFill>
                <a:ea typeface="Calibri" pitchFamily="34" charset="-122"/>
                <a:cs typeface="Calibri" pitchFamily="34" charset="-120"/>
              </a:rPr>
              <a:t>  </a:t>
            </a:r>
            <a:r>
              <a:rPr lang="en-US" sz="800" dirty="0">
                <a:solidFill>
                  <a:srgbClr val="5B6B5C"/>
                </a:solidFill>
                <a:latin typeface="Calibri" pitchFamily="34" charset="0"/>
                <a:ea typeface="Calibri" pitchFamily="34" charset="-122"/>
                <a:cs typeface="Calibri" pitchFamily="34" charset="-120"/>
              </a:rPr>
              <a:t>|  Exploratory Data Analysis</a:t>
            </a:r>
            <a:endParaRPr lang="en-US" sz="800" dirty="0"/>
          </a:p>
          <a:p>
            <a:endParaRPr lang="en-IN" sz="850" dirty="0"/>
          </a:p>
        </p:txBody>
      </p:sp>
    </p:spTree>
    <p:extLst>
      <p:ext uri="{BB962C8B-B14F-4D97-AF65-F5344CB8AC3E}">
        <p14:creationId xmlns:p14="http://schemas.microsoft.com/office/powerpoint/2010/main" val="4897686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437FBE09-7EF6-24B8-B5B4-237913FC380A}"/>
              </a:ext>
            </a:extLst>
          </p:cNvPr>
          <p:cNvSpPr/>
          <p:nvPr/>
        </p:nvSpPr>
        <p:spPr>
          <a:xfrm>
            <a:off x="457199" y="4022487"/>
            <a:ext cx="11416937" cy="2417499"/>
          </a:xfrm>
          <a:prstGeom prst="roundRect">
            <a:avLst>
              <a:gd name="adj" fmla="val 10183"/>
            </a:avLst>
          </a:prstGeom>
          <a:solidFill>
            <a:srgbClr val="ECF5E7"/>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 name="Text 0"/>
          <p:cNvSpPr/>
          <p:nvPr/>
        </p:nvSpPr>
        <p:spPr>
          <a:xfrm>
            <a:off x="492036" y="347472"/>
            <a:ext cx="11277295" cy="658368"/>
          </a:xfrm>
          <a:prstGeom prst="rect">
            <a:avLst/>
          </a:prstGeom>
          <a:noFill/>
          <a:ln/>
        </p:spPr>
        <p:txBody>
          <a:bodyPr wrap="square" lIns="0" tIns="0" rIns="0" bIns="0" rtlCol="0" anchor="ctr"/>
          <a:lstStyle/>
          <a:p>
            <a:pPr marL="0" indent="0" algn="l">
              <a:buNone/>
            </a:pPr>
            <a:r>
              <a:rPr lang="en-US" sz="3200" b="1" dirty="0">
                <a:solidFill>
                  <a:srgbClr val="2C5F2D"/>
                </a:solidFill>
                <a:latin typeface="Cambria" pitchFamily="34" charset="0"/>
                <a:ea typeface="Cambria" pitchFamily="34" charset="-122"/>
                <a:cs typeface="Cambria" pitchFamily="34" charset="-120"/>
              </a:rPr>
              <a:t>Pivot Tables &amp; Key Insights</a:t>
            </a:r>
            <a:endParaRPr lang="en-US" sz="3200" dirty="0"/>
          </a:p>
        </p:txBody>
      </p:sp>
      <p:sp>
        <p:nvSpPr>
          <p:cNvPr id="3" name="Text 1"/>
          <p:cNvSpPr/>
          <p:nvPr/>
        </p:nvSpPr>
        <p:spPr>
          <a:xfrm>
            <a:off x="457200" y="6547104"/>
            <a:ext cx="7315200" cy="256032"/>
          </a:xfrm>
          <a:prstGeom prst="rect">
            <a:avLst/>
          </a:prstGeom>
          <a:noFill/>
          <a:ln/>
        </p:spPr>
        <p:txBody>
          <a:bodyPr wrap="square" rtlCol="0" anchor="ctr"/>
          <a:lstStyle/>
          <a:p>
            <a:r>
              <a:rPr lang="en-US" sz="850" dirty="0">
                <a:solidFill>
                  <a:srgbClr val="5B6B5C"/>
                </a:solidFill>
                <a:latin typeface="Calibri" pitchFamily="34" charset="0"/>
                <a:ea typeface="Calibri" pitchFamily="34" charset="-122"/>
                <a:cs typeface="Calibri" pitchFamily="34" charset="-120"/>
              </a:rPr>
              <a:t>Analysis of </a:t>
            </a:r>
            <a:r>
              <a:rPr lang="en-US" sz="850" dirty="0">
                <a:solidFill>
                  <a:srgbClr val="5B6B5C"/>
                </a:solidFill>
                <a:ea typeface="Cambria" panose="02040503050406030204" pitchFamily="18" charset="0"/>
                <a:cs typeface="Calibri"/>
                <a:sym typeface="Calibri"/>
              </a:rPr>
              <a:t>Analysis of Soil and Environmental Parameters Across Different Crops</a:t>
            </a:r>
            <a:r>
              <a:rPr lang="en-US" sz="850" dirty="0">
                <a:solidFill>
                  <a:srgbClr val="5B6B5C"/>
                </a:solidFill>
                <a:ea typeface="Calibri" pitchFamily="34" charset="-122"/>
                <a:cs typeface="Calibri" pitchFamily="34" charset="-120"/>
              </a:rPr>
              <a:t>  </a:t>
            </a:r>
            <a:r>
              <a:rPr lang="en-US" sz="850" dirty="0">
                <a:solidFill>
                  <a:srgbClr val="5B6B5C"/>
                </a:solidFill>
                <a:latin typeface="Calibri" pitchFamily="34" charset="0"/>
                <a:ea typeface="Calibri" pitchFamily="34" charset="-122"/>
                <a:cs typeface="Calibri" pitchFamily="34" charset="-120"/>
              </a:rPr>
              <a:t>|  Exploratory Data Analysis</a:t>
            </a:r>
            <a:endParaRPr lang="en-US" sz="850" dirty="0"/>
          </a:p>
        </p:txBody>
      </p:sp>
      <p:sp>
        <p:nvSpPr>
          <p:cNvPr id="4" name="Text 2"/>
          <p:cNvSpPr/>
          <p:nvPr/>
        </p:nvSpPr>
        <p:spPr>
          <a:xfrm>
            <a:off x="11185855" y="6547104"/>
            <a:ext cx="548640" cy="256032"/>
          </a:xfrm>
          <a:prstGeom prst="rect">
            <a:avLst/>
          </a:prstGeom>
          <a:noFill/>
          <a:ln/>
        </p:spPr>
        <p:txBody>
          <a:bodyPr wrap="square" rtlCol="0" anchor="ctr"/>
          <a:lstStyle/>
          <a:p>
            <a:pPr marL="0" indent="0" algn="r">
              <a:buNone/>
            </a:pPr>
            <a:r>
              <a:rPr lang="en-US" sz="900" dirty="0">
                <a:solidFill>
                  <a:srgbClr val="5B6B5C"/>
                </a:solidFill>
                <a:latin typeface="Calibri" pitchFamily="34" charset="0"/>
                <a:ea typeface="Calibri" pitchFamily="34" charset="-122"/>
                <a:cs typeface="Calibri" pitchFamily="34" charset="-120"/>
              </a:rPr>
              <a:t>11</a:t>
            </a:r>
            <a:endParaRPr lang="en-US" sz="900" dirty="0"/>
          </a:p>
        </p:txBody>
      </p:sp>
      <p:sp>
        <p:nvSpPr>
          <p:cNvPr id="5" name="Text 3"/>
          <p:cNvSpPr/>
          <p:nvPr/>
        </p:nvSpPr>
        <p:spPr>
          <a:xfrm>
            <a:off x="457199" y="1258388"/>
            <a:ext cx="5410048" cy="274320"/>
          </a:xfrm>
          <a:prstGeom prst="rect">
            <a:avLst/>
          </a:prstGeom>
          <a:noFill/>
          <a:ln/>
        </p:spPr>
        <p:txBody>
          <a:bodyPr wrap="square" rtlCol="0" anchor="ctr"/>
          <a:lstStyle/>
          <a:p>
            <a:pPr marL="0" indent="0">
              <a:buNone/>
            </a:pPr>
            <a:r>
              <a:rPr lang="en-US" sz="1400" b="1" dirty="0">
                <a:solidFill>
                  <a:srgbClr val="2C5F2D"/>
                </a:solidFill>
                <a:latin typeface="Cambria" panose="02040503050406030204" pitchFamily="18" charset="0"/>
                <a:ea typeface="Cambria" panose="02040503050406030204" pitchFamily="18" charset="0"/>
                <a:cs typeface="Calibri" pitchFamily="34" charset="-120"/>
              </a:rPr>
              <a:t>Average N-P-K by Crop (selected)</a:t>
            </a:r>
            <a:endParaRPr lang="en-US" sz="1400" dirty="0">
              <a:latin typeface="Cambria" panose="02040503050406030204" pitchFamily="18" charset="0"/>
              <a:ea typeface="Cambria" panose="02040503050406030204" pitchFamily="18" charset="0"/>
            </a:endParaRPr>
          </a:p>
        </p:txBody>
      </p:sp>
      <p:graphicFrame>
        <p:nvGraphicFramePr>
          <p:cNvPr id="12" name="Table 0"/>
          <p:cNvGraphicFramePr>
            <a:graphicFrameLocks noGrp="1"/>
          </p:cNvGraphicFramePr>
          <p:nvPr>
            <p:extLst>
              <p:ext uri="{D42A27DB-BD31-4B8C-83A1-F6EECF244321}">
                <p14:modId xmlns:p14="http://schemas.microsoft.com/office/powerpoint/2010/main" val="3343488657"/>
              </p:ext>
            </p:extLst>
          </p:nvPr>
        </p:nvGraphicFramePr>
        <p:xfrm>
          <a:off x="457199" y="1664207"/>
          <a:ext cx="5560423" cy="2264227"/>
        </p:xfrm>
        <a:graphic>
          <a:graphicData uri="http://schemas.openxmlformats.org/drawingml/2006/table">
            <a:tbl>
              <a:tblPr/>
              <a:tblGrid>
                <a:gridCol w="1890544">
                  <a:extLst>
                    <a:ext uri="{9D8B030D-6E8A-4147-A177-3AD203B41FA5}">
                      <a16:colId xmlns:a16="http://schemas.microsoft.com/office/drawing/2014/main" val="20000"/>
                    </a:ext>
                  </a:extLst>
                </a:gridCol>
                <a:gridCol w="1223293">
                  <a:extLst>
                    <a:ext uri="{9D8B030D-6E8A-4147-A177-3AD203B41FA5}">
                      <a16:colId xmlns:a16="http://schemas.microsoft.com/office/drawing/2014/main" val="20001"/>
                    </a:ext>
                  </a:extLst>
                </a:gridCol>
                <a:gridCol w="1223293">
                  <a:extLst>
                    <a:ext uri="{9D8B030D-6E8A-4147-A177-3AD203B41FA5}">
                      <a16:colId xmlns:a16="http://schemas.microsoft.com/office/drawing/2014/main" val="20002"/>
                    </a:ext>
                  </a:extLst>
                </a:gridCol>
                <a:gridCol w="1223293">
                  <a:extLst>
                    <a:ext uri="{9D8B030D-6E8A-4147-A177-3AD203B41FA5}">
                      <a16:colId xmlns:a16="http://schemas.microsoft.com/office/drawing/2014/main" val="20003"/>
                    </a:ext>
                  </a:extLst>
                </a:gridCol>
              </a:tblGrid>
              <a:tr h="323461">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Crop</a:t>
                      </a:r>
                      <a:endParaRPr lang="en-US" sz="1400" dirty="0">
                        <a:latin typeface="Calibri" charset="0"/>
                        <a:ea typeface="Calibri" charset="0"/>
                        <a:cs typeface="Calibri"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7FA25C"/>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N</a:t>
                      </a:r>
                      <a:endParaRPr lang="en-US" sz="1400" dirty="0">
                        <a:latin typeface="Calibri" charset="0"/>
                        <a:ea typeface="Calibri" charset="0"/>
                        <a:cs typeface="Calibri"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7FA25C"/>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a:t>
                      </a:r>
                      <a:endParaRPr lang="en-US" sz="1400" dirty="0">
                        <a:latin typeface="Calibri" charset="0"/>
                        <a:ea typeface="Calibri" charset="0"/>
                        <a:cs typeface="Calibri"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7FA25C"/>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K</a:t>
                      </a:r>
                      <a:endParaRPr lang="en-US" sz="1400" dirty="0">
                        <a:latin typeface="Calibri" charset="0"/>
                        <a:ea typeface="Calibri" charset="0"/>
                        <a:cs typeface="Calibri"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7FA25C"/>
                    </a:solidFill>
                  </a:tcPr>
                </a:tc>
                <a:extLst>
                  <a:ext uri="{0D108BD9-81ED-4DB2-BD59-A6C34878D82A}">
                    <a16:rowId xmlns:a16="http://schemas.microsoft.com/office/drawing/2014/main" val="10000"/>
                  </a:ext>
                </a:extLst>
              </a:tr>
              <a:tr h="323461">
                <a:tc>
                  <a:txBody>
                    <a:bodyPr/>
                    <a:lstStyle/>
                    <a:p>
                      <a:pPr marL="0" indent="0" algn="l">
                        <a:buNone/>
                      </a:pPr>
                      <a:r>
                        <a:rPr lang="en-US" sz="1400" b="1" dirty="0">
                          <a:solidFill>
                            <a:srgbClr val="232D24"/>
                          </a:solidFill>
                          <a:latin typeface="Calibri" pitchFamily="34" charset="0"/>
                          <a:ea typeface="Calibri" pitchFamily="34" charset="-122"/>
                          <a:cs typeface="Calibri" pitchFamily="34" charset="-120"/>
                        </a:rPr>
                        <a:t>cotton</a:t>
                      </a:r>
                      <a:endParaRPr lang="en-US" sz="1400" dirty="0">
                        <a:latin typeface="Calibri" charset="0"/>
                        <a:ea typeface="Calibri" charset="0"/>
                        <a:cs typeface="Calibri"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117.8</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46.2</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19.6</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3461">
                <a:tc>
                  <a:txBody>
                    <a:bodyPr/>
                    <a:lstStyle/>
                    <a:p>
                      <a:pPr marL="0" indent="0" algn="l">
                        <a:buNone/>
                      </a:pPr>
                      <a:r>
                        <a:rPr lang="en-US" sz="1400" b="1" dirty="0">
                          <a:solidFill>
                            <a:srgbClr val="232D24"/>
                          </a:solidFill>
                          <a:latin typeface="Calibri" pitchFamily="34" charset="0"/>
                          <a:ea typeface="Calibri" pitchFamily="34" charset="-122"/>
                          <a:cs typeface="Calibri" pitchFamily="34" charset="-120"/>
                        </a:rPr>
                        <a:t>rice</a:t>
                      </a:r>
                      <a:endParaRPr lang="en-US" sz="1400" dirty="0">
                        <a:latin typeface="Calibri" charset="0"/>
                        <a:ea typeface="Calibri" charset="0"/>
                        <a:cs typeface="Calibri"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79.9</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47.6</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39.9</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extLst>
                  <a:ext uri="{0D108BD9-81ED-4DB2-BD59-A6C34878D82A}">
                    <a16:rowId xmlns:a16="http://schemas.microsoft.com/office/drawing/2014/main" val="10002"/>
                  </a:ext>
                </a:extLst>
              </a:tr>
              <a:tr h="323461">
                <a:tc>
                  <a:txBody>
                    <a:bodyPr/>
                    <a:lstStyle/>
                    <a:p>
                      <a:pPr marL="0" indent="0" algn="l">
                        <a:buNone/>
                      </a:pPr>
                      <a:r>
                        <a:rPr lang="en-US" sz="1400" b="1" dirty="0">
                          <a:solidFill>
                            <a:srgbClr val="232D24"/>
                          </a:solidFill>
                          <a:latin typeface="Calibri" pitchFamily="34" charset="0"/>
                          <a:ea typeface="Calibri" pitchFamily="34" charset="-122"/>
                          <a:cs typeface="Calibri" pitchFamily="34" charset="-120"/>
                        </a:rPr>
                        <a:t>chickpea</a:t>
                      </a:r>
                      <a:endParaRPr lang="en-US" sz="1400" dirty="0">
                        <a:latin typeface="Calibri" charset="0"/>
                        <a:ea typeface="Calibri" charset="0"/>
                        <a:cs typeface="Calibri"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40.1</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67.8</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79.9</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3461">
                <a:tc>
                  <a:txBody>
                    <a:bodyPr/>
                    <a:lstStyle/>
                    <a:p>
                      <a:pPr marL="0" indent="0" algn="l">
                        <a:buNone/>
                      </a:pPr>
                      <a:r>
                        <a:rPr lang="en-US" sz="1400" b="1" dirty="0">
                          <a:solidFill>
                            <a:srgbClr val="232D24"/>
                          </a:solidFill>
                          <a:latin typeface="Calibri" pitchFamily="34" charset="0"/>
                          <a:ea typeface="Calibri" pitchFamily="34" charset="-122"/>
                          <a:cs typeface="Calibri" pitchFamily="34" charset="-120"/>
                        </a:rPr>
                        <a:t>grapes</a:t>
                      </a:r>
                      <a:endParaRPr lang="en-US" sz="1400" dirty="0">
                        <a:latin typeface="Calibri" charset="0"/>
                        <a:ea typeface="Calibri" charset="0"/>
                        <a:cs typeface="Calibri"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23.2</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132.5</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200.1</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extLst>
                  <a:ext uri="{0D108BD9-81ED-4DB2-BD59-A6C34878D82A}">
                    <a16:rowId xmlns:a16="http://schemas.microsoft.com/office/drawing/2014/main" val="10004"/>
                  </a:ext>
                </a:extLst>
              </a:tr>
              <a:tr h="323461">
                <a:tc>
                  <a:txBody>
                    <a:bodyPr/>
                    <a:lstStyle/>
                    <a:p>
                      <a:pPr marL="0" indent="0" algn="l">
                        <a:buNone/>
                      </a:pPr>
                      <a:r>
                        <a:rPr lang="en-US" sz="1400" b="1" dirty="0">
                          <a:solidFill>
                            <a:srgbClr val="232D24"/>
                          </a:solidFill>
                          <a:latin typeface="Calibri" pitchFamily="34" charset="0"/>
                          <a:ea typeface="Calibri" pitchFamily="34" charset="-122"/>
                          <a:cs typeface="Calibri" pitchFamily="34" charset="-120"/>
                        </a:rPr>
                        <a:t>apple</a:t>
                      </a:r>
                      <a:endParaRPr lang="en-US" sz="1400" dirty="0">
                        <a:latin typeface="Calibri" charset="0"/>
                        <a:ea typeface="Calibri" charset="0"/>
                        <a:cs typeface="Calibri"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20.8</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134.2</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199.9</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3461">
                <a:tc>
                  <a:txBody>
                    <a:bodyPr/>
                    <a:lstStyle/>
                    <a:p>
                      <a:pPr marL="0" indent="0" algn="l">
                        <a:buNone/>
                      </a:pPr>
                      <a:r>
                        <a:rPr lang="en-US" sz="1400" b="1" dirty="0">
                          <a:solidFill>
                            <a:srgbClr val="232D24"/>
                          </a:solidFill>
                          <a:latin typeface="Calibri" pitchFamily="34" charset="0"/>
                          <a:ea typeface="Calibri" pitchFamily="34" charset="-122"/>
                          <a:cs typeface="Calibri" pitchFamily="34" charset="-120"/>
                        </a:rPr>
                        <a:t>lentil</a:t>
                      </a:r>
                      <a:endParaRPr lang="en-US" sz="1400" dirty="0">
                        <a:latin typeface="Calibri" charset="0"/>
                        <a:ea typeface="Calibri" charset="0"/>
                        <a:cs typeface="Calibri"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18.8</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68.4</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19.4</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extLst>
                  <a:ext uri="{0D108BD9-81ED-4DB2-BD59-A6C34878D82A}">
                    <a16:rowId xmlns:a16="http://schemas.microsoft.com/office/drawing/2014/main" val="10006"/>
                  </a:ext>
                </a:extLst>
              </a:tr>
            </a:tbl>
          </a:graphicData>
        </a:graphic>
      </p:graphicFrame>
      <p:sp>
        <p:nvSpPr>
          <p:cNvPr id="7" name="Text 4"/>
          <p:cNvSpPr/>
          <p:nvPr/>
        </p:nvSpPr>
        <p:spPr>
          <a:xfrm>
            <a:off x="6324448" y="1205267"/>
            <a:ext cx="5410048" cy="274320"/>
          </a:xfrm>
          <a:prstGeom prst="rect">
            <a:avLst/>
          </a:prstGeom>
          <a:noFill/>
          <a:ln/>
        </p:spPr>
        <p:txBody>
          <a:bodyPr wrap="square" rtlCol="0" anchor="ctr"/>
          <a:lstStyle/>
          <a:p>
            <a:pPr marL="0" indent="0">
              <a:buNone/>
            </a:pPr>
            <a:r>
              <a:rPr lang="en-US" sz="1400" b="1" dirty="0">
                <a:solidFill>
                  <a:srgbClr val="2C5F2D"/>
                </a:solidFill>
                <a:latin typeface="Cambria" panose="02040503050406030204" pitchFamily="18" charset="0"/>
                <a:ea typeface="Cambria" panose="02040503050406030204" pitchFamily="18" charset="0"/>
                <a:cs typeface="Calibri" pitchFamily="34" charset="-120"/>
              </a:rPr>
              <a:t>Average Environmental Conditions by Crop (selected)</a:t>
            </a:r>
            <a:endParaRPr lang="en-US" sz="1400" dirty="0">
              <a:latin typeface="Cambria" panose="02040503050406030204" pitchFamily="18" charset="0"/>
              <a:ea typeface="Cambria" panose="02040503050406030204" pitchFamily="18" charset="0"/>
            </a:endParaRPr>
          </a:p>
        </p:txBody>
      </p:sp>
      <p:graphicFrame>
        <p:nvGraphicFramePr>
          <p:cNvPr id="23" name="Table 1"/>
          <p:cNvGraphicFramePr>
            <a:graphicFrameLocks noGrp="1"/>
          </p:cNvGraphicFramePr>
          <p:nvPr>
            <p:extLst>
              <p:ext uri="{D42A27DB-BD31-4B8C-83A1-F6EECF244321}">
                <p14:modId xmlns:p14="http://schemas.microsoft.com/office/powerpoint/2010/main" val="2163913935"/>
              </p:ext>
            </p:extLst>
          </p:nvPr>
        </p:nvGraphicFramePr>
        <p:xfrm>
          <a:off x="6324447" y="1584964"/>
          <a:ext cx="5632423" cy="2352468"/>
        </p:xfrm>
        <a:graphic>
          <a:graphicData uri="http://schemas.openxmlformats.org/drawingml/2006/table">
            <a:tbl>
              <a:tblPr/>
              <a:tblGrid>
                <a:gridCol w="1635187">
                  <a:extLst>
                    <a:ext uri="{9D8B030D-6E8A-4147-A177-3AD203B41FA5}">
                      <a16:colId xmlns:a16="http://schemas.microsoft.com/office/drawing/2014/main" val="20000"/>
                    </a:ext>
                  </a:extLst>
                </a:gridCol>
                <a:gridCol w="1053737">
                  <a:extLst>
                    <a:ext uri="{9D8B030D-6E8A-4147-A177-3AD203B41FA5}">
                      <a16:colId xmlns:a16="http://schemas.microsoft.com/office/drawing/2014/main" val="20001"/>
                    </a:ext>
                  </a:extLst>
                </a:gridCol>
                <a:gridCol w="1071155">
                  <a:extLst>
                    <a:ext uri="{9D8B030D-6E8A-4147-A177-3AD203B41FA5}">
                      <a16:colId xmlns:a16="http://schemas.microsoft.com/office/drawing/2014/main" val="20002"/>
                    </a:ext>
                  </a:extLst>
                </a:gridCol>
                <a:gridCol w="862148">
                  <a:extLst>
                    <a:ext uri="{9D8B030D-6E8A-4147-A177-3AD203B41FA5}">
                      <a16:colId xmlns:a16="http://schemas.microsoft.com/office/drawing/2014/main" val="20003"/>
                    </a:ext>
                  </a:extLst>
                </a:gridCol>
                <a:gridCol w="1010196">
                  <a:extLst>
                    <a:ext uri="{9D8B030D-6E8A-4147-A177-3AD203B41FA5}">
                      <a16:colId xmlns:a16="http://schemas.microsoft.com/office/drawing/2014/main" val="20004"/>
                    </a:ext>
                  </a:extLst>
                </a:gridCol>
              </a:tblGrid>
              <a:tr h="435425">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Crop</a:t>
                      </a:r>
                      <a:endParaRPr lang="en-US" sz="1400" dirty="0">
                        <a:latin typeface="Calibri" charset="0"/>
                        <a:ea typeface="Calibri" charset="0"/>
                        <a:cs typeface="Calibri"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7FA25C"/>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Temp (°C)</a:t>
                      </a:r>
                      <a:endParaRPr lang="en-US" sz="1400" dirty="0">
                        <a:latin typeface="Calibri" charset="0"/>
                        <a:ea typeface="Calibri" charset="0"/>
                        <a:cs typeface="Calibri"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7FA25C"/>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Humidity (%)</a:t>
                      </a:r>
                      <a:endParaRPr lang="en-US" sz="1400" dirty="0">
                        <a:latin typeface="Calibri" charset="0"/>
                        <a:ea typeface="Calibri" charset="0"/>
                        <a:cs typeface="Calibri"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7FA25C"/>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pH</a:t>
                      </a:r>
                      <a:endParaRPr lang="en-US" sz="1400" dirty="0">
                        <a:latin typeface="Calibri" charset="0"/>
                        <a:ea typeface="Calibri" charset="0"/>
                        <a:cs typeface="Calibri"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7FA25C"/>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Rainfall (mm)</a:t>
                      </a:r>
                      <a:endParaRPr lang="en-US" sz="1400" dirty="0">
                        <a:latin typeface="Calibri" charset="0"/>
                        <a:ea typeface="Calibri" charset="0"/>
                        <a:cs typeface="Calibri"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7FA25C"/>
                    </a:solidFill>
                  </a:tcPr>
                </a:tc>
                <a:extLst>
                  <a:ext uri="{0D108BD9-81ED-4DB2-BD59-A6C34878D82A}">
                    <a16:rowId xmlns:a16="http://schemas.microsoft.com/office/drawing/2014/main" val="10000"/>
                  </a:ext>
                </a:extLst>
              </a:tr>
              <a:tr h="305718">
                <a:tc>
                  <a:txBody>
                    <a:bodyPr/>
                    <a:lstStyle/>
                    <a:p>
                      <a:pPr marL="0" indent="0" algn="l">
                        <a:buNone/>
                      </a:pPr>
                      <a:r>
                        <a:rPr lang="en-US" sz="1400" b="1" dirty="0">
                          <a:solidFill>
                            <a:srgbClr val="232D24"/>
                          </a:solidFill>
                          <a:latin typeface="Calibri" pitchFamily="34" charset="0"/>
                          <a:ea typeface="Calibri" pitchFamily="34" charset="-122"/>
                          <a:cs typeface="Calibri" pitchFamily="34" charset="-120"/>
                        </a:rPr>
                        <a:t>rice</a:t>
                      </a:r>
                      <a:endParaRPr lang="en-US" sz="1400" dirty="0">
                        <a:latin typeface="Calibri" charset="0"/>
                        <a:ea typeface="Calibri" charset="0"/>
                        <a:cs typeface="Calibri"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23.7</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82.3</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6.4</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236.2</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5718">
                <a:tc>
                  <a:txBody>
                    <a:bodyPr/>
                    <a:lstStyle/>
                    <a:p>
                      <a:pPr marL="0" indent="0" algn="l">
                        <a:buNone/>
                      </a:pPr>
                      <a:r>
                        <a:rPr lang="en-US" sz="1400" b="1" dirty="0">
                          <a:solidFill>
                            <a:srgbClr val="232D24"/>
                          </a:solidFill>
                          <a:latin typeface="Calibri" pitchFamily="34" charset="0"/>
                          <a:ea typeface="Calibri" pitchFamily="34" charset="-122"/>
                          <a:cs typeface="Calibri" pitchFamily="34" charset="-120"/>
                        </a:rPr>
                        <a:t>coconut</a:t>
                      </a:r>
                      <a:endParaRPr lang="en-US" sz="1400" dirty="0">
                        <a:latin typeface="Calibri" charset="0"/>
                        <a:ea typeface="Calibri" charset="0"/>
                        <a:cs typeface="Calibri"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27.4</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94.8</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6.0</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175.7</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extLst>
                  <a:ext uri="{0D108BD9-81ED-4DB2-BD59-A6C34878D82A}">
                    <a16:rowId xmlns:a16="http://schemas.microsoft.com/office/drawing/2014/main" val="10002"/>
                  </a:ext>
                </a:extLst>
              </a:tr>
              <a:tr h="305718">
                <a:tc>
                  <a:txBody>
                    <a:bodyPr/>
                    <a:lstStyle/>
                    <a:p>
                      <a:pPr marL="0" indent="0" algn="l">
                        <a:buNone/>
                      </a:pPr>
                      <a:r>
                        <a:rPr lang="en-US" sz="1400" b="1" dirty="0">
                          <a:solidFill>
                            <a:srgbClr val="232D24"/>
                          </a:solidFill>
                          <a:latin typeface="Calibri" pitchFamily="34" charset="0"/>
                          <a:ea typeface="Calibri" pitchFamily="34" charset="-122"/>
                          <a:cs typeface="Calibri" pitchFamily="34" charset="-120"/>
                        </a:rPr>
                        <a:t>mango</a:t>
                      </a:r>
                      <a:endParaRPr lang="en-US" sz="1400" dirty="0">
                        <a:latin typeface="Calibri" charset="0"/>
                        <a:ea typeface="Calibri" charset="0"/>
                        <a:cs typeface="Calibri"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31.2</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50.2</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5.8</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94.7</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5718">
                <a:tc>
                  <a:txBody>
                    <a:bodyPr/>
                    <a:lstStyle/>
                    <a:p>
                      <a:pPr marL="0" indent="0" algn="l">
                        <a:buNone/>
                      </a:pPr>
                      <a:r>
                        <a:rPr lang="en-US" sz="1400" b="1" dirty="0">
                          <a:solidFill>
                            <a:srgbClr val="232D24"/>
                          </a:solidFill>
                          <a:latin typeface="Calibri" pitchFamily="34" charset="0"/>
                          <a:ea typeface="Calibri" pitchFamily="34" charset="-122"/>
                          <a:cs typeface="Calibri" pitchFamily="34" charset="-120"/>
                        </a:rPr>
                        <a:t>kidneybeans</a:t>
                      </a:r>
                      <a:endParaRPr lang="en-US" sz="1400" dirty="0">
                        <a:latin typeface="Calibri" charset="0"/>
                        <a:ea typeface="Calibri" charset="0"/>
                        <a:cs typeface="Calibri"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20.1</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21.6</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5.7</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105.9</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extLst>
                  <a:ext uri="{0D108BD9-81ED-4DB2-BD59-A6C34878D82A}">
                    <a16:rowId xmlns:a16="http://schemas.microsoft.com/office/drawing/2014/main" val="10004"/>
                  </a:ext>
                </a:extLst>
              </a:tr>
              <a:tr h="305718">
                <a:tc>
                  <a:txBody>
                    <a:bodyPr/>
                    <a:lstStyle/>
                    <a:p>
                      <a:pPr marL="0" indent="0" algn="l">
                        <a:buNone/>
                      </a:pPr>
                      <a:r>
                        <a:rPr lang="en-US" sz="1400" b="1" dirty="0">
                          <a:solidFill>
                            <a:srgbClr val="232D24"/>
                          </a:solidFill>
                          <a:latin typeface="Calibri" pitchFamily="34" charset="0"/>
                          <a:ea typeface="Calibri" pitchFamily="34" charset="-122"/>
                          <a:cs typeface="Calibri" pitchFamily="34" charset="-120"/>
                        </a:rPr>
                        <a:t>chickpea</a:t>
                      </a:r>
                      <a:endParaRPr lang="en-US" sz="1400" dirty="0">
                        <a:latin typeface="Calibri" charset="0"/>
                        <a:ea typeface="Calibri" charset="0"/>
                        <a:cs typeface="Calibri"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18.9</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16.9</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7.3</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80.1</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5718">
                <a:tc>
                  <a:txBody>
                    <a:bodyPr/>
                    <a:lstStyle/>
                    <a:p>
                      <a:pPr marL="0" indent="0" algn="l">
                        <a:buNone/>
                      </a:pPr>
                      <a:r>
                        <a:rPr lang="en-US" sz="1400" b="1" dirty="0">
                          <a:solidFill>
                            <a:srgbClr val="232D24"/>
                          </a:solidFill>
                          <a:latin typeface="Calibri" pitchFamily="34" charset="0"/>
                          <a:ea typeface="Calibri" pitchFamily="34" charset="-122"/>
                          <a:cs typeface="Calibri" pitchFamily="34" charset="-120"/>
                        </a:rPr>
                        <a:t>muskmelon</a:t>
                      </a:r>
                      <a:endParaRPr lang="en-US" sz="1400" dirty="0">
                        <a:latin typeface="Calibri" charset="0"/>
                        <a:ea typeface="Calibri" charset="0"/>
                        <a:cs typeface="Calibri"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28.7</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92.3</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6.4</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tc>
                  <a:txBody>
                    <a:bodyPr/>
                    <a:lstStyle/>
                    <a:p>
                      <a:pPr marL="0" indent="0" algn="ctr">
                        <a:buNone/>
                      </a:pPr>
                      <a:r>
                        <a:rPr lang="en-US" sz="1400" dirty="0">
                          <a:solidFill>
                            <a:srgbClr val="232D24"/>
                          </a:solidFill>
                          <a:latin typeface="Courier New" pitchFamily="34" charset="0"/>
                          <a:ea typeface="Courier New" pitchFamily="34" charset="-122"/>
                          <a:cs typeface="Courier New" pitchFamily="34" charset="-120"/>
                        </a:rPr>
                        <a:t>24.7</a:t>
                      </a:r>
                      <a:endParaRPr lang="en-US" sz="1400" dirty="0">
                        <a:latin typeface="Courier New" charset="0"/>
                        <a:ea typeface="Courier New" charset="0"/>
                        <a:cs typeface="Courier New" charset="0"/>
                      </a:endParaRPr>
                    </a:p>
                  </a:txBody>
                  <a:tcPr anchor="ctr">
                    <a:lnL w="7620" cap="flat" cmpd="sng" algn="ctr">
                      <a:solidFill>
                        <a:srgbClr val="DDE3DA"/>
                      </a:solidFill>
                      <a:prstDash val="solid"/>
                      <a:round/>
                      <a:headEnd type="none" w="med" len="med"/>
                      <a:tailEnd type="none" w="med" len="med"/>
                    </a:lnL>
                    <a:lnR w="7620" cap="flat" cmpd="sng" algn="ctr">
                      <a:solidFill>
                        <a:srgbClr val="DDE3DA"/>
                      </a:solidFill>
                      <a:prstDash val="solid"/>
                      <a:round/>
                      <a:headEnd type="none" w="med" len="med"/>
                      <a:tailEnd type="none" w="med" len="med"/>
                    </a:lnR>
                    <a:lnT w="7620" cap="flat" cmpd="sng" algn="ctr">
                      <a:solidFill>
                        <a:srgbClr val="DDE3DA"/>
                      </a:solidFill>
                      <a:prstDash val="solid"/>
                      <a:round/>
                      <a:headEnd type="none" w="med" len="med"/>
                      <a:tailEnd type="none" w="med" len="med"/>
                    </a:lnT>
                    <a:lnB w="7620" cap="flat" cmpd="sng" algn="ctr">
                      <a:solidFill>
                        <a:srgbClr val="DDE3DA"/>
                      </a:solidFill>
                      <a:prstDash val="solid"/>
                      <a:round/>
                      <a:headEnd type="none" w="med" len="med"/>
                      <a:tailEnd type="none" w="med" len="med"/>
                    </a:lnB>
                    <a:solidFill>
                      <a:srgbClr val="F2F5F0"/>
                    </a:solidFill>
                  </a:tcPr>
                </a:tc>
                <a:extLst>
                  <a:ext uri="{0D108BD9-81ED-4DB2-BD59-A6C34878D82A}">
                    <a16:rowId xmlns:a16="http://schemas.microsoft.com/office/drawing/2014/main" val="10006"/>
                  </a:ext>
                </a:extLst>
              </a:tr>
            </a:tbl>
          </a:graphicData>
        </a:graphic>
      </p:graphicFrame>
      <p:sp>
        <p:nvSpPr>
          <p:cNvPr id="9" name="Text 5"/>
          <p:cNvSpPr/>
          <p:nvPr/>
        </p:nvSpPr>
        <p:spPr>
          <a:xfrm>
            <a:off x="596841" y="4089546"/>
            <a:ext cx="3657600" cy="274320"/>
          </a:xfrm>
          <a:prstGeom prst="rect">
            <a:avLst/>
          </a:prstGeom>
          <a:noFill/>
          <a:ln/>
        </p:spPr>
        <p:txBody>
          <a:bodyPr wrap="square" rtlCol="0" anchor="ctr"/>
          <a:lstStyle/>
          <a:p>
            <a:pPr marL="0" indent="0">
              <a:buNone/>
            </a:pPr>
            <a:r>
              <a:rPr lang="en-US" sz="1600" b="1" kern="0" spc="100" dirty="0">
                <a:solidFill>
                  <a:srgbClr val="7FA25C"/>
                </a:solidFill>
                <a:latin typeface="Cambria" panose="02040503050406030204" pitchFamily="18" charset="0"/>
                <a:ea typeface="Cambria" panose="02040503050406030204" pitchFamily="18" charset="0"/>
                <a:cs typeface="Calibri" pitchFamily="34" charset="-120"/>
              </a:rPr>
              <a:t>KEY INSIGHTS</a:t>
            </a:r>
            <a:endParaRPr lang="en-US" sz="1600" dirty="0">
              <a:latin typeface="Cambria" panose="02040503050406030204" pitchFamily="18" charset="0"/>
              <a:ea typeface="Cambria" panose="02040503050406030204" pitchFamily="18" charset="0"/>
            </a:endParaRPr>
          </a:p>
        </p:txBody>
      </p:sp>
      <p:sp>
        <p:nvSpPr>
          <p:cNvPr id="10" name="Text 6"/>
          <p:cNvSpPr/>
          <p:nvPr/>
        </p:nvSpPr>
        <p:spPr>
          <a:xfrm>
            <a:off x="596841" y="4363866"/>
            <a:ext cx="11277295" cy="1920240"/>
          </a:xfrm>
          <a:prstGeom prst="rect">
            <a:avLst/>
          </a:prstGeom>
          <a:noFill/>
          <a:ln/>
        </p:spPr>
        <p:txBody>
          <a:bodyPr wrap="square" rtlCol="0" anchor="t"/>
          <a:lstStyle/>
          <a:p>
            <a:pPr marL="177800" indent="-177800" algn="just">
              <a:lnSpc>
                <a:spcPct val="115000"/>
              </a:lnSpc>
              <a:spcAft>
                <a:spcPts val="500"/>
              </a:spcAft>
              <a:buSzPct val="100000"/>
              <a:buChar char="•"/>
            </a:pPr>
            <a:r>
              <a:rPr lang="en-US" sz="1400" b="1" dirty="0">
                <a:solidFill>
                  <a:srgbClr val="2C5F2D"/>
                </a:solidFill>
                <a:latin typeface="Calibri" pitchFamily="34" charset="0"/>
                <a:ea typeface="Calibri" pitchFamily="34" charset="-122"/>
                <a:cs typeface="Calibri" pitchFamily="34" charset="-120"/>
              </a:rPr>
              <a:t>Nutrient needs are highly crop-specific</a:t>
            </a:r>
            <a:r>
              <a:rPr lang="en-US" sz="1400" dirty="0">
                <a:solidFill>
                  <a:srgbClr val="232D24"/>
                </a:solidFill>
                <a:latin typeface="Calibri" pitchFamily="34" charset="0"/>
                <a:ea typeface="Calibri" pitchFamily="34" charset="-122"/>
                <a:cs typeface="Calibri" pitchFamily="34" charset="-120"/>
              </a:rPr>
              <a:t>: cotton requires far more nitrogen (mean N ≈ 118 kg/ha) than any other crop, while apple and grapes require far more potassium and phosphorus (K ≈ 200 kg/ha, P ≈ 133-134 kg/ha).</a:t>
            </a:r>
            <a:endParaRPr lang="en-US" sz="1400" dirty="0"/>
          </a:p>
          <a:p>
            <a:pPr marL="177800" indent="-177800" algn="just">
              <a:lnSpc>
                <a:spcPct val="115000"/>
              </a:lnSpc>
              <a:spcAft>
                <a:spcPts val="500"/>
              </a:spcAft>
              <a:buSzPct val="100000"/>
              <a:buChar char="•"/>
            </a:pPr>
            <a:r>
              <a:rPr lang="en-US" sz="1400" dirty="0">
                <a:solidFill>
                  <a:srgbClr val="232D24"/>
                </a:solidFill>
                <a:latin typeface="Calibri" pitchFamily="34" charset="0"/>
                <a:ea typeface="Calibri" pitchFamily="34" charset="-122"/>
                <a:cs typeface="Calibri" pitchFamily="34" charset="-120"/>
              </a:rPr>
              <a:t>Phosphorus and potassium are strongly correlated (r = 0.74) — crops needing high P tend to need high K, most visibly apple and grapes.</a:t>
            </a:r>
            <a:endParaRPr lang="en-US" sz="1400" dirty="0"/>
          </a:p>
          <a:p>
            <a:pPr marL="177800" indent="-177800" algn="just">
              <a:lnSpc>
                <a:spcPct val="115000"/>
              </a:lnSpc>
              <a:spcAft>
                <a:spcPts val="500"/>
              </a:spcAft>
              <a:buSzPct val="100000"/>
              <a:buChar char="•"/>
            </a:pPr>
            <a:r>
              <a:rPr lang="en-US" sz="1400" dirty="0">
                <a:solidFill>
                  <a:srgbClr val="232D24"/>
                </a:solidFill>
                <a:latin typeface="Calibri" pitchFamily="34" charset="0"/>
                <a:ea typeface="Calibri" pitchFamily="34" charset="-122"/>
                <a:cs typeface="Calibri" pitchFamily="34" charset="-120"/>
              </a:rPr>
              <a:t>Rainfall requirements vary nearly ten-fold across crops, from ~25 mm (muskmelon) to ~236 mm (rice).</a:t>
            </a:r>
            <a:endParaRPr lang="en-US" sz="1400" dirty="0"/>
          </a:p>
          <a:p>
            <a:pPr marL="177800" indent="-177800" algn="just">
              <a:lnSpc>
                <a:spcPct val="115000"/>
              </a:lnSpc>
              <a:spcAft>
                <a:spcPts val="500"/>
              </a:spcAft>
              <a:buSzPct val="100000"/>
              <a:buChar char="•"/>
            </a:pPr>
            <a:r>
              <a:rPr lang="en-US" sz="1400" b="1" dirty="0">
                <a:solidFill>
                  <a:srgbClr val="2C5F2D"/>
                </a:solidFill>
                <a:latin typeface="Calibri" pitchFamily="34" charset="0"/>
                <a:ea typeface="Calibri" pitchFamily="34" charset="-122"/>
                <a:cs typeface="Calibri" pitchFamily="34" charset="-120"/>
              </a:rPr>
              <a:t>Humidity separates crops into distinct bands</a:t>
            </a:r>
            <a:r>
              <a:rPr lang="en-US" sz="1400" dirty="0">
                <a:solidFill>
                  <a:srgbClr val="232D24"/>
                </a:solidFill>
                <a:latin typeface="Calibri" pitchFamily="34" charset="0"/>
                <a:ea typeface="Calibri" pitchFamily="34" charset="-122"/>
                <a:cs typeface="Calibri" pitchFamily="34" charset="-120"/>
              </a:rPr>
              <a:t>: coconut and papaya are associated with humidity above 90%, while chickpea and kidney beans sit below 22%.</a:t>
            </a:r>
            <a:endParaRPr lang="en-US" sz="1400" dirty="0"/>
          </a:p>
          <a:p>
            <a:pPr marL="177800" indent="-177800" algn="just">
              <a:lnSpc>
                <a:spcPct val="115000"/>
              </a:lnSpc>
              <a:spcAft>
                <a:spcPts val="500"/>
              </a:spcAft>
              <a:buSzPct val="100000"/>
              <a:buChar char="•"/>
            </a:pPr>
            <a:r>
              <a:rPr lang="en-US" sz="1400" dirty="0">
                <a:solidFill>
                  <a:srgbClr val="232D24"/>
                </a:solidFill>
                <a:latin typeface="Calibri" pitchFamily="34" charset="0"/>
                <a:ea typeface="Calibri" pitchFamily="34" charset="-122"/>
                <a:cs typeface="Calibri" pitchFamily="34" charset="-120"/>
              </a:rPr>
              <a:t>The target variable is perfectly balanced — 100 records for every one of the 22 crops — so no resampling is needed for further analysis.</a:t>
            </a:r>
            <a:endParaRPr lang="en-US" sz="1400" dirty="0"/>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0-#ppt_w/2"/>
                                          </p:val>
                                        </p:tav>
                                        <p:tav tm="100000">
                                          <p:val>
                                            <p:strVal val="#ppt_x"/>
                                          </p:val>
                                        </p:tav>
                                      </p:tavLst>
                                    </p:anim>
                                    <p:anim calcmode="lin" valueType="num">
                                      <p:cBhvr additive="base">
                                        <p:cTn id="1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anim calcmode="lin" valueType="num">
                                      <p:cBhvr additive="base">
                                        <p:cTn id="25" dur="500" fill="hold"/>
                                        <p:tgtEl>
                                          <p:spTgt spid="23"/>
                                        </p:tgtEl>
                                        <p:attrNameLst>
                                          <p:attrName>ppt_x</p:attrName>
                                        </p:attrNameLst>
                                      </p:cBhvr>
                                      <p:tavLst>
                                        <p:tav tm="0">
                                          <p:val>
                                            <p:strVal val="1+#ppt_w/2"/>
                                          </p:val>
                                        </p:tav>
                                        <p:tav tm="100000">
                                          <p:val>
                                            <p:strVal val="#ppt_x"/>
                                          </p:val>
                                        </p:tav>
                                      </p:tavLst>
                                    </p:anim>
                                    <p:anim calcmode="lin" valueType="num">
                                      <p:cBhvr additive="base">
                                        <p:cTn id="26"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animBg="1"/>
      <p:bldP spid="7" grpId="0" animBg="1"/>
      <p:bldP spid="9" grpId="0" animBg="1"/>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chemeClr val="bg1"/>
        </a:solidFill>
        <a:effectLst/>
      </p:bgPr>
    </p:bg>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07330EA2-7DF7-93AE-37BC-18801E362855}"/>
              </a:ext>
            </a:extLst>
          </p:cNvPr>
          <p:cNvSpPr/>
          <p:nvPr/>
        </p:nvSpPr>
        <p:spPr>
          <a:xfrm>
            <a:off x="457199" y="1105989"/>
            <a:ext cx="5839097" cy="3528711"/>
          </a:xfrm>
          <a:prstGeom prst="roundRect">
            <a:avLst>
              <a:gd name="adj" fmla="val 4080"/>
            </a:avLst>
          </a:prstGeom>
          <a:solidFill>
            <a:schemeClr val="accent6">
              <a:lumMod val="20000"/>
              <a:lumOff val="8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D924374D-AAE2-68AC-9DAD-B7553C564ECC}"/>
              </a:ext>
            </a:extLst>
          </p:cNvPr>
          <p:cNvSpPr/>
          <p:nvPr/>
        </p:nvSpPr>
        <p:spPr>
          <a:xfrm>
            <a:off x="457199" y="4766202"/>
            <a:ext cx="5839097" cy="1675092"/>
          </a:xfrm>
          <a:prstGeom prst="roundRect">
            <a:avLst>
              <a:gd name="adj" fmla="val 7309"/>
            </a:avLst>
          </a:prstGeom>
          <a:solidFill>
            <a:srgbClr val="F2F5F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 name="Text 0"/>
          <p:cNvSpPr/>
          <p:nvPr/>
        </p:nvSpPr>
        <p:spPr>
          <a:xfrm>
            <a:off x="457200" y="347472"/>
            <a:ext cx="11277295" cy="658368"/>
          </a:xfrm>
          <a:prstGeom prst="rect">
            <a:avLst/>
          </a:prstGeom>
          <a:noFill/>
          <a:ln/>
        </p:spPr>
        <p:txBody>
          <a:bodyPr wrap="square" lIns="0" tIns="0" rIns="0" bIns="0" rtlCol="0" anchor="ctr"/>
          <a:lstStyle/>
          <a:p>
            <a:pPr marL="0" indent="0" algn="l">
              <a:buNone/>
            </a:pPr>
            <a:r>
              <a:rPr lang="en-US" sz="3200" b="1" dirty="0">
                <a:solidFill>
                  <a:srgbClr val="2C5F2D"/>
                </a:solidFill>
                <a:latin typeface="Cambria" pitchFamily="34" charset="0"/>
                <a:ea typeface="Cambria" pitchFamily="34" charset="-122"/>
                <a:cs typeface="Cambria" pitchFamily="34" charset="-120"/>
              </a:rPr>
              <a:t>Conclusion &amp; Learnings</a:t>
            </a:r>
            <a:endParaRPr lang="en-US" sz="3200" dirty="0">
              <a:solidFill>
                <a:srgbClr val="2C5F2D"/>
              </a:solidFill>
            </a:endParaRPr>
          </a:p>
        </p:txBody>
      </p:sp>
      <p:sp>
        <p:nvSpPr>
          <p:cNvPr id="3" name="Text 1"/>
          <p:cNvSpPr/>
          <p:nvPr/>
        </p:nvSpPr>
        <p:spPr>
          <a:xfrm>
            <a:off x="457200" y="6547104"/>
            <a:ext cx="7315200" cy="256032"/>
          </a:xfrm>
          <a:prstGeom prst="rect">
            <a:avLst/>
          </a:prstGeom>
          <a:noFill/>
          <a:ln/>
        </p:spPr>
        <p:txBody>
          <a:bodyPr wrap="square" rtlCol="0" anchor="ctr"/>
          <a:lstStyle/>
          <a:p>
            <a:r>
              <a:rPr lang="en-US" sz="850" dirty="0">
                <a:solidFill>
                  <a:srgbClr val="5B6B5C"/>
                </a:solidFill>
                <a:latin typeface="Calibri" pitchFamily="34" charset="0"/>
                <a:ea typeface="Calibri" pitchFamily="34" charset="-122"/>
                <a:cs typeface="Calibri" pitchFamily="34" charset="-120"/>
              </a:rPr>
              <a:t>Analysis of </a:t>
            </a:r>
            <a:r>
              <a:rPr lang="en-US" sz="850" dirty="0">
                <a:solidFill>
                  <a:srgbClr val="5B6B5C"/>
                </a:solidFill>
                <a:ea typeface="Cambria" panose="02040503050406030204" pitchFamily="18" charset="0"/>
                <a:cs typeface="Calibri"/>
                <a:sym typeface="Calibri"/>
              </a:rPr>
              <a:t>Analysis of Soil and Environmental Parameters Across Different Crops</a:t>
            </a:r>
            <a:r>
              <a:rPr lang="en-US" sz="850" dirty="0">
                <a:solidFill>
                  <a:srgbClr val="5B6B5C"/>
                </a:solidFill>
                <a:ea typeface="Calibri" pitchFamily="34" charset="-122"/>
                <a:cs typeface="Calibri" pitchFamily="34" charset="-120"/>
              </a:rPr>
              <a:t>  </a:t>
            </a:r>
            <a:r>
              <a:rPr lang="en-US" sz="850" dirty="0">
                <a:solidFill>
                  <a:srgbClr val="5B6B5C"/>
                </a:solidFill>
                <a:latin typeface="Calibri" pitchFamily="34" charset="0"/>
                <a:ea typeface="Calibri" pitchFamily="34" charset="-122"/>
                <a:cs typeface="Calibri" pitchFamily="34" charset="-120"/>
              </a:rPr>
              <a:t>|  Exploratory Data Analysis</a:t>
            </a:r>
            <a:endParaRPr lang="en-US" sz="850" dirty="0"/>
          </a:p>
        </p:txBody>
      </p:sp>
      <p:sp>
        <p:nvSpPr>
          <p:cNvPr id="4" name="Text 2"/>
          <p:cNvSpPr/>
          <p:nvPr/>
        </p:nvSpPr>
        <p:spPr>
          <a:xfrm>
            <a:off x="11185855" y="6547104"/>
            <a:ext cx="548640" cy="256032"/>
          </a:xfrm>
          <a:prstGeom prst="rect">
            <a:avLst/>
          </a:prstGeom>
          <a:noFill/>
          <a:ln/>
        </p:spPr>
        <p:txBody>
          <a:bodyPr wrap="square" rtlCol="0" anchor="ctr"/>
          <a:lstStyle/>
          <a:p>
            <a:pPr marL="0" indent="0" algn="r">
              <a:buNone/>
            </a:pPr>
            <a:r>
              <a:rPr lang="en-US" sz="850" dirty="0">
                <a:solidFill>
                  <a:srgbClr val="5B6B5C"/>
                </a:solidFill>
                <a:latin typeface="Calibri" pitchFamily="34" charset="0"/>
                <a:ea typeface="Calibri" pitchFamily="34" charset="-122"/>
                <a:cs typeface="Calibri" pitchFamily="34" charset="-120"/>
              </a:rPr>
              <a:t>12</a:t>
            </a:r>
            <a:endParaRPr lang="en-US" sz="850" dirty="0">
              <a:solidFill>
                <a:srgbClr val="5B6B5C"/>
              </a:solidFill>
            </a:endParaRPr>
          </a:p>
        </p:txBody>
      </p:sp>
      <p:sp>
        <p:nvSpPr>
          <p:cNvPr id="5" name="Text 3"/>
          <p:cNvSpPr/>
          <p:nvPr/>
        </p:nvSpPr>
        <p:spPr>
          <a:xfrm>
            <a:off x="457200" y="1234440"/>
            <a:ext cx="5669280" cy="274320"/>
          </a:xfrm>
          <a:prstGeom prst="rect">
            <a:avLst/>
          </a:prstGeom>
          <a:noFill/>
          <a:ln/>
        </p:spPr>
        <p:txBody>
          <a:bodyPr wrap="square" rtlCol="0" anchor="ctr"/>
          <a:lstStyle/>
          <a:p>
            <a:pPr marL="0" indent="0">
              <a:buNone/>
            </a:pPr>
            <a:r>
              <a:rPr lang="en-US" sz="1400" b="1" kern="0" spc="100" dirty="0">
                <a:solidFill>
                  <a:srgbClr val="2C5F2D"/>
                </a:solidFill>
                <a:latin typeface="Calibri" pitchFamily="34" charset="0"/>
                <a:ea typeface="Calibri" pitchFamily="34" charset="-122"/>
                <a:cs typeface="Calibri" pitchFamily="34" charset="-120"/>
              </a:rPr>
              <a:t>MAJOR EDA FINDINGS</a:t>
            </a:r>
            <a:endParaRPr lang="en-US" sz="1400" dirty="0">
              <a:solidFill>
                <a:srgbClr val="2C5F2D"/>
              </a:solidFill>
            </a:endParaRPr>
          </a:p>
        </p:txBody>
      </p:sp>
      <p:sp>
        <p:nvSpPr>
          <p:cNvPr id="6" name="Text 4"/>
          <p:cNvSpPr/>
          <p:nvPr/>
        </p:nvSpPr>
        <p:spPr>
          <a:xfrm>
            <a:off x="457200" y="1536192"/>
            <a:ext cx="5669280" cy="2880360"/>
          </a:xfrm>
          <a:prstGeom prst="rect">
            <a:avLst/>
          </a:prstGeom>
          <a:noFill/>
          <a:ln/>
        </p:spPr>
        <p:txBody>
          <a:bodyPr wrap="square" rtlCol="0" anchor="t"/>
          <a:lstStyle/>
          <a:p>
            <a:pPr marL="177800" indent="-177800" algn="just">
              <a:lnSpc>
                <a:spcPct val="128000"/>
              </a:lnSpc>
              <a:spcAft>
                <a:spcPts val="1200"/>
              </a:spcAft>
              <a:buSzPct val="100000"/>
              <a:buChar char="•"/>
            </a:pPr>
            <a:r>
              <a:rPr lang="en-US" sz="1400" dirty="0">
                <a:latin typeface="Calibri" pitchFamily="34" charset="0"/>
                <a:ea typeface="Calibri" pitchFamily="34" charset="-122"/>
                <a:cs typeface="Calibri" pitchFamily="34" charset="-120"/>
              </a:rPr>
              <a:t>Every crop has a distinct nutrient and environmental “signature” — most sharply visible in apple and grapes (very high P &amp; K) and rice (very high rainfall).</a:t>
            </a:r>
            <a:endParaRPr lang="en-US" sz="1400" dirty="0"/>
          </a:p>
          <a:p>
            <a:pPr marL="177800" indent="-177800" algn="just">
              <a:lnSpc>
                <a:spcPct val="128000"/>
              </a:lnSpc>
              <a:spcAft>
                <a:spcPts val="1200"/>
              </a:spcAft>
              <a:buSzPct val="100000"/>
              <a:buChar char="•"/>
            </a:pPr>
            <a:r>
              <a:rPr lang="en-US" sz="1400" dirty="0">
                <a:latin typeface="Calibri" pitchFamily="34" charset="0"/>
                <a:ea typeface="Calibri" pitchFamily="34" charset="-122"/>
                <a:cs typeface="Calibri" pitchFamily="34" charset="-120"/>
              </a:rPr>
              <a:t>Phosphorus and Potassium are the only strongly correlated pair (r = 0.74) among the 7 numeric variables; all others are weak.</a:t>
            </a:r>
            <a:endParaRPr lang="en-US" sz="1400" dirty="0"/>
          </a:p>
          <a:p>
            <a:pPr marL="177800" indent="-177800" algn="just">
              <a:lnSpc>
                <a:spcPct val="128000"/>
              </a:lnSpc>
              <a:spcAft>
                <a:spcPts val="1200"/>
              </a:spcAft>
              <a:buSzPct val="100000"/>
              <a:buChar char="•"/>
            </a:pPr>
            <a:r>
              <a:rPr lang="en-US" sz="1400" dirty="0">
                <a:latin typeface="Calibri" pitchFamily="34" charset="0"/>
                <a:ea typeface="Calibri" pitchFamily="34" charset="-122"/>
                <a:cs typeface="Calibri" pitchFamily="34" charset="-120"/>
              </a:rPr>
              <a:t>The dataset is clean (0 missing values, 0 duplicates) and perfectly balanced (100 records per crop across 22 classes).</a:t>
            </a:r>
            <a:endParaRPr lang="en-US" sz="1400" dirty="0"/>
          </a:p>
          <a:p>
            <a:pPr marL="177800" indent="-177800" algn="just">
              <a:lnSpc>
                <a:spcPct val="128000"/>
              </a:lnSpc>
              <a:spcAft>
                <a:spcPts val="1200"/>
              </a:spcAft>
              <a:buSzPct val="100000"/>
              <a:buChar char="•"/>
            </a:pPr>
            <a:r>
              <a:rPr lang="en-US" sz="1400" dirty="0">
                <a:latin typeface="Calibri" pitchFamily="34" charset="0"/>
                <a:ea typeface="Calibri" pitchFamily="34" charset="-122"/>
                <a:cs typeface="Calibri" pitchFamily="34" charset="-120"/>
              </a:rPr>
              <a:t>Apparent outliers in P, K, rainfall and temperature were traced to specific crops and retained as genuine agronomic variation, not errors.</a:t>
            </a:r>
            <a:endParaRPr lang="en-US" sz="1400" dirty="0"/>
          </a:p>
        </p:txBody>
      </p:sp>
      <p:sp>
        <p:nvSpPr>
          <p:cNvPr id="7" name="Text 5"/>
          <p:cNvSpPr/>
          <p:nvPr/>
        </p:nvSpPr>
        <p:spPr>
          <a:xfrm>
            <a:off x="548640" y="4878540"/>
            <a:ext cx="5669280" cy="274320"/>
          </a:xfrm>
          <a:prstGeom prst="rect">
            <a:avLst/>
          </a:prstGeom>
          <a:noFill/>
          <a:ln/>
        </p:spPr>
        <p:txBody>
          <a:bodyPr wrap="square" rtlCol="0" anchor="ctr"/>
          <a:lstStyle/>
          <a:p>
            <a:pPr marL="0" indent="0">
              <a:buNone/>
            </a:pPr>
            <a:r>
              <a:rPr lang="en-US" sz="1400" b="1" kern="0" spc="100" dirty="0">
                <a:solidFill>
                  <a:schemeClr val="accent6">
                    <a:lumMod val="75000"/>
                  </a:schemeClr>
                </a:solidFill>
                <a:latin typeface="Calibri" pitchFamily="34" charset="0"/>
                <a:ea typeface="Calibri" pitchFamily="34" charset="-122"/>
                <a:cs typeface="Calibri" pitchFamily="34" charset="-120"/>
              </a:rPr>
              <a:t>WHAT THIS PROJECT DEMONSTRATED</a:t>
            </a:r>
            <a:endParaRPr lang="en-US" sz="1400" dirty="0">
              <a:solidFill>
                <a:schemeClr val="accent6">
                  <a:lumMod val="75000"/>
                </a:schemeClr>
              </a:solidFill>
            </a:endParaRPr>
          </a:p>
        </p:txBody>
      </p:sp>
      <p:sp>
        <p:nvSpPr>
          <p:cNvPr id="8" name="Text 6"/>
          <p:cNvSpPr/>
          <p:nvPr/>
        </p:nvSpPr>
        <p:spPr>
          <a:xfrm>
            <a:off x="548640" y="5191614"/>
            <a:ext cx="5669280" cy="1005840"/>
          </a:xfrm>
          <a:prstGeom prst="rect">
            <a:avLst/>
          </a:prstGeom>
          <a:noFill/>
          <a:ln/>
        </p:spPr>
        <p:txBody>
          <a:bodyPr wrap="square" rtlCol="0" anchor="t"/>
          <a:lstStyle/>
          <a:p>
            <a:pPr marL="0" indent="0" algn="just">
              <a:lnSpc>
                <a:spcPct val="125000"/>
              </a:lnSpc>
              <a:buNone/>
            </a:pPr>
            <a:r>
              <a:rPr lang="en-US" sz="1400" dirty="0">
                <a:latin typeface="Calibri" pitchFamily="34" charset="0"/>
                <a:ea typeface="Calibri" pitchFamily="34" charset="-122"/>
                <a:cs typeface="Calibri" pitchFamily="34" charset="-120"/>
              </a:rPr>
              <a:t>A complete, evidence-based EDA workflow — data cleaning → univariate → bivariate → multivariate analysis → pivot tables → insights — where every claim is grounded in an actual calculation on the supplied data, not assumed.</a:t>
            </a:r>
            <a:endParaRPr lang="en-US" sz="1400" dirty="0"/>
          </a:p>
        </p:txBody>
      </p:sp>
      <p:sp>
        <p:nvSpPr>
          <p:cNvPr id="9" name="Shape 7"/>
          <p:cNvSpPr/>
          <p:nvPr/>
        </p:nvSpPr>
        <p:spPr>
          <a:xfrm>
            <a:off x="6736079" y="1271014"/>
            <a:ext cx="5059375" cy="4824548"/>
          </a:xfrm>
          <a:prstGeom prst="roundRect">
            <a:avLst>
              <a:gd name="adj" fmla="val 1495"/>
            </a:avLst>
          </a:prstGeom>
          <a:solidFill>
            <a:schemeClr val="accent6">
              <a:lumMod val="20000"/>
              <a:lumOff val="80000"/>
            </a:schemeClr>
          </a:solidFill>
          <a:ln w="12700">
            <a:solidFill>
              <a:schemeClr val="accent6">
                <a:lumMod val="75000"/>
              </a:schemeClr>
            </a:solidFill>
            <a:prstDash val="solid"/>
          </a:ln>
        </p:spPr>
        <p:txBody>
          <a:bodyPr/>
          <a:lstStyle/>
          <a:p>
            <a:endParaRPr lang="en-IN" dirty="0"/>
          </a:p>
        </p:txBody>
      </p:sp>
      <p:sp>
        <p:nvSpPr>
          <p:cNvPr id="10" name="Text 8"/>
          <p:cNvSpPr/>
          <p:nvPr/>
        </p:nvSpPr>
        <p:spPr>
          <a:xfrm>
            <a:off x="6949438" y="1709059"/>
            <a:ext cx="4510735" cy="274320"/>
          </a:xfrm>
          <a:prstGeom prst="rect">
            <a:avLst/>
          </a:prstGeom>
          <a:noFill/>
          <a:ln/>
        </p:spPr>
        <p:txBody>
          <a:bodyPr wrap="square" rtlCol="0" anchor="ctr"/>
          <a:lstStyle/>
          <a:p>
            <a:pPr marL="0" indent="0">
              <a:buNone/>
            </a:pPr>
            <a:r>
              <a:rPr lang="en-US" sz="1600" b="1" kern="0" spc="100" dirty="0">
                <a:solidFill>
                  <a:schemeClr val="accent6">
                    <a:lumMod val="75000"/>
                  </a:schemeClr>
                </a:solidFill>
                <a:latin typeface="Calibri" pitchFamily="34" charset="0"/>
                <a:ea typeface="Calibri" pitchFamily="34" charset="-122"/>
                <a:cs typeface="Calibri" pitchFamily="34" charset="-120"/>
              </a:rPr>
              <a:t>FUTURE SCOPE</a:t>
            </a:r>
            <a:endParaRPr lang="en-US" sz="1600" dirty="0">
              <a:solidFill>
                <a:schemeClr val="accent6">
                  <a:lumMod val="75000"/>
                </a:schemeClr>
              </a:solidFill>
            </a:endParaRPr>
          </a:p>
        </p:txBody>
      </p:sp>
      <p:sp>
        <p:nvSpPr>
          <p:cNvPr id="11" name="Text 9"/>
          <p:cNvSpPr/>
          <p:nvPr/>
        </p:nvSpPr>
        <p:spPr>
          <a:xfrm>
            <a:off x="6949439" y="2162775"/>
            <a:ext cx="4510735" cy="2743200"/>
          </a:xfrm>
          <a:prstGeom prst="rect">
            <a:avLst/>
          </a:prstGeom>
          <a:noFill/>
          <a:ln/>
        </p:spPr>
        <p:txBody>
          <a:bodyPr wrap="square" rtlCol="0" anchor="t"/>
          <a:lstStyle/>
          <a:p>
            <a:pPr marL="177800" indent="-177800" algn="just">
              <a:lnSpc>
                <a:spcPct val="130000"/>
              </a:lnSpc>
              <a:spcAft>
                <a:spcPts val="1400"/>
              </a:spcAft>
              <a:buSzPct val="100000"/>
              <a:buChar char="•"/>
            </a:pPr>
            <a:r>
              <a:rPr lang="en-US" sz="1400" dirty="0">
                <a:solidFill>
                  <a:schemeClr val="tx1">
                    <a:lumMod val="95000"/>
                    <a:lumOff val="5000"/>
                  </a:schemeClr>
                </a:solidFill>
                <a:latin typeface="Calibri" pitchFamily="34" charset="0"/>
                <a:ea typeface="Calibri" pitchFamily="34" charset="-122"/>
                <a:cs typeface="Calibri" pitchFamily="34" charset="-120"/>
              </a:rPr>
              <a:t>A larger dataset (5,000-7,000+ rows, 10+ columns) to satisfy the manual's scale guideline</a:t>
            </a:r>
            <a:endParaRPr lang="en-US" sz="1400" dirty="0">
              <a:solidFill>
                <a:schemeClr val="tx1">
                  <a:lumMod val="95000"/>
                  <a:lumOff val="5000"/>
                </a:schemeClr>
              </a:solidFill>
            </a:endParaRPr>
          </a:p>
          <a:p>
            <a:pPr marL="177800" indent="-177800" algn="just">
              <a:lnSpc>
                <a:spcPct val="130000"/>
              </a:lnSpc>
              <a:spcAft>
                <a:spcPts val="1400"/>
              </a:spcAft>
              <a:buSzPct val="100000"/>
              <a:buChar char="•"/>
            </a:pPr>
            <a:r>
              <a:rPr lang="en-US" sz="1400" dirty="0">
                <a:solidFill>
                  <a:schemeClr val="tx1">
                    <a:lumMod val="95000"/>
                    <a:lumOff val="5000"/>
                  </a:schemeClr>
                </a:solidFill>
                <a:latin typeface="Calibri" pitchFamily="34" charset="0"/>
                <a:ea typeface="Calibri" pitchFamily="34" charset="-122"/>
                <a:cs typeface="Calibri" pitchFamily="34" charset="-120"/>
              </a:rPr>
              <a:t>Additional fields such as soil type, geographic region, and season</a:t>
            </a:r>
            <a:endParaRPr lang="en-US" sz="1400" dirty="0">
              <a:solidFill>
                <a:schemeClr val="tx1">
                  <a:lumMod val="95000"/>
                  <a:lumOff val="5000"/>
                </a:schemeClr>
              </a:solidFill>
            </a:endParaRPr>
          </a:p>
          <a:p>
            <a:pPr marL="177800" indent="-177800" algn="just">
              <a:lnSpc>
                <a:spcPct val="130000"/>
              </a:lnSpc>
              <a:spcAft>
                <a:spcPts val="1400"/>
              </a:spcAft>
              <a:buSzPct val="100000"/>
              <a:buChar char="•"/>
            </a:pPr>
            <a:r>
              <a:rPr lang="en-US" sz="1400" dirty="0">
                <a:solidFill>
                  <a:schemeClr val="tx1">
                    <a:lumMod val="95000"/>
                    <a:lumOff val="5000"/>
                  </a:schemeClr>
                </a:solidFill>
                <a:latin typeface="Calibri" pitchFamily="34" charset="0"/>
                <a:ea typeface="Calibri" pitchFamily="34" charset="-122"/>
                <a:cs typeface="Calibri" pitchFamily="34" charset="-120"/>
              </a:rPr>
              <a:t>Historical, multi-year agricultural data to check pattern stability</a:t>
            </a:r>
            <a:endParaRPr lang="en-US" sz="1400" dirty="0">
              <a:solidFill>
                <a:schemeClr val="tx1">
                  <a:lumMod val="95000"/>
                  <a:lumOff val="5000"/>
                </a:schemeClr>
              </a:solidFill>
            </a:endParaRPr>
          </a:p>
          <a:p>
            <a:pPr marL="177800" indent="-177800" algn="just">
              <a:lnSpc>
                <a:spcPct val="130000"/>
              </a:lnSpc>
              <a:spcAft>
                <a:spcPts val="1400"/>
              </a:spcAft>
              <a:buSzPct val="100000"/>
              <a:buChar char="•"/>
            </a:pPr>
            <a:r>
              <a:rPr lang="en-US" sz="1400" dirty="0">
                <a:solidFill>
                  <a:schemeClr val="tx1">
                    <a:lumMod val="95000"/>
                    <a:lumOff val="5000"/>
                  </a:schemeClr>
                </a:solidFill>
                <a:latin typeface="Calibri" pitchFamily="34" charset="0"/>
                <a:ea typeface="Calibri" pitchFamily="34" charset="-122"/>
                <a:cs typeface="Calibri" pitchFamily="34" charset="-120"/>
              </a:rPr>
              <a:t>Predictive modeling, only after this exploratory foundation is well established</a:t>
            </a:r>
            <a:endParaRPr lang="en-US" sz="1400" dirty="0">
              <a:solidFill>
                <a:schemeClr val="tx1">
                  <a:lumMod val="95000"/>
                  <a:lumOff val="5000"/>
                </a:schemeClr>
              </a:solidFill>
            </a:endParaRPr>
          </a:p>
        </p:txBody>
      </p:sp>
      <p:sp>
        <p:nvSpPr>
          <p:cNvPr id="12" name="Text 10"/>
          <p:cNvSpPr/>
          <p:nvPr/>
        </p:nvSpPr>
        <p:spPr>
          <a:xfrm>
            <a:off x="7010400" y="5191614"/>
            <a:ext cx="4510735" cy="952283"/>
          </a:xfrm>
          <a:prstGeom prst="rect">
            <a:avLst/>
          </a:prstGeom>
          <a:noFill/>
          <a:ln/>
        </p:spPr>
        <p:txBody>
          <a:bodyPr wrap="square" rtlCol="0" anchor="t"/>
          <a:lstStyle/>
          <a:p>
            <a:pPr marL="0" indent="0">
              <a:lnSpc>
                <a:spcPct val="120000"/>
              </a:lnSpc>
              <a:buNone/>
            </a:pPr>
            <a:r>
              <a:rPr lang="en-US" sz="1200" i="1" dirty="0">
                <a:solidFill>
                  <a:schemeClr val="tx1">
                    <a:lumMod val="95000"/>
                    <a:lumOff val="5000"/>
                  </a:schemeClr>
                </a:solidFill>
                <a:latin typeface="Calibri" pitchFamily="34" charset="0"/>
                <a:ea typeface="Calibri" pitchFamily="34" charset="-122"/>
                <a:cs typeface="Calibri" pitchFamily="34" charset="-120"/>
              </a:rPr>
              <a:t>Future scope is a brief closing note, not the focus of this project — the goal here was disciplined, data-grounded EDA.</a:t>
            </a:r>
            <a:endParaRPr lang="en-US" sz="1200" dirty="0">
              <a:solidFill>
                <a:schemeClr val="tx1">
                  <a:lumMod val="95000"/>
                  <a:lumOff val="5000"/>
                </a:schemeClr>
              </a:solidFill>
            </a:endParaRPr>
          </a:p>
        </p:txBody>
      </p:sp>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ox(ou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ou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ox(ou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ppt_x"/>
                                          </p:val>
                                        </p:tav>
                                        <p:tav tm="100000">
                                          <p:val>
                                            <p:strVal val="#ppt_x"/>
                                          </p:val>
                                        </p:tav>
                                      </p:tavLst>
                                    </p:anim>
                                    <p:anim calcmode="lin" valueType="num">
                                      <p:cBhvr additive="base">
                                        <p:cTn id="23" dur="500" fill="hold"/>
                                        <p:tgtEl>
                                          <p:spTgt spid="13"/>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ppt_x"/>
                                          </p:val>
                                        </p:tav>
                                        <p:tav tm="100000">
                                          <p:val>
                                            <p:strVal val="#ppt_x"/>
                                          </p:val>
                                        </p:tav>
                                      </p:tavLst>
                                    </p:anim>
                                    <p:anim calcmode="lin" valueType="num">
                                      <p:cBhvr additive="base">
                                        <p:cTn id="27" dur="500" fill="hold"/>
                                        <p:tgtEl>
                                          <p:spTgt spid="7"/>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ppt_x</p:attrName>
                                        </p:attrNameLst>
                                      </p:cBhvr>
                                      <p:tavLst>
                                        <p:tav tm="0">
                                          <p:val>
                                            <p:strVal val="#ppt_x"/>
                                          </p:val>
                                        </p:tav>
                                        <p:tav tm="100000">
                                          <p:val>
                                            <p:strVal val="#ppt_x"/>
                                          </p:val>
                                        </p:tav>
                                      </p:tavLst>
                                    </p:anim>
                                    <p:anim calcmode="lin" valueType="num">
                                      <p:cBhvr additive="base">
                                        <p:cTn id="3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1+#ppt_w/2"/>
                                          </p:val>
                                        </p:tav>
                                        <p:tav tm="100000">
                                          <p:val>
                                            <p:strVal val="#ppt_x"/>
                                          </p:val>
                                        </p:tav>
                                      </p:tavLst>
                                    </p:anim>
                                    <p:anim calcmode="lin" valueType="num">
                                      <p:cBhvr additive="base">
                                        <p:cTn id="37" dur="500" fill="hold"/>
                                        <p:tgtEl>
                                          <p:spTgt spid="9"/>
                                        </p:tgtEl>
                                        <p:attrNameLst>
                                          <p:attrName>ppt_y</p:attrName>
                                        </p:attrNameLst>
                                      </p:cBhvr>
                                      <p:tavLst>
                                        <p:tav tm="0">
                                          <p:val>
                                            <p:strVal val="#ppt_y"/>
                                          </p:val>
                                        </p:tav>
                                        <p:tav tm="100000">
                                          <p:val>
                                            <p:strVal val="#ppt_y"/>
                                          </p:val>
                                        </p:tav>
                                      </p:tavLst>
                                    </p:anim>
                                  </p:childTnLst>
                                </p:cTn>
                              </p:par>
                              <p:par>
                                <p:cTn id="38" presetID="2" presetClass="entr" presetSubtype="2"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00" fill="hold"/>
                                        <p:tgtEl>
                                          <p:spTgt spid="10"/>
                                        </p:tgtEl>
                                        <p:attrNameLst>
                                          <p:attrName>ppt_x</p:attrName>
                                        </p:attrNameLst>
                                      </p:cBhvr>
                                      <p:tavLst>
                                        <p:tav tm="0">
                                          <p:val>
                                            <p:strVal val="1+#ppt_w/2"/>
                                          </p:val>
                                        </p:tav>
                                        <p:tav tm="100000">
                                          <p:val>
                                            <p:strVal val="#ppt_x"/>
                                          </p:val>
                                        </p:tav>
                                      </p:tavLst>
                                    </p:anim>
                                    <p:anim calcmode="lin" valueType="num">
                                      <p:cBhvr additive="base">
                                        <p:cTn id="41" dur="500" fill="hold"/>
                                        <p:tgtEl>
                                          <p:spTgt spid="10"/>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p:tgtEl>
                                          <p:spTgt spid="11"/>
                                        </p:tgtEl>
                                        <p:attrNameLst>
                                          <p:attrName>ppt_x</p:attrName>
                                        </p:attrNameLst>
                                      </p:cBhvr>
                                      <p:tavLst>
                                        <p:tav tm="0">
                                          <p:val>
                                            <p:strVal val="1+#ppt_w/2"/>
                                          </p:val>
                                        </p:tav>
                                        <p:tav tm="100000">
                                          <p:val>
                                            <p:strVal val="#ppt_x"/>
                                          </p:val>
                                        </p:tav>
                                      </p:tavLst>
                                    </p:anim>
                                    <p:anim calcmode="lin" valueType="num">
                                      <p:cBhvr additive="base">
                                        <p:cTn id="45" dur="500" fill="hold"/>
                                        <p:tgtEl>
                                          <p:spTgt spid="11"/>
                                        </p:tgtEl>
                                        <p:attrNameLst>
                                          <p:attrName>ppt_y</p:attrName>
                                        </p:attrNameLst>
                                      </p:cBhvr>
                                      <p:tavLst>
                                        <p:tav tm="0">
                                          <p:val>
                                            <p:strVal val="#ppt_y"/>
                                          </p:val>
                                        </p:tav>
                                        <p:tav tm="100000">
                                          <p:val>
                                            <p:strVal val="#ppt_y"/>
                                          </p:val>
                                        </p:tav>
                                      </p:tavLst>
                                    </p:anim>
                                  </p:childTnLst>
                                </p:cTn>
                              </p:par>
                              <p:par>
                                <p:cTn id="46" presetID="2" presetClass="entr" presetSubtype="2"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 calcmode="lin" valueType="num">
                                      <p:cBhvr additive="base">
                                        <p:cTn id="48" dur="500" fill="hold"/>
                                        <p:tgtEl>
                                          <p:spTgt spid="12"/>
                                        </p:tgtEl>
                                        <p:attrNameLst>
                                          <p:attrName>ppt_x</p:attrName>
                                        </p:attrNameLst>
                                      </p:cBhvr>
                                      <p:tavLst>
                                        <p:tav tm="0">
                                          <p:val>
                                            <p:strVal val="1+#ppt_w/2"/>
                                          </p:val>
                                        </p:tav>
                                        <p:tav tm="100000">
                                          <p:val>
                                            <p:strVal val="#ppt_x"/>
                                          </p:val>
                                        </p:tav>
                                      </p:tavLst>
                                    </p:anim>
                                    <p:anim calcmode="lin" valueType="num">
                                      <p:cBhvr additive="base">
                                        <p:cTn id="49"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3" grpId="0" animBg="1"/>
      <p:bldP spid="5" grpId="0" animBg="1"/>
      <p:bldP spid="6" grpId="0" animBg="1"/>
      <p:bldP spid="7" grpId="0" animBg="1"/>
      <p:bldP spid="8" grpId="0" animBg="1"/>
      <p:bldP spid="10" grpId="0" animBg="1"/>
      <p:bldP spid="11"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9" name="Picture 8">
            <a:extLst>
              <a:ext uri="{FF2B5EF4-FFF2-40B4-BE49-F238E27FC236}">
                <a16:creationId xmlns:a16="http://schemas.microsoft.com/office/drawing/2014/main" id="{7896A379-0696-64B2-9A9A-EDEE9512AB43}"/>
              </a:ext>
            </a:extLst>
          </p:cNvPr>
          <p:cNvPicPr>
            <a:picLocks noChangeAspect="1"/>
          </p:cNvPicPr>
          <p:nvPr/>
        </p:nvPicPr>
        <p:blipFill>
          <a:blip r:embed="rId3"/>
          <a:stretch>
            <a:fillRect/>
          </a:stretch>
        </p:blipFill>
        <p:spPr>
          <a:xfrm flipV="1">
            <a:off x="9648824" y="3809999"/>
            <a:ext cx="2543175" cy="3048000"/>
          </a:xfrm>
          <a:prstGeom prst="rect">
            <a:avLst/>
          </a:prstGeom>
        </p:spPr>
      </p:pic>
      <p:pic>
        <p:nvPicPr>
          <p:cNvPr id="5" name="Picture 4">
            <a:extLst>
              <a:ext uri="{FF2B5EF4-FFF2-40B4-BE49-F238E27FC236}">
                <a16:creationId xmlns:a16="http://schemas.microsoft.com/office/drawing/2014/main" id="{3754164D-1BBB-1100-FFFA-F9A1710A6373}"/>
              </a:ext>
            </a:extLst>
          </p:cNvPr>
          <p:cNvPicPr>
            <a:picLocks noChangeAspect="1"/>
          </p:cNvPicPr>
          <p:nvPr/>
        </p:nvPicPr>
        <p:blipFill>
          <a:blip r:embed="rId3"/>
          <a:stretch>
            <a:fillRect/>
          </a:stretch>
        </p:blipFill>
        <p:spPr>
          <a:xfrm>
            <a:off x="9648825" y="0"/>
            <a:ext cx="2543175" cy="3048000"/>
          </a:xfrm>
          <a:prstGeom prst="rect">
            <a:avLst/>
          </a:prstGeom>
        </p:spPr>
      </p:pic>
      <p:pic>
        <p:nvPicPr>
          <p:cNvPr id="116" name="Google Shape;116;p5"/>
          <p:cNvPicPr preferRelativeResize="0"/>
          <p:nvPr/>
        </p:nvPicPr>
        <p:blipFill rotWithShape="1">
          <a:blip r:embed="rId4">
            <a:alphaModFix/>
          </a:blip>
          <a:srcRect/>
          <a:stretch/>
        </p:blipFill>
        <p:spPr>
          <a:xfrm>
            <a:off x="5783080" y="1750602"/>
            <a:ext cx="5001622" cy="330472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3" name="Picture 2">
            <a:extLst>
              <a:ext uri="{FF2B5EF4-FFF2-40B4-BE49-F238E27FC236}">
                <a16:creationId xmlns:a16="http://schemas.microsoft.com/office/drawing/2014/main" id="{8F485AD3-645B-5854-3D51-B8F2DB649F02}"/>
              </a:ext>
            </a:extLst>
          </p:cNvPr>
          <p:cNvPicPr>
            <a:picLocks noChangeAspect="1"/>
          </p:cNvPicPr>
          <p:nvPr/>
        </p:nvPicPr>
        <p:blipFill>
          <a:blip r:embed="rId5"/>
          <a:stretch>
            <a:fillRect/>
          </a:stretch>
        </p:blipFill>
        <p:spPr>
          <a:xfrm>
            <a:off x="0" y="0"/>
            <a:ext cx="2543175" cy="3048000"/>
          </a:xfrm>
          <a:prstGeom prst="rect">
            <a:avLst/>
          </a:prstGeom>
        </p:spPr>
      </p:pic>
      <p:pic>
        <p:nvPicPr>
          <p:cNvPr id="7" name="Picture 6">
            <a:extLst>
              <a:ext uri="{FF2B5EF4-FFF2-40B4-BE49-F238E27FC236}">
                <a16:creationId xmlns:a16="http://schemas.microsoft.com/office/drawing/2014/main" id="{1B225AB7-FD71-CA2E-8A3F-BF3F401244FE}"/>
              </a:ext>
            </a:extLst>
          </p:cNvPr>
          <p:cNvPicPr>
            <a:picLocks noChangeAspect="1"/>
          </p:cNvPicPr>
          <p:nvPr/>
        </p:nvPicPr>
        <p:blipFill>
          <a:blip r:embed="rId5"/>
          <a:stretch>
            <a:fillRect/>
          </a:stretch>
        </p:blipFill>
        <p:spPr>
          <a:xfrm flipV="1">
            <a:off x="0" y="3809999"/>
            <a:ext cx="2543175" cy="3048000"/>
          </a:xfrm>
          <a:prstGeom prst="rect">
            <a:avLst/>
          </a:prstGeom>
        </p:spPr>
      </p:pic>
      <p:sp>
        <p:nvSpPr>
          <p:cNvPr id="117" name="Google Shape;117;p5"/>
          <p:cNvSpPr txBox="1"/>
          <p:nvPr/>
        </p:nvSpPr>
        <p:spPr>
          <a:xfrm>
            <a:off x="1407298" y="2593702"/>
            <a:ext cx="3527698" cy="167059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6000" b="0" i="0" u="none" strike="noStrike" cap="none" dirty="0">
                <a:solidFill>
                  <a:srgbClr val="FF0000"/>
                </a:solidFill>
                <a:latin typeface="Libre Baskerville"/>
                <a:ea typeface="Libre Baskerville"/>
                <a:cs typeface="Libre Baskerville"/>
                <a:sym typeface="Libre Baskerville"/>
              </a:rPr>
              <a:t>THANK YOU</a:t>
            </a:r>
            <a:endParaRPr sz="6000" b="0" i="0" u="none" strike="noStrike" cap="none" dirty="0">
              <a:solidFill>
                <a:srgbClr val="FF0000"/>
              </a:solidFill>
              <a:latin typeface="Calibri"/>
              <a:ea typeface="Calibri"/>
              <a:cs typeface="Calibri"/>
              <a:sym typeface="Calibri"/>
            </a:endParaRPr>
          </a:p>
        </p:txBody>
      </p:sp>
      <p:sp>
        <p:nvSpPr>
          <p:cNvPr id="10" name="Rectangle 9">
            <a:extLst>
              <a:ext uri="{FF2B5EF4-FFF2-40B4-BE49-F238E27FC236}">
                <a16:creationId xmlns:a16="http://schemas.microsoft.com/office/drawing/2014/main" id="{9D8AA423-87B5-FC13-2C4F-80D7F40478EF}"/>
              </a:ext>
            </a:extLst>
          </p:cNvPr>
          <p:cNvSpPr/>
          <p:nvPr/>
        </p:nvSpPr>
        <p:spPr>
          <a:xfrm>
            <a:off x="8665029" y="5817326"/>
            <a:ext cx="1158240" cy="10406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1358</TotalTime>
  <Words>2967</Words>
  <Application>Microsoft Office PowerPoint</Application>
  <PresentationFormat>Widescreen</PresentationFormat>
  <Paragraphs>277</Paragraphs>
  <Slides>15</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Cambria</vt:lpstr>
      <vt:lpstr>Courier New</vt:lpstr>
      <vt:lpstr>Lato Black</vt:lpstr>
      <vt:lpstr>Libre Baskerville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Shriram G</cp:lastModifiedBy>
  <cp:revision>14</cp:revision>
  <dcterms:created xsi:type="dcterms:W3CDTF">2026-08-19T03:38:34Z</dcterms:created>
  <dcterms:modified xsi:type="dcterms:W3CDTF">2026-09-07T09:49:59Z</dcterms:modified>
</cp:coreProperties>
</file>